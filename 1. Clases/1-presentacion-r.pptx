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673" r:id="rId3"/>
    <p:sldId id="3674" r:id="rId4"/>
    <p:sldId id="3678" r:id="rId5"/>
    <p:sldId id="3677" r:id="rId6"/>
    <p:sldId id="3691" r:id="rId7"/>
    <p:sldId id="3679" r:id="rId8"/>
    <p:sldId id="3680" r:id="rId9"/>
    <p:sldId id="3686" r:id="rId10"/>
    <p:sldId id="3690" r:id="rId11"/>
    <p:sldId id="3681" r:id="rId12"/>
    <p:sldId id="3682" r:id="rId13"/>
    <p:sldId id="3685" r:id="rId14"/>
    <p:sldId id="3683" r:id="rId15"/>
    <p:sldId id="3687" r:id="rId16"/>
    <p:sldId id="3684" r:id="rId17"/>
    <p:sldId id="3688" r:id="rId18"/>
    <p:sldId id="3401" r:id="rId19"/>
    <p:sldId id="269" r:id="rId20"/>
    <p:sldId id="368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B74308-32A7-4D09-9B68-4B9B924DA57D}" v="83" dt="2026-02-27T21:57:00.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078" autoAdjust="0"/>
  </p:normalViewPr>
  <p:slideViewPr>
    <p:cSldViewPr snapToGrid="0">
      <p:cViewPr varScale="1">
        <p:scale>
          <a:sx n="51" d="100"/>
          <a:sy n="51" d="100"/>
        </p:scale>
        <p:origin x="1829"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Ezequiel Flores Kanter" userId="03da0cbcfcedef2e" providerId="LiveId" clId="{741AA1FE-7C38-444F-B79D-5C0E439E15A0}"/>
    <pc:docChg chg="undo custSel addSld delSld modSld">
      <pc:chgData name="Pablo Ezequiel Flores Kanter" userId="03da0cbcfcedef2e" providerId="LiveId" clId="{741AA1FE-7C38-444F-B79D-5C0E439E15A0}" dt="2026-02-27T21:57:11.196" v="299" actId="20577"/>
      <pc:docMkLst>
        <pc:docMk/>
      </pc:docMkLst>
      <pc:sldChg chg="del">
        <pc:chgData name="Pablo Ezequiel Flores Kanter" userId="03da0cbcfcedef2e" providerId="LiveId" clId="{741AA1FE-7C38-444F-B79D-5C0E439E15A0}" dt="2026-02-27T19:57:06.782" v="55" actId="47"/>
        <pc:sldMkLst>
          <pc:docMk/>
          <pc:sldMk cId="4191060011" sldId="268"/>
        </pc:sldMkLst>
      </pc:sldChg>
      <pc:sldChg chg="del">
        <pc:chgData name="Pablo Ezequiel Flores Kanter" userId="03da0cbcfcedef2e" providerId="LiveId" clId="{741AA1FE-7C38-444F-B79D-5C0E439E15A0}" dt="2026-02-27T19:55:43.203" v="49" actId="47"/>
        <pc:sldMkLst>
          <pc:docMk/>
          <pc:sldMk cId="272201253" sldId="272"/>
        </pc:sldMkLst>
      </pc:sldChg>
      <pc:sldChg chg="del">
        <pc:chgData name="Pablo Ezequiel Flores Kanter" userId="03da0cbcfcedef2e" providerId="LiveId" clId="{741AA1FE-7C38-444F-B79D-5C0E439E15A0}" dt="2026-02-27T19:55:43.203" v="49" actId="47"/>
        <pc:sldMkLst>
          <pc:docMk/>
          <pc:sldMk cId="1133305006" sldId="273"/>
        </pc:sldMkLst>
      </pc:sldChg>
      <pc:sldChg chg="del">
        <pc:chgData name="Pablo Ezequiel Flores Kanter" userId="03da0cbcfcedef2e" providerId="LiveId" clId="{741AA1FE-7C38-444F-B79D-5C0E439E15A0}" dt="2026-02-27T19:55:43.203" v="49" actId="47"/>
        <pc:sldMkLst>
          <pc:docMk/>
          <pc:sldMk cId="2386770223" sldId="274"/>
        </pc:sldMkLst>
      </pc:sldChg>
      <pc:sldChg chg="addSp delSp del mod">
        <pc:chgData name="Pablo Ezequiel Flores Kanter" userId="03da0cbcfcedef2e" providerId="LiveId" clId="{741AA1FE-7C38-444F-B79D-5C0E439E15A0}" dt="2026-02-27T19:55:09.045" v="48" actId="47"/>
        <pc:sldMkLst>
          <pc:docMk/>
          <pc:sldMk cId="350269790" sldId="3393"/>
        </pc:sldMkLst>
        <pc:spChg chg="add del">
          <ac:chgData name="Pablo Ezequiel Flores Kanter" userId="03da0cbcfcedef2e" providerId="LiveId" clId="{741AA1FE-7C38-444F-B79D-5C0E439E15A0}" dt="2026-02-27T19:54:29.768" v="46" actId="22"/>
          <ac:spMkLst>
            <pc:docMk/>
            <pc:sldMk cId="350269790" sldId="3393"/>
            <ac:spMk id="5" creationId="{268DFC4D-FC5B-5A3E-9DA4-87C2930CC219}"/>
          </ac:spMkLst>
        </pc:spChg>
      </pc:sldChg>
      <pc:sldChg chg="del">
        <pc:chgData name="Pablo Ezequiel Flores Kanter" userId="03da0cbcfcedef2e" providerId="LiveId" clId="{741AA1FE-7C38-444F-B79D-5C0E439E15A0}" dt="2026-02-27T19:56:29.696" v="52" actId="47"/>
        <pc:sldMkLst>
          <pc:docMk/>
          <pc:sldMk cId="1169180332" sldId="3399"/>
        </pc:sldMkLst>
      </pc:sldChg>
      <pc:sldChg chg="del">
        <pc:chgData name="Pablo Ezequiel Flores Kanter" userId="03da0cbcfcedef2e" providerId="LiveId" clId="{741AA1FE-7C38-444F-B79D-5C0E439E15A0}" dt="2026-02-27T19:55:43.203" v="49" actId="47"/>
        <pc:sldMkLst>
          <pc:docMk/>
          <pc:sldMk cId="2323080179" sldId="3566"/>
        </pc:sldMkLst>
      </pc:sldChg>
      <pc:sldChg chg="del">
        <pc:chgData name="Pablo Ezequiel Flores Kanter" userId="03da0cbcfcedef2e" providerId="LiveId" clId="{741AA1FE-7C38-444F-B79D-5C0E439E15A0}" dt="2026-02-27T19:55:43.203" v="49" actId="47"/>
        <pc:sldMkLst>
          <pc:docMk/>
          <pc:sldMk cId="2800624109" sldId="3567"/>
        </pc:sldMkLst>
      </pc:sldChg>
      <pc:sldChg chg="del">
        <pc:chgData name="Pablo Ezequiel Flores Kanter" userId="03da0cbcfcedef2e" providerId="LiveId" clId="{741AA1FE-7C38-444F-B79D-5C0E439E15A0}" dt="2026-02-27T19:56:29.696" v="52" actId="47"/>
        <pc:sldMkLst>
          <pc:docMk/>
          <pc:sldMk cId="3948775567" sldId="3570"/>
        </pc:sldMkLst>
      </pc:sldChg>
      <pc:sldChg chg="del">
        <pc:chgData name="Pablo Ezequiel Flores Kanter" userId="03da0cbcfcedef2e" providerId="LiveId" clId="{741AA1FE-7C38-444F-B79D-5C0E439E15A0}" dt="2026-02-27T19:56:29.696" v="52" actId="47"/>
        <pc:sldMkLst>
          <pc:docMk/>
          <pc:sldMk cId="3449539151" sldId="3660"/>
        </pc:sldMkLst>
      </pc:sldChg>
      <pc:sldChg chg="del">
        <pc:chgData name="Pablo Ezequiel Flores Kanter" userId="03da0cbcfcedef2e" providerId="LiveId" clId="{741AA1FE-7C38-444F-B79D-5C0E439E15A0}" dt="2026-02-27T19:55:43.203" v="49" actId="47"/>
        <pc:sldMkLst>
          <pc:docMk/>
          <pc:sldMk cId="2711025595" sldId="3672"/>
        </pc:sldMkLst>
      </pc:sldChg>
      <pc:sldChg chg="del">
        <pc:chgData name="Pablo Ezequiel Flores Kanter" userId="03da0cbcfcedef2e" providerId="LiveId" clId="{741AA1FE-7C38-444F-B79D-5C0E439E15A0}" dt="2026-02-27T19:56:48.176" v="54" actId="47"/>
        <pc:sldMkLst>
          <pc:docMk/>
          <pc:sldMk cId="1583473916" sldId="3676"/>
        </pc:sldMkLst>
      </pc:sldChg>
      <pc:sldChg chg="add">
        <pc:chgData name="Pablo Ezequiel Flores Kanter" userId="03da0cbcfcedef2e" providerId="LiveId" clId="{741AA1FE-7C38-444F-B79D-5C0E439E15A0}" dt="2026-02-27T19:55:44.629" v="50"/>
        <pc:sldMkLst>
          <pc:docMk/>
          <pc:sldMk cId="80486769" sldId="3677"/>
        </pc:sldMkLst>
      </pc:sldChg>
      <pc:sldChg chg="add">
        <pc:chgData name="Pablo Ezequiel Flores Kanter" userId="03da0cbcfcedef2e" providerId="LiveId" clId="{741AA1FE-7C38-444F-B79D-5C0E439E15A0}" dt="2026-02-27T19:54:37.613" v="47"/>
        <pc:sldMkLst>
          <pc:docMk/>
          <pc:sldMk cId="1840468657" sldId="3678"/>
        </pc:sldMkLst>
      </pc:sldChg>
      <pc:sldChg chg="add">
        <pc:chgData name="Pablo Ezequiel Flores Kanter" userId="03da0cbcfcedef2e" providerId="LiveId" clId="{741AA1FE-7C38-444F-B79D-5C0E439E15A0}" dt="2026-02-27T19:55:44.629" v="50"/>
        <pc:sldMkLst>
          <pc:docMk/>
          <pc:sldMk cId="3484696323" sldId="3679"/>
        </pc:sldMkLst>
      </pc:sldChg>
      <pc:sldChg chg="addSp modSp add mod">
        <pc:chgData name="Pablo Ezequiel Flores Kanter" userId="03da0cbcfcedef2e" providerId="LiveId" clId="{741AA1FE-7C38-444F-B79D-5C0E439E15A0}" dt="2026-02-27T21:38:48.839" v="125" actId="14100"/>
        <pc:sldMkLst>
          <pc:docMk/>
          <pc:sldMk cId="1118251242" sldId="3680"/>
        </pc:sldMkLst>
        <pc:spChg chg="add">
          <ac:chgData name="Pablo Ezequiel Flores Kanter" userId="03da0cbcfcedef2e" providerId="LiveId" clId="{741AA1FE-7C38-444F-B79D-5C0E439E15A0}" dt="2026-02-27T21:38:29.893" v="119"/>
          <ac:spMkLst>
            <pc:docMk/>
            <pc:sldMk cId="1118251242" sldId="3680"/>
            <ac:spMk id="3" creationId="{0FE40C1C-FB87-FDFA-9E4F-4F8E48664DD7}"/>
          </ac:spMkLst>
        </pc:spChg>
        <pc:picChg chg="add mod">
          <ac:chgData name="Pablo Ezequiel Flores Kanter" userId="03da0cbcfcedef2e" providerId="LiveId" clId="{741AA1FE-7C38-444F-B79D-5C0E439E15A0}" dt="2026-02-27T21:38:48.839" v="125" actId="14100"/>
          <ac:picMkLst>
            <pc:docMk/>
            <pc:sldMk cId="1118251242" sldId="3680"/>
            <ac:picMk id="5" creationId="{E32EA9BB-89F2-8F6D-E2D7-64B0F1E43216}"/>
          </ac:picMkLst>
        </pc:picChg>
      </pc:sldChg>
      <pc:sldChg chg="add">
        <pc:chgData name="Pablo Ezequiel Flores Kanter" userId="03da0cbcfcedef2e" providerId="LiveId" clId="{741AA1FE-7C38-444F-B79D-5C0E439E15A0}" dt="2026-02-27T19:55:44.629" v="50"/>
        <pc:sldMkLst>
          <pc:docMk/>
          <pc:sldMk cId="4113137884" sldId="3681"/>
        </pc:sldMkLst>
      </pc:sldChg>
      <pc:sldChg chg="add">
        <pc:chgData name="Pablo Ezequiel Flores Kanter" userId="03da0cbcfcedef2e" providerId="LiveId" clId="{741AA1FE-7C38-444F-B79D-5C0E439E15A0}" dt="2026-02-27T19:55:44.629" v="50"/>
        <pc:sldMkLst>
          <pc:docMk/>
          <pc:sldMk cId="3922166440" sldId="3682"/>
        </pc:sldMkLst>
      </pc:sldChg>
      <pc:sldChg chg="add">
        <pc:chgData name="Pablo Ezequiel Flores Kanter" userId="03da0cbcfcedef2e" providerId="LiveId" clId="{741AA1FE-7C38-444F-B79D-5C0E439E15A0}" dt="2026-02-27T19:55:44.629" v="50"/>
        <pc:sldMkLst>
          <pc:docMk/>
          <pc:sldMk cId="4271833185" sldId="3683"/>
        </pc:sldMkLst>
      </pc:sldChg>
      <pc:sldChg chg="add modNotesTx">
        <pc:chgData name="Pablo Ezequiel Flores Kanter" userId="03da0cbcfcedef2e" providerId="LiveId" clId="{741AA1FE-7C38-444F-B79D-5C0E439E15A0}" dt="2026-02-27T21:32:50.048" v="56" actId="20577"/>
        <pc:sldMkLst>
          <pc:docMk/>
          <pc:sldMk cId="3566002764" sldId="3684"/>
        </pc:sldMkLst>
      </pc:sldChg>
      <pc:sldChg chg="add">
        <pc:chgData name="Pablo Ezequiel Flores Kanter" userId="03da0cbcfcedef2e" providerId="LiveId" clId="{741AA1FE-7C38-444F-B79D-5C0E439E15A0}" dt="2026-02-27T19:55:44.629" v="50"/>
        <pc:sldMkLst>
          <pc:docMk/>
          <pc:sldMk cId="599424034" sldId="3685"/>
        </pc:sldMkLst>
      </pc:sldChg>
      <pc:sldChg chg="addSp delSp modSp add mod modNotesTx">
        <pc:chgData name="Pablo Ezequiel Flores Kanter" userId="03da0cbcfcedef2e" providerId="LiveId" clId="{741AA1FE-7C38-444F-B79D-5C0E439E15A0}" dt="2026-02-27T21:41:23.218" v="153" actId="478"/>
        <pc:sldMkLst>
          <pc:docMk/>
          <pc:sldMk cId="391383137" sldId="3686"/>
        </pc:sldMkLst>
        <pc:spChg chg="del">
          <ac:chgData name="Pablo Ezequiel Flores Kanter" userId="03da0cbcfcedef2e" providerId="LiveId" clId="{741AA1FE-7C38-444F-B79D-5C0E439E15A0}" dt="2026-02-27T21:41:23.218" v="153" actId="478"/>
          <ac:spMkLst>
            <pc:docMk/>
            <pc:sldMk cId="391383137" sldId="3686"/>
            <ac:spMk id="2" creationId="{3DAD3DD6-339F-A10F-9B92-6BEAD8E89A6B}"/>
          </ac:spMkLst>
        </pc:spChg>
        <pc:spChg chg="mod">
          <ac:chgData name="Pablo Ezequiel Flores Kanter" userId="03da0cbcfcedef2e" providerId="LiveId" clId="{741AA1FE-7C38-444F-B79D-5C0E439E15A0}" dt="2026-02-27T21:41:16.833" v="152" actId="1037"/>
          <ac:spMkLst>
            <pc:docMk/>
            <pc:sldMk cId="391383137" sldId="3686"/>
            <ac:spMk id="8" creationId="{99E90B4E-03F1-4083-B54C-C49937AF3809}"/>
          </ac:spMkLst>
        </pc:spChg>
        <pc:spChg chg="add mod">
          <ac:chgData name="Pablo Ezequiel Flores Kanter" userId="03da0cbcfcedef2e" providerId="LiveId" clId="{741AA1FE-7C38-444F-B79D-5C0E439E15A0}" dt="2026-02-27T21:41:23.218" v="153" actId="478"/>
          <ac:spMkLst>
            <pc:docMk/>
            <pc:sldMk cId="391383137" sldId="3686"/>
            <ac:spMk id="9" creationId="{34A8990A-F169-EFFE-64DA-4CF5EE4DDFDD}"/>
          </ac:spMkLst>
        </pc:spChg>
        <pc:picChg chg="add mod">
          <ac:chgData name="Pablo Ezequiel Flores Kanter" userId="03da0cbcfcedef2e" providerId="LiveId" clId="{741AA1FE-7C38-444F-B79D-5C0E439E15A0}" dt="2026-02-27T21:41:02.817" v="129"/>
          <ac:picMkLst>
            <pc:docMk/>
            <pc:sldMk cId="391383137" sldId="3686"/>
            <ac:picMk id="4" creationId="{01BF37C1-85E6-A3A9-9D42-E9DF74F63228}"/>
          </ac:picMkLst>
        </pc:picChg>
        <pc:picChg chg="mod">
          <ac:chgData name="Pablo Ezequiel Flores Kanter" userId="03da0cbcfcedef2e" providerId="LiveId" clId="{741AA1FE-7C38-444F-B79D-5C0E439E15A0}" dt="2026-02-27T21:41:16.833" v="152" actId="1037"/>
          <ac:picMkLst>
            <pc:docMk/>
            <pc:sldMk cId="391383137" sldId="3686"/>
            <ac:picMk id="5" creationId="{1D0C2980-876E-6924-CD13-16CFB3B15A5E}"/>
          </ac:picMkLst>
        </pc:picChg>
        <pc:picChg chg="mod">
          <ac:chgData name="Pablo Ezequiel Flores Kanter" userId="03da0cbcfcedef2e" providerId="LiveId" clId="{741AA1FE-7C38-444F-B79D-5C0E439E15A0}" dt="2026-02-27T21:41:16.833" v="152" actId="1037"/>
          <ac:picMkLst>
            <pc:docMk/>
            <pc:sldMk cId="391383137" sldId="3686"/>
            <ac:picMk id="7" creationId="{19F25381-D4E5-A65D-1E0B-2800E26656FD}"/>
          </ac:picMkLst>
        </pc:picChg>
      </pc:sldChg>
      <pc:sldChg chg="add modNotesTx">
        <pc:chgData name="Pablo Ezequiel Flores Kanter" userId="03da0cbcfcedef2e" providerId="LiveId" clId="{741AA1FE-7C38-444F-B79D-5C0E439E15A0}" dt="2026-02-27T21:54:56.119" v="277" actId="6549"/>
        <pc:sldMkLst>
          <pc:docMk/>
          <pc:sldMk cId="1151720744" sldId="3687"/>
        </pc:sldMkLst>
      </pc:sldChg>
      <pc:sldChg chg="add">
        <pc:chgData name="Pablo Ezequiel Flores Kanter" userId="03da0cbcfcedef2e" providerId="LiveId" clId="{741AA1FE-7C38-444F-B79D-5C0E439E15A0}" dt="2026-02-27T19:56:18.960" v="51"/>
        <pc:sldMkLst>
          <pc:docMk/>
          <pc:sldMk cId="4184158127" sldId="3688"/>
        </pc:sldMkLst>
      </pc:sldChg>
      <pc:sldChg chg="add">
        <pc:chgData name="Pablo Ezequiel Flores Kanter" userId="03da0cbcfcedef2e" providerId="LiveId" clId="{741AA1FE-7C38-444F-B79D-5C0E439E15A0}" dt="2026-02-27T19:56:44.447" v="53"/>
        <pc:sldMkLst>
          <pc:docMk/>
          <pc:sldMk cId="918784697" sldId="3689"/>
        </pc:sldMkLst>
      </pc:sldChg>
      <pc:sldChg chg="addSp delSp modSp new mod modAnim">
        <pc:chgData name="Pablo Ezequiel Flores Kanter" userId="03da0cbcfcedef2e" providerId="LiveId" clId="{741AA1FE-7C38-444F-B79D-5C0E439E15A0}" dt="2026-02-27T21:52:39.125" v="271"/>
        <pc:sldMkLst>
          <pc:docMk/>
          <pc:sldMk cId="1959250668" sldId="3690"/>
        </pc:sldMkLst>
        <pc:spChg chg="del">
          <ac:chgData name="Pablo Ezequiel Flores Kanter" userId="03da0cbcfcedef2e" providerId="LiveId" clId="{741AA1FE-7C38-444F-B79D-5C0E439E15A0}" dt="2026-02-27T21:42:47.428" v="157" actId="478"/>
          <ac:spMkLst>
            <pc:docMk/>
            <pc:sldMk cId="1959250668" sldId="3690"/>
            <ac:spMk id="2" creationId="{87373E09-977D-73D9-68ED-50A295D5641D}"/>
          </ac:spMkLst>
        </pc:spChg>
        <pc:spChg chg="del">
          <ac:chgData name="Pablo Ezequiel Flores Kanter" userId="03da0cbcfcedef2e" providerId="LiveId" clId="{741AA1FE-7C38-444F-B79D-5C0E439E15A0}" dt="2026-02-27T21:42:45.926" v="156" actId="478"/>
          <ac:spMkLst>
            <pc:docMk/>
            <pc:sldMk cId="1959250668" sldId="3690"/>
            <ac:spMk id="3" creationId="{A25D06E7-446C-B778-D73A-A263F123892C}"/>
          </ac:spMkLst>
        </pc:spChg>
        <pc:picChg chg="add mod ord">
          <ac:chgData name="Pablo Ezequiel Flores Kanter" userId="03da0cbcfcedef2e" providerId="LiveId" clId="{741AA1FE-7C38-444F-B79D-5C0E439E15A0}" dt="2026-02-27T21:49:39.774" v="234" actId="1076"/>
          <ac:picMkLst>
            <pc:docMk/>
            <pc:sldMk cId="1959250668" sldId="3690"/>
            <ac:picMk id="4" creationId="{881F13FF-0B7E-CB44-02CF-46B3973BAEEA}"/>
          </ac:picMkLst>
        </pc:picChg>
        <pc:picChg chg="add mod ord">
          <ac:chgData name="Pablo Ezequiel Flores Kanter" userId="03da0cbcfcedef2e" providerId="LiveId" clId="{741AA1FE-7C38-444F-B79D-5C0E439E15A0}" dt="2026-02-27T21:42:59.076" v="159" actId="167"/>
          <ac:picMkLst>
            <pc:docMk/>
            <pc:sldMk cId="1959250668" sldId="3690"/>
            <ac:picMk id="5" creationId="{9058A652-9473-7C09-916D-4B647D9747B8}"/>
          </ac:picMkLst>
        </pc:picChg>
        <pc:picChg chg="add mod">
          <ac:chgData name="Pablo Ezequiel Flores Kanter" userId="03da0cbcfcedef2e" providerId="LiveId" clId="{741AA1FE-7C38-444F-B79D-5C0E439E15A0}" dt="2026-02-27T21:49:53.463" v="242" actId="1076"/>
          <ac:picMkLst>
            <pc:docMk/>
            <pc:sldMk cId="1959250668" sldId="3690"/>
            <ac:picMk id="6" creationId="{9B30DBEC-1CAD-1425-07F8-E83AABF7E2C5}"/>
          </ac:picMkLst>
        </pc:picChg>
        <pc:picChg chg="add del mod">
          <ac:chgData name="Pablo Ezequiel Flores Kanter" userId="03da0cbcfcedef2e" providerId="LiveId" clId="{741AA1FE-7C38-444F-B79D-5C0E439E15A0}" dt="2026-02-27T21:51:54.084" v="251" actId="478"/>
          <ac:picMkLst>
            <pc:docMk/>
            <pc:sldMk cId="1959250668" sldId="3690"/>
            <ac:picMk id="2050" creationId="{EB65DDEF-70BD-D49C-49D9-906DE41DFE97}"/>
          </ac:picMkLst>
        </pc:picChg>
        <pc:picChg chg="add mod">
          <ac:chgData name="Pablo Ezequiel Flores Kanter" userId="03da0cbcfcedef2e" providerId="LiveId" clId="{741AA1FE-7C38-444F-B79D-5C0E439E15A0}" dt="2026-02-27T21:52:30.281" v="269" actId="1036"/>
          <ac:picMkLst>
            <pc:docMk/>
            <pc:sldMk cId="1959250668" sldId="3690"/>
            <ac:picMk id="2052" creationId="{45674274-8204-A364-8C67-014CE09392C8}"/>
          </ac:picMkLst>
        </pc:picChg>
        <pc:picChg chg="add mod">
          <ac:chgData name="Pablo Ezequiel Flores Kanter" userId="03da0cbcfcedef2e" providerId="LiveId" clId="{741AA1FE-7C38-444F-B79D-5C0E439E15A0}" dt="2026-02-27T21:52:29.077" v="266" actId="1036"/>
          <ac:picMkLst>
            <pc:docMk/>
            <pc:sldMk cId="1959250668" sldId="3690"/>
            <ac:picMk id="2054" creationId="{15D61D70-A5EF-099A-3A17-A11FF211E9F1}"/>
          </ac:picMkLst>
        </pc:picChg>
      </pc:sldChg>
      <pc:sldChg chg="addSp new mod modNotesTx">
        <pc:chgData name="Pablo Ezequiel Flores Kanter" userId="03da0cbcfcedef2e" providerId="LiveId" clId="{741AA1FE-7C38-444F-B79D-5C0E439E15A0}" dt="2026-02-27T21:57:11.196" v="299" actId="20577"/>
        <pc:sldMkLst>
          <pc:docMk/>
          <pc:sldMk cId="1524959741" sldId="3691"/>
        </pc:sldMkLst>
        <pc:picChg chg="add">
          <ac:chgData name="Pablo Ezequiel Flores Kanter" userId="03da0cbcfcedef2e" providerId="LiveId" clId="{741AA1FE-7C38-444F-B79D-5C0E439E15A0}" dt="2026-02-27T21:55:57.993" v="279" actId="22"/>
          <ac:picMkLst>
            <pc:docMk/>
            <pc:sldMk cId="1524959741" sldId="3691"/>
            <ac:picMk id="5" creationId="{2E5256ED-EDCF-BB34-9844-E23A392F31A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122DE7-C983-4708-8F44-1036FDC0D1D8}" type="datetimeFigureOut">
              <a:rPr lang="es-AR" smtClean="0"/>
              <a:t>27/2/2026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B32B8F-EF94-4412-A034-AECF543B4C3F}" type="slidenum">
              <a:rPr lang="es-AR" smtClean="0"/>
              <a:t>‹Nº›</a:t>
            </a:fld>
            <a:endParaRPr lang="es-AR"/>
          </a:p>
        </p:txBody>
      </p:sp>
    </p:spTree>
    <p:extLst>
      <p:ext uri="{BB962C8B-B14F-4D97-AF65-F5344CB8AC3E}">
        <p14:creationId xmlns:p14="http://schemas.microsoft.com/office/powerpoint/2010/main" val="2443642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rstudio.com/"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Para conocer con qué programas de análisis de datos están más familiarizados.</a:t>
            </a:r>
          </a:p>
        </p:txBody>
      </p:sp>
      <p:sp>
        <p:nvSpPr>
          <p:cNvPr id="4" name="Marcador de número de diapositiva 3"/>
          <p:cNvSpPr>
            <a:spLocks noGrp="1"/>
          </p:cNvSpPr>
          <p:nvPr>
            <p:ph type="sldNum" sz="quarter" idx="5"/>
          </p:nvPr>
        </p:nvSpPr>
        <p:spPr/>
        <p:txBody>
          <a:bodyPr/>
          <a:lstStyle/>
          <a:p>
            <a:fld id="{D2B32B8F-EF94-4412-A034-AECF543B4C3F}" type="slidenum">
              <a:rPr lang="es-AR" smtClean="0"/>
              <a:t>4</a:t>
            </a:fld>
            <a:endParaRPr lang="es-AR"/>
          </a:p>
        </p:txBody>
      </p:sp>
    </p:spTree>
    <p:extLst>
      <p:ext uri="{BB962C8B-B14F-4D97-AF65-F5344CB8AC3E}">
        <p14:creationId xmlns:p14="http://schemas.microsoft.com/office/powerpoint/2010/main" val="1709182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De fuente/código abierto: en donde </a:t>
            </a:r>
            <a:r>
              <a:rPr lang="es-ES" dirty="0"/>
              <a:t>los usuarios pueden acceder y editar el código fuente, verificar su precisión, implementarlo por sí mismos y/o personalizarlo según sus propias necesidades.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Basado en sintaxis: </a:t>
            </a:r>
            <a:r>
              <a:rPr lang="es-ES" dirty="0"/>
              <a:t>lo que permite que cada etapa, desde la limpieza de datos hasta el análisis, quede documentada y escrita como código. Esto facilita compartir, revisar y reproducir los resultados.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err="1"/>
              <a:t>Rstudio</a:t>
            </a:r>
            <a:r>
              <a:rPr lang="es-ES" dirty="0"/>
              <a:t>: Toda la información necesaria para programar está disponible en una sola ventana. Además, mantiene las propiedades de ser gratuito y de código abierto.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Fuentes: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https://cla.umn.edu/psychology/news-events/story/investigating-r-revolution-open-science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FORRT </a:t>
            </a:r>
            <a:r>
              <a:rPr lang="es-ES" dirty="0" err="1"/>
              <a:t>Slides</a:t>
            </a:r>
            <a:r>
              <a:rPr lang="es-ES" dirty="0"/>
              <a:t> </a:t>
            </a:r>
            <a:r>
              <a:rPr lang="es-ES" dirty="0" err="1"/>
              <a:t>Computational</a:t>
            </a:r>
            <a:r>
              <a:rPr lang="es-ES" dirty="0"/>
              <a:t> </a:t>
            </a:r>
            <a:r>
              <a:rPr lang="es-ES" dirty="0" err="1"/>
              <a:t>Reproducibility</a:t>
            </a: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endParaRPr lang="es-AR" dirty="0"/>
          </a:p>
        </p:txBody>
      </p:sp>
      <p:sp>
        <p:nvSpPr>
          <p:cNvPr id="4" name="Marcador de número de diapositiva 3"/>
          <p:cNvSpPr>
            <a:spLocks noGrp="1"/>
          </p:cNvSpPr>
          <p:nvPr>
            <p:ph type="sldNum" sz="quarter" idx="5"/>
          </p:nvPr>
        </p:nvSpPr>
        <p:spPr/>
        <p:txBody>
          <a:bodyPr/>
          <a:lstStyle/>
          <a:p>
            <a:fld id="{D2B32B8F-EF94-4412-A034-AECF543B4C3F}" type="slidenum">
              <a:rPr lang="es-AR" smtClean="0"/>
              <a:t>5</a:t>
            </a:fld>
            <a:endParaRPr lang="es-AR"/>
          </a:p>
        </p:txBody>
      </p:sp>
    </p:spTree>
    <p:extLst>
      <p:ext uri="{BB962C8B-B14F-4D97-AF65-F5344CB8AC3E}">
        <p14:creationId xmlns:p14="http://schemas.microsoft.com/office/powerpoint/2010/main" val="763628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De </a:t>
            </a:r>
            <a:r>
              <a:rPr lang="en-US" sz="1200" b="0" i="0" kern="1200" dirty="0" err="1">
                <a:solidFill>
                  <a:schemeClr val="tx1"/>
                </a:solidFill>
                <a:effectLst/>
                <a:latin typeface="+mn-lt"/>
                <a:ea typeface="+mn-ea"/>
                <a:cs typeface="+mn-cs"/>
              </a:rPr>
              <a:t>datacarpentry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term “R” is used to refer to both the programming language and the software that interprets the scripts written using it.</a:t>
            </a:r>
          </a:p>
          <a:p>
            <a:r>
              <a:rPr lang="en-US" sz="1200" b="0" i="0" u="none" strike="noStrike" kern="1200" dirty="0">
                <a:solidFill>
                  <a:schemeClr val="tx1"/>
                </a:solidFill>
                <a:effectLst/>
                <a:latin typeface="+mn-lt"/>
                <a:ea typeface="+mn-ea"/>
                <a:cs typeface="+mn-cs"/>
                <a:hlinkClick r:id="rId3"/>
              </a:rPr>
              <a:t>RStudio</a:t>
            </a:r>
            <a:r>
              <a:rPr lang="en-US" sz="1200" b="0" i="0" kern="1200" dirty="0">
                <a:solidFill>
                  <a:schemeClr val="tx1"/>
                </a:solidFill>
                <a:effectLst/>
                <a:latin typeface="+mn-lt"/>
                <a:ea typeface="+mn-ea"/>
                <a:cs typeface="+mn-cs"/>
              </a:rPr>
              <a:t> is currently a very popular way to not only write your R scripts but also to interact with the R software. To function correctly, RStudio needs R and therefore both need to be installed on your computer.</a:t>
            </a:r>
          </a:p>
          <a:p>
            <a:r>
              <a:rPr lang="en-US" sz="1200" b="0" i="0" kern="1200" dirty="0">
                <a:solidFill>
                  <a:schemeClr val="tx1"/>
                </a:solidFill>
                <a:effectLst/>
                <a:latin typeface="+mn-lt"/>
                <a:ea typeface="+mn-ea"/>
                <a:cs typeface="+mn-cs"/>
              </a:rPr>
              <a:t>To make it easier to interact with R, we will use RStudio. RStudio is the most popular IDE (Integrated Development Environment) for R. An IDE is a piece of software that provides tools to make programming easier.</a:t>
            </a:r>
          </a:p>
          <a:p>
            <a:endParaRPr lang="es-AR" dirty="0"/>
          </a:p>
        </p:txBody>
      </p:sp>
      <p:sp>
        <p:nvSpPr>
          <p:cNvPr id="4" name="Marcador de número de diapositiva 3"/>
          <p:cNvSpPr>
            <a:spLocks noGrp="1"/>
          </p:cNvSpPr>
          <p:nvPr>
            <p:ph type="sldNum" sz="quarter" idx="5"/>
          </p:nvPr>
        </p:nvSpPr>
        <p:spPr/>
        <p:txBody>
          <a:bodyPr/>
          <a:lstStyle/>
          <a:p>
            <a:fld id="{D2B32B8F-EF94-4412-A034-AECF543B4C3F}" type="slidenum">
              <a:rPr lang="es-AR" smtClean="0"/>
              <a:t>6</a:t>
            </a:fld>
            <a:endParaRPr lang="es-AR"/>
          </a:p>
        </p:txBody>
      </p:sp>
    </p:spTree>
    <p:extLst>
      <p:ext uri="{BB962C8B-B14F-4D97-AF65-F5344CB8AC3E}">
        <p14:creationId xmlns:p14="http://schemas.microsoft.com/office/powerpoint/2010/main" val="3341368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Comparación SPSS vs </a:t>
            </a:r>
            <a:r>
              <a:rPr lang="es-AR" dirty="0" err="1"/>
              <a:t>Rstudio</a:t>
            </a:r>
            <a:r>
              <a:rPr lang="es-AR" dirty="0"/>
              <a:t>.</a:t>
            </a:r>
          </a:p>
        </p:txBody>
      </p:sp>
      <p:sp>
        <p:nvSpPr>
          <p:cNvPr id="4" name="Marcador de número de diapositiva 3"/>
          <p:cNvSpPr>
            <a:spLocks noGrp="1"/>
          </p:cNvSpPr>
          <p:nvPr>
            <p:ph type="sldNum" sz="quarter" idx="5"/>
          </p:nvPr>
        </p:nvSpPr>
        <p:spPr/>
        <p:txBody>
          <a:bodyPr/>
          <a:lstStyle/>
          <a:p>
            <a:fld id="{D2B32B8F-EF94-4412-A034-AECF543B4C3F}" type="slidenum">
              <a:rPr lang="es-AR" smtClean="0"/>
              <a:t>7</a:t>
            </a:fld>
            <a:endParaRPr lang="es-AR"/>
          </a:p>
        </p:txBody>
      </p:sp>
    </p:spTree>
    <p:extLst>
      <p:ext uri="{BB962C8B-B14F-4D97-AF65-F5344CB8AC3E}">
        <p14:creationId xmlns:p14="http://schemas.microsoft.com/office/powerpoint/2010/main" val="1129658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Fuente: </a:t>
            </a:r>
            <a:r>
              <a:rPr lang="en-US" dirty="0"/>
              <a:t>Breaking up with SPSS: Can we get students to move away from point and click? https://www.youtube.com/watch?v=nmSR8V4s1PM</a:t>
            </a:r>
            <a:endParaRPr lang="es-AR" dirty="0"/>
          </a:p>
        </p:txBody>
      </p:sp>
      <p:sp>
        <p:nvSpPr>
          <p:cNvPr id="4" name="Marcador de número de diapositiva 3"/>
          <p:cNvSpPr>
            <a:spLocks noGrp="1"/>
          </p:cNvSpPr>
          <p:nvPr>
            <p:ph type="sldNum" sz="quarter" idx="5"/>
          </p:nvPr>
        </p:nvSpPr>
        <p:spPr/>
        <p:txBody>
          <a:bodyPr/>
          <a:lstStyle/>
          <a:p>
            <a:fld id="{D2B32B8F-EF94-4412-A034-AECF543B4C3F}" type="slidenum">
              <a:rPr lang="es-AR" smtClean="0"/>
              <a:t>8</a:t>
            </a:fld>
            <a:endParaRPr lang="es-AR"/>
          </a:p>
        </p:txBody>
      </p:sp>
    </p:spTree>
    <p:extLst>
      <p:ext uri="{BB962C8B-B14F-4D97-AF65-F5344CB8AC3E}">
        <p14:creationId xmlns:p14="http://schemas.microsoft.com/office/powerpoint/2010/main" val="1303773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Fuente: https://stanfordphd.com/Statistical_Software.html</a:t>
            </a:r>
          </a:p>
          <a:p>
            <a:endParaRPr lang="es-AR" dirty="0"/>
          </a:p>
          <a:p>
            <a:r>
              <a:rPr lang="es-AR" dirty="0"/>
              <a:t>De </a:t>
            </a:r>
            <a:r>
              <a:rPr lang="es-AR" dirty="0" err="1"/>
              <a:t>datacarpentry</a:t>
            </a:r>
            <a:r>
              <a:rPr lang="es-AR" dirty="0"/>
              <a:t>: </a:t>
            </a:r>
          </a:p>
          <a:p>
            <a:r>
              <a:rPr lang="en-US" sz="1200" b="0" i="0" kern="1200" dirty="0">
                <a:solidFill>
                  <a:schemeClr val="tx1"/>
                </a:solidFill>
                <a:effectLst/>
                <a:latin typeface="+mn-lt"/>
                <a:ea typeface="+mn-ea"/>
                <a:cs typeface="+mn-cs"/>
              </a:rPr>
              <a:t>With 10,000+ packages that can be installed to extend its capabilities, R provides a framework that allows you to combine statistical approaches from many scientific disciplines to best suit the analytical framework you need to analyze your data.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plotting functionalities in R are endless, and allow you to adjust any aspect of your graph to convey most effectively the message from your data.</a:t>
            </a:r>
            <a:endParaRPr lang="es-AR" dirty="0"/>
          </a:p>
        </p:txBody>
      </p:sp>
      <p:sp>
        <p:nvSpPr>
          <p:cNvPr id="4" name="Marcador de número de diapositiva 3"/>
          <p:cNvSpPr>
            <a:spLocks noGrp="1"/>
          </p:cNvSpPr>
          <p:nvPr>
            <p:ph type="sldNum" sz="quarter" idx="5"/>
          </p:nvPr>
        </p:nvSpPr>
        <p:spPr/>
        <p:txBody>
          <a:bodyPr/>
          <a:lstStyle/>
          <a:p>
            <a:fld id="{D2B32B8F-EF94-4412-A034-AECF543B4C3F}" type="slidenum">
              <a:rPr lang="es-AR" smtClean="0"/>
              <a:t>9</a:t>
            </a:fld>
            <a:endParaRPr lang="es-AR"/>
          </a:p>
        </p:txBody>
      </p:sp>
    </p:spTree>
    <p:extLst>
      <p:ext uri="{BB962C8B-B14F-4D97-AF65-F5344CB8AC3E}">
        <p14:creationId xmlns:p14="http://schemas.microsoft.com/office/powerpoint/2010/main" val="765304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Algunos datos de encuestas sobre el uso de softwares para el análisis de datos en la Academia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err="1"/>
              <a:t>Rexer</a:t>
            </a:r>
            <a:r>
              <a:rPr lang="es-AR" dirty="0"/>
              <a:t> </a:t>
            </a:r>
            <a:r>
              <a:rPr lang="es-AR" dirty="0" err="1"/>
              <a:t>Analytics</a:t>
            </a:r>
            <a:r>
              <a:rPr lang="es-AR" dirty="0"/>
              <a:t>: Empresa que brinda servicios de ciencia de datos y que realiza encuestas a nivel mundial sobre el uso de programas para el análisis de datos.</a:t>
            </a:r>
          </a:p>
          <a:p>
            <a:endParaRPr lang="es-AR" dirty="0"/>
          </a:p>
          <a:p>
            <a:r>
              <a:rPr lang="es-AR" dirty="0"/>
              <a:t>Fuente: https://www.rexeranalytics.com/data-science-survey</a:t>
            </a:r>
          </a:p>
        </p:txBody>
      </p:sp>
      <p:sp>
        <p:nvSpPr>
          <p:cNvPr id="4" name="Marcador de número de diapositiva 3"/>
          <p:cNvSpPr>
            <a:spLocks noGrp="1"/>
          </p:cNvSpPr>
          <p:nvPr>
            <p:ph type="sldNum" sz="quarter" idx="5"/>
          </p:nvPr>
        </p:nvSpPr>
        <p:spPr/>
        <p:txBody>
          <a:bodyPr/>
          <a:lstStyle/>
          <a:p>
            <a:fld id="{D2B32B8F-EF94-4412-A034-AECF543B4C3F}" type="slidenum">
              <a:rPr lang="es-AR" smtClean="0"/>
              <a:t>11</a:t>
            </a:fld>
            <a:endParaRPr lang="es-AR"/>
          </a:p>
        </p:txBody>
      </p:sp>
    </p:spTree>
    <p:extLst>
      <p:ext uri="{BB962C8B-B14F-4D97-AF65-F5344CB8AC3E}">
        <p14:creationId xmlns:p14="http://schemas.microsoft.com/office/powerpoint/2010/main" val="131413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Softwares más </a:t>
            </a:r>
            <a:r>
              <a:rPr lang="es-AR" dirty="0" err="1"/>
              <a:t>comunmente</a:t>
            </a:r>
            <a:r>
              <a:rPr lang="es-AR" dirty="0"/>
              <a:t> utilizados.</a:t>
            </a:r>
          </a:p>
        </p:txBody>
      </p:sp>
      <p:sp>
        <p:nvSpPr>
          <p:cNvPr id="4" name="Marcador de número de diapositiva 3"/>
          <p:cNvSpPr>
            <a:spLocks noGrp="1"/>
          </p:cNvSpPr>
          <p:nvPr>
            <p:ph type="sldNum" sz="quarter" idx="5"/>
          </p:nvPr>
        </p:nvSpPr>
        <p:spPr/>
        <p:txBody>
          <a:bodyPr/>
          <a:lstStyle/>
          <a:p>
            <a:fld id="{D2B32B8F-EF94-4412-A034-AECF543B4C3F}" type="slidenum">
              <a:rPr lang="es-AR" smtClean="0"/>
              <a:t>12</a:t>
            </a:fld>
            <a:endParaRPr lang="es-AR"/>
          </a:p>
        </p:txBody>
      </p:sp>
    </p:spTree>
    <p:extLst>
      <p:ext uri="{BB962C8B-B14F-4D97-AF65-F5344CB8AC3E}">
        <p14:creationId xmlns:p14="http://schemas.microsoft.com/office/powerpoint/2010/main" val="1294961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Softwares utilizados: La mayoría de los científicos de datos utilizaban más de un software (media: 5 programas).</a:t>
            </a:r>
          </a:p>
        </p:txBody>
      </p:sp>
      <p:sp>
        <p:nvSpPr>
          <p:cNvPr id="4" name="Marcador de número de diapositiva 3"/>
          <p:cNvSpPr>
            <a:spLocks noGrp="1"/>
          </p:cNvSpPr>
          <p:nvPr>
            <p:ph type="sldNum" sz="quarter" idx="5"/>
          </p:nvPr>
        </p:nvSpPr>
        <p:spPr/>
        <p:txBody>
          <a:bodyPr/>
          <a:lstStyle/>
          <a:p>
            <a:fld id="{D2B32B8F-EF94-4412-A034-AECF543B4C3F}" type="slidenum">
              <a:rPr lang="es-AR" smtClean="0"/>
              <a:t>13</a:t>
            </a:fld>
            <a:endParaRPr lang="es-AR"/>
          </a:p>
        </p:txBody>
      </p:sp>
    </p:spTree>
    <p:extLst>
      <p:ext uri="{BB962C8B-B14F-4D97-AF65-F5344CB8AC3E}">
        <p14:creationId xmlns:p14="http://schemas.microsoft.com/office/powerpoint/2010/main" val="2230044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Software primario utilizado.</a:t>
            </a:r>
          </a:p>
        </p:txBody>
      </p:sp>
      <p:sp>
        <p:nvSpPr>
          <p:cNvPr id="4" name="Marcador de número de diapositiva 3"/>
          <p:cNvSpPr>
            <a:spLocks noGrp="1"/>
          </p:cNvSpPr>
          <p:nvPr>
            <p:ph type="sldNum" sz="quarter" idx="5"/>
          </p:nvPr>
        </p:nvSpPr>
        <p:spPr/>
        <p:txBody>
          <a:bodyPr/>
          <a:lstStyle/>
          <a:p>
            <a:fld id="{D2B32B8F-EF94-4412-A034-AECF543B4C3F}" type="slidenum">
              <a:rPr lang="es-AR" smtClean="0"/>
              <a:t>14</a:t>
            </a:fld>
            <a:endParaRPr lang="es-AR"/>
          </a:p>
        </p:txBody>
      </p:sp>
    </p:spTree>
    <p:extLst>
      <p:ext uri="{BB962C8B-B14F-4D97-AF65-F5344CB8AC3E}">
        <p14:creationId xmlns:p14="http://schemas.microsoft.com/office/powerpoint/2010/main" val="1088704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Tomado de </a:t>
            </a:r>
            <a:r>
              <a:rPr lang="es-AR" dirty="0" err="1"/>
              <a:t>datacarpentry</a:t>
            </a:r>
            <a:r>
              <a:rPr lang="es-AR"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Not only is R free, but it is also open-source and cross-platform: Anyone can inspect the source code to see how R works. Because of this transparency, there is less chance for mistakes, and if you (or someone else) find some, you can report and fix bugs.</a:t>
            </a:r>
          </a:p>
          <a:p>
            <a:r>
              <a:rPr lang="en-US" sz="1200" b="0" i="0" kern="1200" dirty="0">
                <a:solidFill>
                  <a:schemeClr val="tx1"/>
                </a:solidFill>
                <a:effectLst/>
                <a:latin typeface="+mn-lt"/>
                <a:ea typeface="+mn-ea"/>
                <a:cs typeface="+mn-cs"/>
              </a:rPr>
              <a:t>Because R is open source and is supported by a large community of developers and users, there is a very large selection of third-party add-on packages which are freely available to extend R’s native capabilities.</a:t>
            </a:r>
          </a:p>
          <a:p>
            <a:endParaRPr lang="es-AR" dirty="0"/>
          </a:p>
          <a:p>
            <a:r>
              <a:rPr lang="en-US" sz="1200" b="0" i="0" kern="1200" dirty="0">
                <a:solidFill>
                  <a:schemeClr val="tx1"/>
                </a:solidFill>
                <a:effectLst/>
                <a:latin typeface="+mn-lt"/>
                <a:ea typeface="+mn-ea"/>
                <a:cs typeface="+mn-cs"/>
              </a:rPr>
              <a:t>…if you want to redo your analysis because you collected more data, you don’t have to remember which button you clicked in which order to obtain your results; you just have to run your script again.</a:t>
            </a:r>
          </a:p>
          <a:p>
            <a:r>
              <a:rPr lang="en-US" sz="1200" b="0" i="0" kern="1200" dirty="0">
                <a:solidFill>
                  <a:schemeClr val="tx1"/>
                </a:solidFill>
                <a:effectLst/>
                <a:latin typeface="+mn-lt"/>
                <a:ea typeface="+mn-ea"/>
                <a:cs typeface="+mn-cs"/>
              </a:rPr>
              <a:t>Working with scripts makes the steps you used in your analysis clear, and the code you write can be inspected by someone else who can give you feedback and spot mistakes.</a:t>
            </a:r>
          </a:p>
          <a:p>
            <a:r>
              <a:rPr lang="en-US" sz="1200" b="0" i="0" kern="1200" dirty="0">
                <a:solidFill>
                  <a:schemeClr val="tx1"/>
                </a:solidFill>
                <a:effectLst/>
                <a:latin typeface="+mn-lt"/>
                <a:ea typeface="+mn-ea"/>
                <a:cs typeface="+mn-cs"/>
              </a:rPr>
              <a:t>Working with scripts forces you to have a deeper understanding of what you are doing, and facilitates your learning and comprehension of the methods you use.</a:t>
            </a:r>
          </a:p>
          <a:p>
            <a:endParaRPr lang="es-AR" dirty="0"/>
          </a:p>
          <a:p>
            <a:r>
              <a:rPr lang="en-US" sz="1200" b="0" i="0" kern="1200" dirty="0">
                <a:solidFill>
                  <a:schemeClr val="tx1"/>
                </a:solidFill>
                <a:effectLst/>
                <a:latin typeface="+mn-lt"/>
                <a:ea typeface="+mn-ea"/>
                <a:cs typeface="+mn-cs"/>
              </a:rPr>
              <a:t>Reproducibility is when someone else (including your future self) can obtain the same results from the same dataset when using the same analysis.</a:t>
            </a:r>
          </a:p>
          <a:p>
            <a:r>
              <a:rPr lang="en-US" sz="1200" b="0" i="0" kern="1200" dirty="0">
                <a:solidFill>
                  <a:schemeClr val="tx1"/>
                </a:solidFill>
                <a:effectLst/>
                <a:latin typeface="+mn-lt"/>
                <a:ea typeface="+mn-ea"/>
                <a:cs typeface="+mn-cs"/>
              </a:rPr>
              <a:t>R integrates with other tools to generate manuscripts from your code. If you collect more data, or fix a mistake in your dataset, the figures and the statistical tests in your manuscript are updated automatically.</a:t>
            </a:r>
          </a:p>
          <a:p>
            <a:r>
              <a:rPr lang="en-US" sz="1200" b="0" i="0" kern="1200" dirty="0">
                <a:solidFill>
                  <a:schemeClr val="tx1"/>
                </a:solidFill>
                <a:effectLst/>
                <a:latin typeface="+mn-lt"/>
                <a:ea typeface="+mn-ea"/>
                <a:cs typeface="+mn-cs"/>
              </a:rPr>
              <a:t>To further support reproducibility and transparency, there are also packages that help you with dependency management: keeping track of which packages we are loading and how they depend on the package version you are using. This helps you make sure existing workflows work consistently and continue doing what they did before.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s-AR" dirty="0"/>
          </a:p>
        </p:txBody>
      </p:sp>
      <p:sp>
        <p:nvSpPr>
          <p:cNvPr id="4" name="Marcador de número de diapositiva 3"/>
          <p:cNvSpPr>
            <a:spLocks noGrp="1"/>
          </p:cNvSpPr>
          <p:nvPr>
            <p:ph type="sldNum" sz="quarter" idx="5"/>
          </p:nvPr>
        </p:nvSpPr>
        <p:spPr/>
        <p:txBody>
          <a:bodyPr/>
          <a:lstStyle/>
          <a:p>
            <a:fld id="{3BC70C2F-F005-4311-B2B8-E104C665B1F9}" type="slidenum">
              <a:rPr lang="es-AR" smtClean="0"/>
              <a:t>15</a:t>
            </a:fld>
            <a:endParaRPr lang="es-AR"/>
          </a:p>
        </p:txBody>
      </p:sp>
    </p:spTree>
    <p:extLst>
      <p:ext uri="{BB962C8B-B14F-4D97-AF65-F5344CB8AC3E}">
        <p14:creationId xmlns:p14="http://schemas.microsoft.com/office/powerpoint/2010/main" val="1674402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1F1B2-03AA-EA88-DA84-C0449D43F9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E1E417-AA6D-66D7-D195-9538703702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9E154F-E1E9-6A81-3622-9398DE2C2289}"/>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F7F5C34C-329B-4226-6DBB-A087C3BB53B5}"/>
              </a:ext>
            </a:extLst>
          </p:cNvPr>
          <p:cNvSpPr>
            <a:spLocks noGrp="1"/>
          </p:cNvSpPr>
          <p:nvPr>
            <p:ph type="sldNum" sz="quarter" idx="5"/>
          </p:nvPr>
        </p:nvSpPr>
        <p:spPr/>
        <p:txBody>
          <a:bodyPr/>
          <a:lstStyle/>
          <a:p>
            <a:fld id="{3BC70C2F-F005-4311-B2B8-E104C665B1F9}" type="slidenum">
              <a:rPr lang="es-AR" smtClean="0"/>
              <a:t>16</a:t>
            </a:fld>
            <a:endParaRPr lang="es-AR"/>
          </a:p>
        </p:txBody>
      </p:sp>
    </p:spTree>
    <p:extLst>
      <p:ext uri="{BB962C8B-B14F-4D97-AF65-F5344CB8AC3E}">
        <p14:creationId xmlns:p14="http://schemas.microsoft.com/office/powerpoint/2010/main" val="2497729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6FD0FD1-4D5F-4B87-BD47-7F33832A23ED}" type="slidenum">
              <a:rPr lang="es-AR" smtClean="0"/>
              <a:t>18</a:t>
            </a:fld>
            <a:endParaRPr lang="es-AR"/>
          </a:p>
        </p:txBody>
      </p:sp>
    </p:spTree>
    <p:extLst>
      <p:ext uri="{BB962C8B-B14F-4D97-AF65-F5344CB8AC3E}">
        <p14:creationId xmlns:p14="http://schemas.microsoft.com/office/powerpoint/2010/main" val="6551011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Pasar a la descarga de R, </a:t>
            </a:r>
            <a:r>
              <a:rPr lang="es-AR" dirty="0" err="1"/>
              <a:t>RStudio</a:t>
            </a:r>
            <a:r>
              <a:rPr lang="es-AR" dirty="0"/>
              <a:t>, y al acercamiento inicial al programa.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Fuente: </a:t>
            </a:r>
            <a:r>
              <a:rPr lang="es-ES" dirty="0"/>
              <a:t>FORRT </a:t>
            </a:r>
            <a:r>
              <a:rPr lang="es-ES" dirty="0" err="1"/>
              <a:t>Slides</a:t>
            </a:r>
            <a:r>
              <a:rPr lang="es-ES" dirty="0"/>
              <a:t> </a:t>
            </a:r>
            <a:r>
              <a:rPr lang="es-ES" dirty="0" err="1"/>
              <a:t>Computational</a:t>
            </a:r>
            <a:r>
              <a:rPr lang="es-ES" dirty="0"/>
              <a:t> </a:t>
            </a:r>
            <a:r>
              <a:rPr lang="es-ES" dirty="0" err="1"/>
              <a:t>Reproducibility</a:t>
            </a:r>
            <a:endParaRPr lang="es-ES" dirty="0"/>
          </a:p>
          <a:p>
            <a:endParaRPr lang="es-AR" dirty="0"/>
          </a:p>
        </p:txBody>
      </p:sp>
      <p:sp>
        <p:nvSpPr>
          <p:cNvPr id="4" name="Marcador de número de diapositiva 3"/>
          <p:cNvSpPr>
            <a:spLocks noGrp="1"/>
          </p:cNvSpPr>
          <p:nvPr>
            <p:ph type="sldNum" sz="quarter" idx="5"/>
          </p:nvPr>
        </p:nvSpPr>
        <p:spPr/>
        <p:txBody>
          <a:bodyPr/>
          <a:lstStyle/>
          <a:p>
            <a:fld id="{D2B32B8F-EF94-4412-A034-AECF543B4C3F}" type="slidenum">
              <a:rPr lang="es-AR" smtClean="0"/>
              <a:t>20</a:t>
            </a:fld>
            <a:endParaRPr lang="es-AR"/>
          </a:p>
        </p:txBody>
      </p:sp>
    </p:spTree>
    <p:extLst>
      <p:ext uri="{BB962C8B-B14F-4D97-AF65-F5344CB8AC3E}">
        <p14:creationId xmlns:p14="http://schemas.microsoft.com/office/powerpoint/2010/main" val="899396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22683C-53D9-AAFE-FD0A-E3871E4AB02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717740EC-7ECF-D73E-A358-E9EA50C0AD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C8C0BD54-5BF7-E4BB-AD92-BFAD2103FADB}"/>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5" name="Marcador de pie de página 4">
            <a:extLst>
              <a:ext uri="{FF2B5EF4-FFF2-40B4-BE49-F238E27FC236}">
                <a16:creationId xmlns:a16="http://schemas.microsoft.com/office/drawing/2014/main" id="{4F98CAD9-ADC5-3D0B-4482-38C0667DE2E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EAF5350-256C-4D77-AF06-007008275826}"/>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1002998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54FEC9-7287-924A-A9DD-98E35DC299B1}"/>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DB12865-9EB9-878A-2258-A063366D8CA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B7C6BCF-D873-3D40-AE23-1E1BC9A0E340}"/>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5" name="Marcador de pie de página 4">
            <a:extLst>
              <a:ext uri="{FF2B5EF4-FFF2-40B4-BE49-F238E27FC236}">
                <a16:creationId xmlns:a16="http://schemas.microsoft.com/office/drawing/2014/main" id="{E0107975-CDE9-CB09-0050-898041FED1F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425CDD0-E19A-A207-4FA3-F216BE37104B}"/>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3196662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95DA24-70F4-57AE-90D3-8E61C6888D4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C697FF73-4D50-8C72-706D-BA5FDB6D9C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97D1054-A8D4-7914-47AB-314771FD403E}"/>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5" name="Marcador de pie de página 4">
            <a:extLst>
              <a:ext uri="{FF2B5EF4-FFF2-40B4-BE49-F238E27FC236}">
                <a16:creationId xmlns:a16="http://schemas.microsoft.com/office/drawing/2014/main" id="{EF4879A6-FBAB-8AD3-FE11-2F1B9CED636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B6D84938-368B-1339-7B00-3E622DED54ED}"/>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367863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1BC7EA-81B5-845B-8899-F593AA791D41}"/>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F7C128C8-07E5-5244-7228-6928DC9D0CA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37E9BA1D-8E6E-22B9-4510-3789F0D888D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C7DF55DD-DDDA-0308-DF83-132284565C33}"/>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6" name="Marcador de pie de página 5">
            <a:extLst>
              <a:ext uri="{FF2B5EF4-FFF2-40B4-BE49-F238E27FC236}">
                <a16:creationId xmlns:a16="http://schemas.microsoft.com/office/drawing/2014/main" id="{F2DFE7AB-499E-0C2D-996E-8C63FA939B3A}"/>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4474129B-4FB0-719E-CE6E-80326DD61B52}"/>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2561999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C62DCC-9F6C-03A5-6E45-C714170C0EE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69E2351-A461-20F7-6006-33AB2F6701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3C36368-A4CB-E352-1E20-7E836872B00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D64E2735-D2A6-33AC-59A5-8D65682F58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53CA0C2-AE0B-B42A-E97A-321623AD381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9BA95C4D-148E-6EAD-DC92-B31F0A65EC4D}"/>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8" name="Marcador de pie de página 7">
            <a:extLst>
              <a:ext uri="{FF2B5EF4-FFF2-40B4-BE49-F238E27FC236}">
                <a16:creationId xmlns:a16="http://schemas.microsoft.com/office/drawing/2014/main" id="{A0B616BB-AD7C-5E1B-D7CC-E66837CF2AB4}"/>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166BCCE7-90F2-9EAD-4AE2-3A611057DB95}"/>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425704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35CD48-8A70-4A20-FBAC-78D0E76887EB}"/>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9EF6D2BA-0D37-F4FB-9530-B317269AA2D5}"/>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4" name="Marcador de pie de página 3">
            <a:extLst>
              <a:ext uri="{FF2B5EF4-FFF2-40B4-BE49-F238E27FC236}">
                <a16:creationId xmlns:a16="http://schemas.microsoft.com/office/drawing/2014/main" id="{048959A7-6EE3-2B01-4CBD-A7FB567C5003}"/>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F1362828-CC9D-FAA8-12DD-D980FCF52D1E}"/>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148141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2F1E21F-0F45-0853-AA89-242B4725CB5F}"/>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3" name="Marcador de pie de página 2">
            <a:extLst>
              <a:ext uri="{FF2B5EF4-FFF2-40B4-BE49-F238E27FC236}">
                <a16:creationId xmlns:a16="http://schemas.microsoft.com/office/drawing/2014/main" id="{1A673C66-70BD-7517-4724-F4CCA5A42242}"/>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D8FD0B05-A46D-8AB4-7DA4-A62D2893E498}"/>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1477332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EC9CCA-5540-9561-FEE1-0FDFB78322F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4CD3423-E0D9-0670-654D-06112B6DA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AC768761-B391-BD40-44A5-261E50E90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B5970E6-F117-7552-EBA7-6139E736ABF2}"/>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6" name="Marcador de pie de página 5">
            <a:extLst>
              <a:ext uri="{FF2B5EF4-FFF2-40B4-BE49-F238E27FC236}">
                <a16:creationId xmlns:a16="http://schemas.microsoft.com/office/drawing/2014/main" id="{543C1B2D-7B0B-BEF2-7EEA-2864A01D8060}"/>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D6F87977-B4E9-3A58-D5BC-BA78934ECABE}"/>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1572595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09D63-4114-C229-7DB9-B9C908DD4CA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211BED91-0FEF-10BD-6887-8EB4AA90C3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FFA2464E-0D5C-7C87-0051-96D466C698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FF2FD19-A07E-4FC8-12EB-971D840202C1}"/>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6" name="Marcador de pie de página 5">
            <a:extLst>
              <a:ext uri="{FF2B5EF4-FFF2-40B4-BE49-F238E27FC236}">
                <a16:creationId xmlns:a16="http://schemas.microsoft.com/office/drawing/2014/main" id="{E2E2BBF6-ADD8-EE32-A768-C7E775FFD66E}"/>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CFE2A228-46A1-53A5-F276-822CF952DA90}"/>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3342633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03A04D-17F2-41D9-CFC0-924190A7847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022FE00B-A4B7-97F0-9478-9B983A4ED56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801D70F1-E48E-A3F7-BFA2-0C652DDDE247}"/>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5" name="Marcador de pie de página 4">
            <a:extLst>
              <a:ext uri="{FF2B5EF4-FFF2-40B4-BE49-F238E27FC236}">
                <a16:creationId xmlns:a16="http://schemas.microsoft.com/office/drawing/2014/main" id="{03550B2B-890B-D3E2-74E2-F3EF8E857830}"/>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A6DD7B7-E6A5-221C-ED0E-BD02C1110865}"/>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2162965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AB20F18-78FC-0E14-4D85-16F0E4F59F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6AA26DEC-F36C-1ACB-962B-11B528E4151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89D71227-012B-EDF1-EE2D-66387EC1F2B2}"/>
              </a:ext>
            </a:extLst>
          </p:cNvPr>
          <p:cNvSpPr>
            <a:spLocks noGrp="1"/>
          </p:cNvSpPr>
          <p:nvPr>
            <p:ph type="dt" sz="half" idx="10"/>
          </p:nvPr>
        </p:nvSpPr>
        <p:spPr/>
        <p:txBody>
          <a:bodyPr/>
          <a:lstStyle/>
          <a:p>
            <a:fld id="{3EC0B81C-21BF-4F42-BB6F-9CA0925585A0}" type="datetimeFigureOut">
              <a:rPr lang="es-AR" smtClean="0"/>
              <a:t>27/2/2026</a:t>
            </a:fld>
            <a:endParaRPr lang="es-AR"/>
          </a:p>
        </p:txBody>
      </p:sp>
      <p:sp>
        <p:nvSpPr>
          <p:cNvPr id="5" name="Marcador de pie de página 4">
            <a:extLst>
              <a:ext uri="{FF2B5EF4-FFF2-40B4-BE49-F238E27FC236}">
                <a16:creationId xmlns:a16="http://schemas.microsoft.com/office/drawing/2014/main" id="{23DAC88D-8209-D7C7-AC24-9E8B6F4F8B0B}"/>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C9F5E424-E155-9FC6-F654-D9E11C1AAFFB}"/>
              </a:ext>
            </a:extLst>
          </p:cNvPr>
          <p:cNvSpPr>
            <a:spLocks noGrp="1"/>
          </p:cNvSpPr>
          <p:nvPr>
            <p:ph type="sldNum" sz="quarter" idx="12"/>
          </p:nvPr>
        </p:nvSpPr>
        <p:spPr/>
        <p:txBody>
          <a:bodyPr/>
          <a:lstStyle/>
          <a:p>
            <a:fld id="{C86BC18C-0437-406A-9841-38334E57895B}" type="slidenum">
              <a:rPr lang="es-AR" smtClean="0"/>
              <a:t>‹Nº›</a:t>
            </a:fld>
            <a:endParaRPr lang="es-AR"/>
          </a:p>
        </p:txBody>
      </p:sp>
    </p:spTree>
    <p:extLst>
      <p:ext uri="{BB962C8B-B14F-4D97-AF65-F5344CB8AC3E}">
        <p14:creationId xmlns:p14="http://schemas.microsoft.com/office/powerpoint/2010/main" val="4216861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0A2DAE1-9AC7-0242-DB76-481718D5C6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04B6CC7B-D86E-6C82-1649-604F6F379C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9ABF920F-DD30-9897-87BD-6FDAFC3311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C0B81C-21BF-4F42-BB6F-9CA0925585A0}" type="datetimeFigureOut">
              <a:rPr lang="es-AR" smtClean="0"/>
              <a:t>27/2/2026</a:t>
            </a:fld>
            <a:endParaRPr lang="es-AR"/>
          </a:p>
        </p:txBody>
      </p:sp>
      <p:sp>
        <p:nvSpPr>
          <p:cNvPr id="5" name="Marcador de pie de página 4">
            <a:extLst>
              <a:ext uri="{FF2B5EF4-FFF2-40B4-BE49-F238E27FC236}">
                <a16:creationId xmlns:a16="http://schemas.microsoft.com/office/drawing/2014/main" id="{419BC6EB-E952-2A17-B863-C079B21A5D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845196C5-61BF-5560-BEA3-D60DF4BC2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6BC18C-0437-406A-9841-38334E57895B}" type="slidenum">
              <a:rPr lang="es-AR" smtClean="0"/>
              <a:t>‹Nº›</a:t>
            </a:fld>
            <a:endParaRPr lang="es-AR"/>
          </a:p>
        </p:txBody>
      </p:sp>
    </p:spTree>
    <p:extLst>
      <p:ext uri="{BB962C8B-B14F-4D97-AF65-F5344CB8AC3E}">
        <p14:creationId xmlns:p14="http://schemas.microsoft.com/office/powerpoint/2010/main" val="3475859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gif"/><Relationship Id="rId5" Type="http://schemas.openxmlformats.org/officeDocument/2006/relationships/image" Target="../media/image10.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56D3BA-8BF9-1C69-CF63-AE477CAE1BEF}"/>
              </a:ext>
            </a:extLst>
          </p:cNvPr>
          <p:cNvSpPr>
            <a:spLocks noGrp="1"/>
          </p:cNvSpPr>
          <p:nvPr>
            <p:ph type="ctrTitle"/>
          </p:nvPr>
        </p:nvSpPr>
        <p:spPr/>
        <p:txBody>
          <a:bodyPr/>
          <a:lstStyle/>
          <a:p>
            <a:r>
              <a:rPr lang="es-AR" dirty="0"/>
              <a:t>Aspectos Introductorios</a:t>
            </a:r>
          </a:p>
        </p:txBody>
      </p:sp>
      <p:sp>
        <p:nvSpPr>
          <p:cNvPr id="3" name="Subtítulo 2">
            <a:extLst>
              <a:ext uri="{FF2B5EF4-FFF2-40B4-BE49-F238E27FC236}">
                <a16:creationId xmlns:a16="http://schemas.microsoft.com/office/drawing/2014/main" id="{7CEEBB89-740E-A727-709B-013FE029D660}"/>
              </a:ext>
            </a:extLst>
          </p:cNvPr>
          <p:cNvSpPr>
            <a:spLocks noGrp="1"/>
          </p:cNvSpPr>
          <p:nvPr>
            <p:ph type="subTitle" idx="1"/>
          </p:nvPr>
        </p:nvSpPr>
        <p:spPr/>
        <p:txBody>
          <a:bodyPr/>
          <a:lstStyle/>
          <a:p>
            <a:r>
              <a:rPr lang="es-AR" dirty="0"/>
              <a:t>Dr. Pablo Ezequiel Flores Kanter</a:t>
            </a:r>
          </a:p>
        </p:txBody>
      </p:sp>
    </p:spTree>
    <p:extLst>
      <p:ext uri="{BB962C8B-B14F-4D97-AF65-F5344CB8AC3E}">
        <p14:creationId xmlns:p14="http://schemas.microsoft.com/office/powerpoint/2010/main" val="2507433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106EA8-F2C5-748F-8375-0BED466BAAFB}"/>
              </a:ext>
            </a:extLst>
          </p:cNvPr>
          <p:cNvSpPr>
            <a:spLocks noGrp="1"/>
          </p:cNvSpPr>
          <p:nvPr>
            <p:ph type="title"/>
          </p:nvPr>
        </p:nvSpPr>
        <p:spPr/>
        <p:txBody>
          <a:bodyPr/>
          <a:lstStyle/>
          <a:p>
            <a:r>
              <a:rPr lang="es-AR" dirty="0"/>
              <a:t>¿Qué vamos a hacer en este Módulo?</a:t>
            </a:r>
          </a:p>
        </p:txBody>
      </p:sp>
      <p:sp>
        <p:nvSpPr>
          <p:cNvPr id="3" name="Marcador de contenido 2">
            <a:extLst>
              <a:ext uri="{FF2B5EF4-FFF2-40B4-BE49-F238E27FC236}">
                <a16:creationId xmlns:a16="http://schemas.microsoft.com/office/drawing/2014/main" id="{54F12061-E2F0-BCC2-4F4E-C4DA126C6C82}"/>
              </a:ext>
            </a:extLst>
          </p:cNvPr>
          <p:cNvSpPr>
            <a:spLocks noGrp="1"/>
          </p:cNvSpPr>
          <p:nvPr>
            <p:ph idx="1"/>
          </p:nvPr>
        </p:nvSpPr>
        <p:spPr/>
        <p:txBody>
          <a:bodyPr/>
          <a:lstStyle/>
          <a:p>
            <a:endParaRPr lang="es-AR"/>
          </a:p>
        </p:txBody>
      </p:sp>
    </p:spTree>
    <p:extLst>
      <p:ext uri="{BB962C8B-B14F-4D97-AF65-F5344CB8AC3E}">
        <p14:creationId xmlns:p14="http://schemas.microsoft.com/office/powerpoint/2010/main" val="588156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9C26F-BE71-A7AF-6093-00D811BCD7A8}"/>
              </a:ext>
            </a:extLst>
          </p:cNvPr>
          <p:cNvSpPr>
            <a:spLocks noGrp="1"/>
          </p:cNvSpPr>
          <p:nvPr>
            <p:ph type="title"/>
          </p:nvPr>
        </p:nvSpPr>
        <p:spPr/>
        <p:txBody>
          <a:bodyPr/>
          <a:lstStyle/>
          <a:p>
            <a:r>
              <a:rPr lang="es-AR" dirty="0"/>
              <a:t>Ruta de Aprendizaje</a:t>
            </a:r>
          </a:p>
        </p:txBody>
      </p:sp>
      <p:sp>
        <p:nvSpPr>
          <p:cNvPr id="3" name="Marcador de contenido 2">
            <a:extLst>
              <a:ext uri="{FF2B5EF4-FFF2-40B4-BE49-F238E27FC236}">
                <a16:creationId xmlns:a16="http://schemas.microsoft.com/office/drawing/2014/main" id="{E9E3B6F9-7497-A9A9-60CF-40937A27BCD8}"/>
              </a:ext>
            </a:extLst>
          </p:cNvPr>
          <p:cNvSpPr>
            <a:spLocks noGrp="1"/>
          </p:cNvSpPr>
          <p:nvPr>
            <p:ph idx="1"/>
          </p:nvPr>
        </p:nvSpPr>
        <p:spPr/>
        <p:txBody>
          <a:bodyPr/>
          <a:lstStyle/>
          <a:p>
            <a:pPr marL="571500" indent="-571500">
              <a:buFont typeface="+mj-lt"/>
              <a:buAutoNum type="romanLcPeriod"/>
            </a:pPr>
            <a:r>
              <a:rPr lang="es-AR" dirty="0"/>
              <a:t>Qué es R, para qué sirve y porqué molestarse por aprender a usarlo.</a:t>
            </a:r>
          </a:p>
          <a:p>
            <a:pPr marL="571500" indent="-571500">
              <a:buFont typeface="+mj-lt"/>
              <a:buAutoNum type="romanLcPeriod"/>
            </a:pPr>
            <a:r>
              <a:rPr lang="es-AR" dirty="0"/>
              <a:t>Familiarización con R y </a:t>
            </a:r>
            <a:r>
              <a:rPr lang="es-AR" dirty="0" err="1"/>
              <a:t>RStudio</a:t>
            </a:r>
            <a:r>
              <a:rPr lang="es-AR" dirty="0"/>
              <a:t>. Aprendizaje del lenguaje y formas de proceder en R y </a:t>
            </a:r>
            <a:r>
              <a:rPr lang="es-AR" dirty="0" err="1"/>
              <a:t>Rstudio</a:t>
            </a:r>
            <a:r>
              <a:rPr lang="es-AR" dirty="0"/>
              <a:t>. </a:t>
            </a:r>
          </a:p>
          <a:p>
            <a:pPr marL="571500" indent="-571500">
              <a:buFont typeface="+mj-lt"/>
              <a:buAutoNum type="romanLcPeriod"/>
            </a:pPr>
            <a:r>
              <a:rPr lang="es-AR" dirty="0"/>
              <a:t>El Análisis Factorial: Conceptos claves.</a:t>
            </a:r>
          </a:p>
          <a:p>
            <a:pPr marL="571500" indent="-571500">
              <a:buFont typeface="+mj-lt"/>
              <a:buAutoNum type="romanLcPeriod"/>
            </a:pPr>
            <a:r>
              <a:rPr lang="es-AR" dirty="0"/>
              <a:t>Análisis Factorial Aplicado: Aplicaciones en R y </a:t>
            </a:r>
            <a:r>
              <a:rPr lang="es-AR" dirty="0" err="1"/>
              <a:t>RStudio</a:t>
            </a:r>
            <a:r>
              <a:rPr lang="es-AR" dirty="0"/>
              <a:t>.</a:t>
            </a:r>
          </a:p>
          <a:p>
            <a:pPr marL="571500" indent="-571500">
              <a:buFont typeface="+mj-lt"/>
              <a:buAutoNum type="romanLcPeriod"/>
            </a:pPr>
            <a:r>
              <a:rPr lang="es-AR" dirty="0"/>
              <a:t>Trabajo Integrador: Uso de R y </a:t>
            </a:r>
            <a:r>
              <a:rPr lang="es-AR" dirty="0" err="1"/>
              <a:t>RStudio</a:t>
            </a:r>
            <a:r>
              <a:rPr lang="es-AR" dirty="0"/>
              <a:t> a los fines de analizar datos propios. Generación de un Reporte </a:t>
            </a:r>
            <a:r>
              <a:rPr lang="es-AR" dirty="0" err="1"/>
              <a:t>Psicométricoa</a:t>
            </a:r>
            <a:r>
              <a:rPr lang="es-AR" dirty="0"/>
              <a:t> partir de </a:t>
            </a:r>
            <a:r>
              <a:rPr lang="es-AR" dirty="0" err="1"/>
              <a:t>Quarto</a:t>
            </a:r>
            <a:r>
              <a:rPr lang="es-AR" dirty="0"/>
              <a:t> en </a:t>
            </a:r>
            <a:r>
              <a:rPr lang="es-AR" dirty="0" err="1"/>
              <a:t>RStudio</a:t>
            </a:r>
            <a:r>
              <a:rPr lang="es-AR" dirty="0"/>
              <a:t>. </a:t>
            </a:r>
          </a:p>
        </p:txBody>
      </p:sp>
    </p:spTree>
    <p:extLst>
      <p:ext uri="{BB962C8B-B14F-4D97-AF65-F5344CB8AC3E}">
        <p14:creationId xmlns:p14="http://schemas.microsoft.com/office/powerpoint/2010/main" val="15643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D29463-B989-9037-8236-467619DE0D02}"/>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B853345C-CF65-55FA-B499-50412D5A5FC5}"/>
              </a:ext>
            </a:extLst>
          </p:cNvPr>
          <p:cNvSpPr>
            <a:spLocks noGrp="1"/>
          </p:cNvSpPr>
          <p:nvPr>
            <p:ph idx="1"/>
          </p:nvPr>
        </p:nvSpPr>
        <p:spPr>
          <a:xfrm>
            <a:off x="7079672" y="1825625"/>
            <a:ext cx="4274127" cy="4351338"/>
          </a:xfrm>
        </p:spPr>
        <p:txBody>
          <a:bodyPr/>
          <a:lstStyle/>
          <a:p>
            <a:endParaRPr lang="es-AR" dirty="0">
              <a:hlinkClick r:id=""/>
            </a:endParaRPr>
          </a:p>
          <a:p>
            <a:endParaRPr lang="es-AR" dirty="0">
              <a:hlinkClick r:id=""/>
            </a:endParaRPr>
          </a:p>
          <a:p>
            <a:r>
              <a:rPr lang="es-AR" dirty="0">
                <a:hlinkClick r:id=""/>
              </a:rPr>
              <a:t>https://app.sli.do/event/v1GU7y5os9mMAxnTWbkRJj</a:t>
            </a:r>
            <a:endParaRPr lang="es-AR" dirty="0"/>
          </a:p>
          <a:p>
            <a:endParaRPr lang="es-AR" dirty="0"/>
          </a:p>
        </p:txBody>
      </p:sp>
      <p:pic>
        <p:nvPicPr>
          <p:cNvPr id="5" name="Imagen 4">
            <a:extLst>
              <a:ext uri="{FF2B5EF4-FFF2-40B4-BE49-F238E27FC236}">
                <a16:creationId xmlns:a16="http://schemas.microsoft.com/office/drawing/2014/main" id="{69C3ACD0-86C5-8BCF-EFD1-E8B1FA5D3483}"/>
              </a:ext>
            </a:extLst>
          </p:cNvPr>
          <p:cNvPicPr>
            <a:picLocks noChangeAspect="1"/>
          </p:cNvPicPr>
          <p:nvPr/>
        </p:nvPicPr>
        <p:blipFill>
          <a:blip r:embed="rId3"/>
          <a:stretch>
            <a:fillRect/>
          </a:stretch>
        </p:blipFill>
        <p:spPr>
          <a:xfrm>
            <a:off x="199160" y="95250"/>
            <a:ext cx="6667500" cy="6667500"/>
          </a:xfrm>
          <a:prstGeom prst="rect">
            <a:avLst/>
          </a:prstGeom>
        </p:spPr>
      </p:pic>
    </p:spTree>
    <p:extLst>
      <p:ext uri="{BB962C8B-B14F-4D97-AF65-F5344CB8AC3E}">
        <p14:creationId xmlns:p14="http://schemas.microsoft.com/office/powerpoint/2010/main" val="1840468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4FF89E-1545-CBAB-0344-E7DA2D7C9BD7}"/>
              </a:ext>
            </a:extLst>
          </p:cNvPr>
          <p:cNvSpPr>
            <a:spLocks noGrp="1"/>
          </p:cNvSpPr>
          <p:nvPr>
            <p:ph type="title"/>
          </p:nvPr>
        </p:nvSpPr>
        <p:spPr/>
        <p:txBody>
          <a:bodyPr/>
          <a:lstStyle/>
          <a:p>
            <a:r>
              <a:rPr lang="es-AR" dirty="0"/>
              <a:t>¿Qué es R y </a:t>
            </a:r>
            <a:r>
              <a:rPr lang="es-AR" dirty="0" err="1"/>
              <a:t>RStudio</a:t>
            </a:r>
            <a:r>
              <a:rPr lang="es-AR" dirty="0"/>
              <a:t>?</a:t>
            </a:r>
          </a:p>
        </p:txBody>
      </p:sp>
      <p:sp>
        <p:nvSpPr>
          <p:cNvPr id="3" name="Marcador de contenido 2">
            <a:extLst>
              <a:ext uri="{FF2B5EF4-FFF2-40B4-BE49-F238E27FC236}">
                <a16:creationId xmlns:a16="http://schemas.microsoft.com/office/drawing/2014/main" id="{3641D473-BEC1-F8CE-3358-F3E4B24954B2}"/>
              </a:ext>
            </a:extLst>
          </p:cNvPr>
          <p:cNvSpPr>
            <a:spLocks noGrp="1"/>
          </p:cNvSpPr>
          <p:nvPr>
            <p:ph idx="1"/>
          </p:nvPr>
        </p:nvSpPr>
        <p:spPr/>
        <p:txBody>
          <a:bodyPr/>
          <a:lstStyle/>
          <a:p>
            <a:r>
              <a:rPr lang="es-AR" dirty="0"/>
              <a:t>R es un lenguaje y un entorno de programación de fuente/código abierto, disponible de manera gratuita.</a:t>
            </a:r>
          </a:p>
          <a:p>
            <a:r>
              <a:rPr lang="es-AR" dirty="0"/>
              <a:t>Este lenguaje y entorno de programación R se desarrolló para posibilitar cómputos estadísticos y visualización de datos.</a:t>
            </a:r>
          </a:p>
          <a:p>
            <a:r>
              <a:rPr lang="es-ES" dirty="0" err="1"/>
              <a:t>RStudio</a:t>
            </a:r>
            <a:r>
              <a:rPr lang="es-ES" dirty="0"/>
              <a:t> (también conocido como </a:t>
            </a:r>
            <a:r>
              <a:rPr lang="es-ES" dirty="0" err="1"/>
              <a:t>Posit</a:t>
            </a:r>
            <a:r>
              <a:rPr lang="es-ES" dirty="0"/>
              <a:t>) es una interfaz más amigable que facilita la escritura, documentación, ejecución y manejo de código en R. </a:t>
            </a:r>
          </a:p>
          <a:p>
            <a:endParaRPr lang="es-AR" dirty="0"/>
          </a:p>
          <a:p>
            <a:endParaRPr lang="es-AR" dirty="0"/>
          </a:p>
        </p:txBody>
      </p:sp>
      <p:pic>
        <p:nvPicPr>
          <p:cNvPr id="6" name="Imagen 5">
            <a:extLst>
              <a:ext uri="{FF2B5EF4-FFF2-40B4-BE49-F238E27FC236}">
                <a16:creationId xmlns:a16="http://schemas.microsoft.com/office/drawing/2014/main" id="{F50A3558-5FA0-C1C8-30BA-7C77114FCEC8}"/>
              </a:ext>
            </a:extLst>
          </p:cNvPr>
          <p:cNvPicPr>
            <a:picLocks noChangeAspect="1"/>
          </p:cNvPicPr>
          <p:nvPr/>
        </p:nvPicPr>
        <p:blipFill>
          <a:blip r:embed="rId3"/>
          <a:stretch>
            <a:fillRect/>
          </a:stretch>
        </p:blipFill>
        <p:spPr>
          <a:xfrm>
            <a:off x="3209522" y="5162313"/>
            <a:ext cx="5772956" cy="1695687"/>
          </a:xfrm>
          <a:prstGeom prst="rect">
            <a:avLst/>
          </a:prstGeom>
        </p:spPr>
      </p:pic>
    </p:spTree>
    <p:extLst>
      <p:ext uri="{BB962C8B-B14F-4D97-AF65-F5344CB8AC3E}">
        <p14:creationId xmlns:p14="http://schemas.microsoft.com/office/powerpoint/2010/main" val="80486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6373F4-CA41-A73F-7715-D9B84E8F5F2C}"/>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48967033-8FED-2746-2A25-FCA639202A7E}"/>
              </a:ext>
            </a:extLst>
          </p:cNvPr>
          <p:cNvSpPr>
            <a:spLocks noGrp="1"/>
          </p:cNvSpPr>
          <p:nvPr>
            <p:ph idx="1"/>
          </p:nvPr>
        </p:nvSpPr>
        <p:spPr/>
        <p:txBody>
          <a:bodyPr/>
          <a:lstStyle/>
          <a:p>
            <a:endParaRPr lang="es-AR"/>
          </a:p>
        </p:txBody>
      </p:sp>
      <p:pic>
        <p:nvPicPr>
          <p:cNvPr id="5" name="Imagen 4">
            <a:extLst>
              <a:ext uri="{FF2B5EF4-FFF2-40B4-BE49-F238E27FC236}">
                <a16:creationId xmlns:a16="http://schemas.microsoft.com/office/drawing/2014/main" id="{2E5256ED-EDCF-BB34-9844-E23A392F31A1}"/>
              </a:ext>
            </a:extLst>
          </p:cNvPr>
          <p:cNvPicPr>
            <a:picLocks noChangeAspect="1"/>
          </p:cNvPicPr>
          <p:nvPr/>
        </p:nvPicPr>
        <p:blipFill>
          <a:blip r:embed="rId3"/>
          <a:stretch>
            <a:fillRect/>
          </a:stretch>
        </p:blipFill>
        <p:spPr>
          <a:xfrm>
            <a:off x="1518598" y="1890498"/>
            <a:ext cx="9154803" cy="3077004"/>
          </a:xfrm>
          <a:prstGeom prst="rect">
            <a:avLst/>
          </a:prstGeom>
        </p:spPr>
      </p:pic>
    </p:spTree>
    <p:extLst>
      <p:ext uri="{BB962C8B-B14F-4D97-AF65-F5344CB8AC3E}">
        <p14:creationId xmlns:p14="http://schemas.microsoft.com/office/powerpoint/2010/main" val="1524959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562CE-4768-48C1-9C6B-693030E7078B}"/>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3E894E93-E98F-DC5B-8289-4872BD114425}"/>
              </a:ext>
            </a:extLst>
          </p:cNvPr>
          <p:cNvSpPr>
            <a:spLocks noGrp="1"/>
          </p:cNvSpPr>
          <p:nvPr>
            <p:ph idx="1"/>
          </p:nvPr>
        </p:nvSpPr>
        <p:spPr/>
        <p:txBody>
          <a:bodyPr/>
          <a:lstStyle/>
          <a:p>
            <a:endParaRPr lang="es-AR"/>
          </a:p>
        </p:txBody>
      </p:sp>
      <p:pic>
        <p:nvPicPr>
          <p:cNvPr id="9" name="Imagen 8">
            <a:extLst>
              <a:ext uri="{FF2B5EF4-FFF2-40B4-BE49-F238E27FC236}">
                <a16:creationId xmlns:a16="http://schemas.microsoft.com/office/drawing/2014/main" id="{BBF133D9-04B4-EA31-16D3-738E725E55EB}"/>
              </a:ext>
            </a:extLst>
          </p:cNvPr>
          <p:cNvPicPr>
            <a:picLocks noChangeAspect="1"/>
          </p:cNvPicPr>
          <p:nvPr/>
        </p:nvPicPr>
        <p:blipFill>
          <a:blip r:embed="rId3"/>
          <a:stretch>
            <a:fillRect/>
          </a:stretch>
        </p:blipFill>
        <p:spPr>
          <a:xfrm>
            <a:off x="2667000" y="0"/>
            <a:ext cx="6858000" cy="6858000"/>
          </a:xfrm>
          <a:prstGeom prst="rect">
            <a:avLst/>
          </a:prstGeom>
        </p:spPr>
      </p:pic>
    </p:spTree>
    <p:extLst>
      <p:ext uri="{BB962C8B-B14F-4D97-AF65-F5344CB8AC3E}">
        <p14:creationId xmlns:p14="http://schemas.microsoft.com/office/powerpoint/2010/main" val="3484696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583EE9-9EF1-33EE-23EF-FDD8C2E311E7}"/>
              </a:ext>
            </a:extLst>
          </p:cNvPr>
          <p:cNvSpPr>
            <a:spLocks noGrp="1"/>
          </p:cNvSpPr>
          <p:nvPr>
            <p:ph type="title"/>
          </p:nvPr>
        </p:nvSpPr>
        <p:spPr/>
        <p:txBody>
          <a:bodyPr/>
          <a:lstStyle/>
          <a:p>
            <a:endParaRPr lang="es-AR"/>
          </a:p>
        </p:txBody>
      </p:sp>
      <p:graphicFrame>
        <p:nvGraphicFramePr>
          <p:cNvPr id="4" name="Marcador de contenido 3">
            <a:extLst>
              <a:ext uri="{FF2B5EF4-FFF2-40B4-BE49-F238E27FC236}">
                <a16:creationId xmlns:a16="http://schemas.microsoft.com/office/drawing/2014/main" id="{6B685D79-B56B-C9FF-6E04-CFD8CB839F01}"/>
              </a:ext>
            </a:extLst>
          </p:cNvPr>
          <p:cNvGraphicFramePr>
            <a:graphicFrameLocks noGrp="1"/>
          </p:cNvGraphicFramePr>
          <p:nvPr>
            <p:ph idx="1"/>
          </p:nvPr>
        </p:nvGraphicFramePr>
        <p:xfrm>
          <a:off x="838200" y="27706"/>
          <a:ext cx="10515600" cy="6872977"/>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711328082"/>
                    </a:ext>
                  </a:extLst>
                </a:gridCol>
                <a:gridCol w="3505200">
                  <a:extLst>
                    <a:ext uri="{9D8B030D-6E8A-4147-A177-3AD203B41FA5}">
                      <a16:colId xmlns:a16="http://schemas.microsoft.com/office/drawing/2014/main" val="2076207519"/>
                    </a:ext>
                  </a:extLst>
                </a:gridCol>
                <a:gridCol w="3505200">
                  <a:extLst>
                    <a:ext uri="{9D8B030D-6E8A-4147-A177-3AD203B41FA5}">
                      <a16:colId xmlns:a16="http://schemas.microsoft.com/office/drawing/2014/main" val="76489957"/>
                    </a:ext>
                  </a:extLst>
                </a:gridCol>
              </a:tblGrid>
              <a:tr h="1929119">
                <a:tc>
                  <a:txBody>
                    <a:bodyPr/>
                    <a:lstStyle/>
                    <a:p>
                      <a:endParaRPr lang="es-AR" dirty="0"/>
                    </a:p>
                  </a:txBody>
                  <a:tcPr>
                    <a:solidFill>
                      <a:schemeClr val="bg1"/>
                    </a:solidFill>
                  </a:tcPr>
                </a:tc>
                <a:tc>
                  <a:txBody>
                    <a:bodyPr/>
                    <a:lstStyle/>
                    <a:p>
                      <a:pPr algn="ctr"/>
                      <a:endParaRPr lang="es-AR" dirty="0"/>
                    </a:p>
                  </a:txBody>
                  <a:tcPr>
                    <a:solidFill>
                      <a:schemeClr val="bg1"/>
                    </a:solidFill>
                  </a:tcPr>
                </a:tc>
                <a:tc>
                  <a:txBody>
                    <a:bodyPr/>
                    <a:lstStyle/>
                    <a:p>
                      <a:pPr algn="ctr"/>
                      <a:endParaRPr lang="es-AR" dirty="0"/>
                    </a:p>
                  </a:txBody>
                  <a:tcPr>
                    <a:solidFill>
                      <a:schemeClr val="bg1"/>
                    </a:solidFill>
                  </a:tcPr>
                </a:tc>
                <a:extLst>
                  <a:ext uri="{0D108BD9-81ED-4DB2-BD59-A6C34878D82A}">
                    <a16:rowId xmlns:a16="http://schemas.microsoft.com/office/drawing/2014/main" val="129789307"/>
                  </a:ext>
                </a:extLst>
              </a:tr>
              <a:tr h="551689">
                <a:tc>
                  <a:txBody>
                    <a:bodyPr/>
                    <a:lstStyle/>
                    <a:p>
                      <a:r>
                        <a:rPr lang="es-AR" b="1" dirty="0"/>
                        <a:t>Costo/Accesibilidad </a:t>
                      </a:r>
                    </a:p>
                  </a:txBody>
                  <a:tcPr/>
                </a:tc>
                <a:tc>
                  <a:txBody>
                    <a:bodyPr/>
                    <a:lstStyle/>
                    <a:p>
                      <a:pPr algn="ctr"/>
                      <a:r>
                        <a:rPr lang="es-AR" dirty="0"/>
                        <a:t>Licencia Paga</a:t>
                      </a:r>
                    </a:p>
                  </a:txBody>
                  <a:tcPr/>
                </a:tc>
                <a:tc>
                  <a:txBody>
                    <a:bodyPr/>
                    <a:lstStyle/>
                    <a:p>
                      <a:pPr algn="ctr"/>
                      <a:r>
                        <a:rPr lang="es-AR" dirty="0"/>
                        <a:t>Gratis</a:t>
                      </a:r>
                    </a:p>
                  </a:txBody>
                  <a:tcPr/>
                </a:tc>
                <a:extLst>
                  <a:ext uri="{0D108BD9-81ED-4DB2-BD59-A6C34878D82A}">
                    <a16:rowId xmlns:a16="http://schemas.microsoft.com/office/drawing/2014/main" val="4144022566"/>
                  </a:ext>
                </a:extLst>
              </a:tr>
              <a:tr h="551689">
                <a:tc>
                  <a:txBody>
                    <a:bodyPr/>
                    <a:lstStyle/>
                    <a:p>
                      <a:r>
                        <a:rPr lang="es-AR" b="1" dirty="0"/>
                        <a:t>Modo de Uso</a:t>
                      </a:r>
                    </a:p>
                  </a:txBody>
                  <a:tcPr/>
                </a:tc>
                <a:tc>
                  <a:txBody>
                    <a:bodyPr/>
                    <a:lstStyle/>
                    <a:p>
                      <a:pPr algn="ctr"/>
                      <a:r>
                        <a:rPr lang="es-AR" dirty="0"/>
                        <a:t>Interfaz Gráfica (seleccionar y cliquear)</a:t>
                      </a:r>
                    </a:p>
                  </a:txBody>
                  <a:tcPr/>
                </a:tc>
                <a:tc>
                  <a:txBody>
                    <a:bodyPr/>
                    <a:lstStyle/>
                    <a:p>
                      <a:pPr algn="ctr"/>
                      <a:r>
                        <a:rPr lang="es-AR" dirty="0"/>
                        <a:t>Interfaz basada en Sintaxis</a:t>
                      </a:r>
                    </a:p>
                  </a:txBody>
                  <a:tcPr/>
                </a:tc>
                <a:extLst>
                  <a:ext uri="{0D108BD9-81ED-4DB2-BD59-A6C34878D82A}">
                    <a16:rowId xmlns:a16="http://schemas.microsoft.com/office/drawing/2014/main" val="1503910121"/>
                  </a:ext>
                </a:extLst>
              </a:tr>
              <a:tr h="628750">
                <a:tc>
                  <a:txBody>
                    <a:bodyPr/>
                    <a:lstStyle/>
                    <a:p>
                      <a:r>
                        <a:rPr lang="es-AR" b="1" dirty="0"/>
                        <a:t>Flexibilidad para el Análisis de Datos</a:t>
                      </a:r>
                    </a:p>
                  </a:txBody>
                  <a:tcPr/>
                </a:tc>
                <a:tc>
                  <a:txBody>
                    <a:bodyPr/>
                    <a:lstStyle/>
                    <a:p>
                      <a:pPr algn="ctr"/>
                      <a:r>
                        <a:rPr lang="es-AR" dirty="0"/>
                        <a:t>Limitada: herramientas de análisis integradas a la versión</a:t>
                      </a:r>
                    </a:p>
                  </a:txBody>
                  <a:tcPr/>
                </a:tc>
                <a:tc>
                  <a:txBody>
                    <a:bodyPr/>
                    <a:lstStyle/>
                    <a:p>
                      <a:pPr algn="ctr"/>
                      <a:r>
                        <a:rPr lang="es-AR" dirty="0"/>
                        <a:t>Amplia: miles de paquetes especializados</a:t>
                      </a:r>
                    </a:p>
                  </a:txBody>
                  <a:tcPr/>
                </a:tc>
                <a:extLst>
                  <a:ext uri="{0D108BD9-81ED-4DB2-BD59-A6C34878D82A}">
                    <a16:rowId xmlns:a16="http://schemas.microsoft.com/office/drawing/2014/main" val="415559767"/>
                  </a:ext>
                </a:extLst>
              </a:tr>
              <a:tr h="628750">
                <a:tc>
                  <a:txBody>
                    <a:bodyPr/>
                    <a:lstStyle/>
                    <a:p>
                      <a:r>
                        <a:rPr lang="es-AR" b="1" dirty="0"/>
                        <a:t>Actualizaciones</a:t>
                      </a:r>
                    </a:p>
                  </a:txBody>
                  <a:tcPr/>
                </a:tc>
                <a:tc>
                  <a:txBody>
                    <a:bodyPr/>
                    <a:lstStyle/>
                    <a:p>
                      <a:pPr algn="ctr"/>
                      <a:r>
                        <a:rPr lang="es-AR" dirty="0"/>
                        <a:t>Dependiente del ciclo de actualizaciones del propietario</a:t>
                      </a:r>
                    </a:p>
                  </a:txBody>
                  <a:tcPr/>
                </a:tc>
                <a:tc>
                  <a:txBody>
                    <a:bodyPr/>
                    <a:lstStyle/>
                    <a:p>
                      <a:pPr algn="ctr"/>
                      <a:r>
                        <a:rPr lang="es-AR" dirty="0"/>
                        <a:t>Continua por parte de la Comunidad de Usuarios</a:t>
                      </a:r>
                    </a:p>
                  </a:txBody>
                  <a:tcPr/>
                </a:tc>
                <a:extLst>
                  <a:ext uri="{0D108BD9-81ED-4DB2-BD59-A6C34878D82A}">
                    <a16:rowId xmlns:a16="http://schemas.microsoft.com/office/drawing/2014/main" val="741767515"/>
                  </a:ext>
                </a:extLst>
              </a:tr>
              <a:tr h="551689">
                <a:tc>
                  <a:txBody>
                    <a:bodyPr/>
                    <a:lstStyle/>
                    <a:p>
                      <a:r>
                        <a:rPr lang="es-AR" b="1" dirty="0"/>
                        <a:t>Comunidad</a:t>
                      </a:r>
                    </a:p>
                  </a:txBody>
                  <a:tcPr/>
                </a:tc>
                <a:tc>
                  <a:txBody>
                    <a:bodyPr/>
                    <a:lstStyle/>
                    <a:p>
                      <a:pPr algn="ctr"/>
                      <a:r>
                        <a:rPr lang="es-AR" dirty="0"/>
                        <a:t>Pequeña</a:t>
                      </a:r>
                    </a:p>
                  </a:txBody>
                  <a:tcPr/>
                </a:tc>
                <a:tc>
                  <a:txBody>
                    <a:bodyPr/>
                    <a:lstStyle/>
                    <a:p>
                      <a:pPr algn="ctr"/>
                      <a:r>
                        <a:rPr lang="es-AR" dirty="0"/>
                        <a:t>Gran Comunidad Global Activa </a:t>
                      </a:r>
                    </a:p>
                  </a:txBody>
                  <a:tcPr/>
                </a:tc>
                <a:extLst>
                  <a:ext uri="{0D108BD9-81ED-4DB2-BD59-A6C34878D82A}">
                    <a16:rowId xmlns:a16="http://schemas.microsoft.com/office/drawing/2014/main" val="2779459340"/>
                  </a:ext>
                </a:extLst>
              </a:tr>
              <a:tr h="628750">
                <a:tc>
                  <a:txBody>
                    <a:bodyPr/>
                    <a:lstStyle/>
                    <a:p>
                      <a:r>
                        <a:rPr lang="es-AR" b="1" dirty="0"/>
                        <a:t>Gráficos</a:t>
                      </a:r>
                    </a:p>
                  </a:txBody>
                  <a:tcPr/>
                </a:tc>
                <a:tc>
                  <a:txBody>
                    <a:bodyPr/>
                    <a:lstStyle/>
                    <a:p>
                      <a:pPr algn="ctr"/>
                      <a:r>
                        <a:rPr lang="es-AR" dirty="0"/>
                        <a:t>Básico</a:t>
                      </a:r>
                    </a:p>
                  </a:txBody>
                  <a:tcPr/>
                </a:tc>
                <a:tc>
                  <a:txBody>
                    <a:bodyPr/>
                    <a:lstStyle/>
                    <a:p>
                      <a:pPr algn="ctr"/>
                      <a:r>
                        <a:rPr lang="es-AR" dirty="0"/>
                        <a:t>Calidad de Publicación, 100% personalizable</a:t>
                      </a:r>
                    </a:p>
                  </a:txBody>
                  <a:tcPr/>
                </a:tc>
                <a:extLst>
                  <a:ext uri="{0D108BD9-81ED-4DB2-BD59-A6C34878D82A}">
                    <a16:rowId xmlns:a16="http://schemas.microsoft.com/office/drawing/2014/main" val="455858554"/>
                  </a:ext>
                </a:extLst>
              </a:tr>
              <a:tr h="628750">
                <a:tc>
                  <a:txBody>
                    <a:bodyPr/>
                    <a:lstStyle/>
                    <a:p>
                      <a:r>
                        <a:rPr lang="es-AR" b="1" dirty="0"/>
                        <a:t>Reproducibilidad</a:t>
                      </a:r>
                    </a:p>
                  </a:txBody>
                  <a:tcPr/>
                </a:tc>
                <a:tc>
                  <a:txBody>
                    <a:bodyPr/>
                    <a:lstStyle/>
                    <a:p>
                      <a:pPr algn="ctr"/>
                      <a:r>
                        <a:rPr lang="es-AR" dirty="0"/>
                        <a:t>Muy limitada sin uso de sintaxis (opción de pegado)</a:t>
                      </a:r>
                    </a:p>
                  </a:txBody>
                  <a:tcPr/>
                </a:tc>
                <a:tc>
                  <a:txBody>
                    <a:bodyPr/>
                    <a:lstStyle/>
                    <a:p>
                      <a:pPr algn="ctr"/>
                      <a:r>
                        <a:rPr lang="es-AR" dirty="0"/>
                        <a:t>Alta (basada en Scripts)</a:t>
                      </a:r>
                    </a:p>
                  </a:txBody>
                  <a:tcPr/>
                </a:tc>
                <a:extLst>
                  <a:ext uri="{0D108BD9-81ED-4DB2-BD59-A6C34878D82A}">
                    <a16:rowId xmlns:a16="http://schemas.microsoft.com/office/drawing/2014/main" val="3474647202"/>
                  </a:ext>
                </a:extLst>
              </a:tr>
              <a:tr h="628750">
                <a:tc>
                  <a:txBody>
                    <a:bodyPr/>
                    <a:lstStyle/>
                    <a:p>
                      <a:r>
                        <a:rPr lang="es-AR" b="1" dirty="0"/>
                        <a:t>Integración</a:t>
                      </a:r>
                    </a:p>
                  </a:txBody>
                  <a:tcPr/>
                </a:tc>
                <a:tc>
                  <a:txBody>
                    <a:bodyPr/>
                    <a:lstStyle/>
                    <a:p>
                      <a:pPr algn="ctr"/>
                      <a:r>
                        <a:rPr lang="es-AR" dirty="0"/>
                        <a:t>Limitada</a:t>
                      </a:r>
                    </a:p>
                  </a:txBody>
                  <a:tcPr/>
                </a:tc>
                <a:tc>
                  <a:txBody>
                    <a:bodyPr/>
                    <a:lstStyle/>
                    <a:p>
                      <a:pPr algn="ctr"/>
                      <a:r>
                        <a:rPr lang="es-AR" dirty="0"/>
                        <a:t>Se integra con muchos otros lenguajes y plataformas</a:t>
                      </a:r>
                    </a:p>
                  </a:txBody>
                  <a:tcPr/>
                </a:tc>
                <a:extLst>
                  <a:ext uri="{0D108BD9-81ED-4DB2-BD59-A6C34878D82A}">
                    <a16:rowId xmlns:a16="http://schemas.microsoft.com/office/drawing/2014/main" val="981126903"/>
                  </a:ext>
                </a:extLst>
              </a:tr>
            </a:tbl>
          </a:graphicData>
        </a:graphic>
      </p:graphicFrame>
      <p:pic>
        <p:nvPicPr>
          <p:cNvPr id="6" name="Imagen 5">
            <a:extLst>
              <a:ext uri="{FF2B5EF4-FFF2-40B4-BE49-F238E27FC236}">
                <a16:creationId xmlns:a16="http://schemas.microsoft.com/office/drawing/2014/main" id="{36E1C54D-52B4-6FB7-8721-8025FFE6FFC5}"/>
              </a:ext>
            </a:extLst>
          </p:cNvPr>
          <p:cNvPicPr>
            <a:picLocks noChangeAspect="1"/>
          </p:cNvPicPr>
          <p:nvPr/>
        </p:nvPicPr>
        <p:blipFill>
          <a:blip r:embed="rId3"/>
          <a:stretch>
            <a:fillRect/>
          </a:stretch>
        </p:blipFill>
        <p:spPr>
          <a:xfrm>
            <a:off x="5238750" y="240433"/>
            <a:ext cx="1714500" cy="1714500"/>
          </a:xfrm>
          <a:prstGeom prst="rect">
            <a:avLst/>
          </a:prstGeom>
        </p:spPr>
      </p:pic>
      <p:pic>
        <p:nvPicPr>
          <p:cNvPr id="8" name="Imagen 7">
            <a:extLst>
              <a:ext uri="{FF2B5EF4-FFF2-40B4-BE49-F238E27FC236}">
                <a16:creationId xmlns:a16="http://schemas.microsoft.com/office/drawing/2014/main" id="{F9791CEB-A483-A71D-0AF0-56AD595ECF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146" y="658951"/>
            <a:ext cx="2382981" cy="837767"/>
          </a:xfrm>
          <a:prstGeom prst="rect">
            <a:avLst/>
          </a:prstGeom>
        </p:spPr>
      </p:pic>
      <p:pic>
        <p:nvPicPr>
          <p:cNvPr id="5" name="Imagen 4">
            <a:extLst>
              <a:ext uri="{FF2B5EF4-FFF2-40B4-BE49-F238E27FC236}">
                <a16:creationId xmlns:a16="http://schemas.microsoft.com/office/drawing/2014/main" id="{E32EA9BB-89F2-8F6D-E2D7-64B0F1E43216}"/>
              </a:ext>
            </a:extLst>
          </p:cNvPr>
          <p:cNvPicPr>
            <a:picLocks noChangeAspect="1"/>
          </p:cNvPicPr>
          <p:nvPr/>
        </p:nvPicPr>
        <p:blipFill>
          <a:blip r:embed="rId5"/>
          <a:stretch>
            <a:fillRect/>
          </a:stretch>
        </p:blipFill>
        <p:spPr>
          <a:xfrm>
            <a:off x="838200" y="158723"/>
            <a:ext cx="3508948" cy="1738366"/>
          </a:xfrm>
          <a:prstGeom prst="rect">
            <a:avLst/>
          </a:prstGeom>
        </p:spPr>
      </p:pic>
    </p:spTree>
    <p:extLst>
      <p:ext uri="{BB962C8B-B14F-4D97-AF65-F5344CB8AC3E}">
        <p14:creationId xmlns:p14="http://schemas.microsoft.com/office/powerpoint/2010/main" val="1118251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0C8C0A7-3385-973B-210F-35908EC49FB5}"/>
              </a:ext>
            </a:extLst>
          </p:cNvPr>
          <p:cNvSpPr>
            <a:spLocks noGrp="1"/>
          </p:cNvSpPr>
          <p:nvPr>
            <p:ph idx="1"/>
          </p:nvPr>
        </p:nvSpPr>
        <p:spPr/>
        <p:txBody>
          <a:bodyPr/>
          <a:lstStyle/>
          <a:p>
            <a:endParaRPr lang="es-AR" dirty="0"/>
          </a:p>
        </p:txBody>
      </p:sp>
      <p:pic>
        <p:nvPicPr>
          <p:cNvPr id="5" name="Imagen 4">
            <a:extLst>
              <a:ext uri="{FF2B5EF4-FFF2-40B4-BE49-F238E27FC236}">
                <a16:creationId xmlns:a16="http://schemas.microsoft.com/office/drawing/2014/main" id="{1D0C2980-876E-6924-CD13-16CFB3B15A5E}"/>
              </a:ext>
            </a:extLst>
          </p:cNvPr>
          <p:cNvPicPr>
            <a:picLocks noChangeAspect="1"/>
          </p:cNvPicPr>
          <p:nvPr/>
        </p:nvPicPr>
        <p:blipFill>
          <a:blip r:embed="rId3"/>
          <a:stretch>
            <a:fillRect/>
          </a:stretch>
        </p:blipFill>
        <p:spPr>
          <a:xfrm>
            <a:off x="4504997" y="75732"/>
            <a:ext cx="5039428" cy="6706536"/>
          </a:xfrm>
          <a:prstGeom prst="rect">
            <a:avLst/>
          </a:prstGeom>
        </p:spPr>
      </p:pic>
      <p:pic>
        <p:nvPicPr>
          <p:cNvPr id="7" name="Imagen 6">
            <a:extLst>
              <a:ext uri="{FF2B5EF4-FFF2-40B4-BE49-F238E27FC236}">
                <a16:creationId xmlns:a16="http://schemas.microsoft.com/office/drawing/2014/main" id="{19F25381-D4E5-A65D-1E0B-2800E26656FD}"/>
              </a:ext>
            </a:extLst>
          </p:cNvPr>
          <p:cNvPicPr>
            <a:picLocks noChangeAspect="1"/>
          </p:cNvPicPr>
          <p:nvPr/>
        </p:nvPicPr>
        <p:blipFill>
          <a:blip r:embed="rId4"/>
          <a:stretch>
            <a:fillRect/>
          </a:stretch>
        </p:blipFill>
        <p:spPr>
          <a:xfrm>
            <a:off x="9557881" y="75732"/>
            <a:ext cx="752580" cy="6706536"/>
          </a:xfrm>
          <a:prstGeom prst="rect">
            <a:avLst/>
          </a:prstGeom>
        </p:spPr>
      </p:pic>
      <p:sp>
        <p:nvSpPr>
          <p:cNvPr id="8" name="Rectángulo 7">
            <a:extLst>
              <a:ext uri="{FF2B5EF4-FFF2-40B4-BE49-F238E27FC236}">
                <a16:creationId xmlns:a16="http://schemas.microsoft.com/office/drawing/2014/main" id="{99E90B4E-03F1-4083-B54C-C49937AF3809}"/>
              </a:ext>
            </a:extLst>
          </p:cNvPr>
          <p:cNvSpPr/>
          <p:nvPr/>
        </p:nvSpPr>
        <p:spPr>
          <a:xfrm>
            <a:off x="4156818" y="5375564"/>
            <a:ext cx="6580909" cy="23552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4" name="Imagen 3">
            <a:extLst>
              <a:ext uri="{FF2B5EF4-FFF2-40B4-BE49-F238E27FC236}">
                <a16:creationId xmlns:a16="http://schemas.microsoft.com/office/drawing/2014/main" id="{01BF37C1-85E6-A3A9-9D42-E9DF74F63228}"/>
              </a:ext>
            </a:extLst>
          </p:cNvPr>
          <p:cNvPicPr>
            <a:picLocks noChangeAspect="1"/>
          </p:cNvPicPr>
          <p:nvPr/>
        </p:nvPicPr>
        <p:blipFill>
          <a:blip r:embed="rId5"/>
          <a:stretch>
            <a:fillRect/>
          </a:stretch>
        </p:blipFill>
        <p:spPr>
          <a:xfrm>
            <a:off x="838200" y="158723"/>
            <a:ext cx="3508948" cy="1738366"/>
          </a:xfrm>
          <a:prstGeom prst="rect">
            <a:avLst/>
          </a:prstGeom>
        </p:spPr>
      </p:pic>
      <p:sp>
        <p:nvSpPr>
          <p:cNvPr id="9" name="Título 8">
            <a:extLst>
              <a:ext uri="{FF2B5EF4-FFF2-40B4-BE49-F238E27FC236}">
                <a16:creationId xmlns:a16="http://schemas.microsoft.com/office/drawing/2014/main" id="{34A8990A-F169-EFFE-64DA-4CF5EE4DDFDD}"/>
              </a:ext>
            </a:extLst>
          </p:cNvPr>
          <p:cNvSpPr>
            <a:spLocks noGrp="1"/>
          </p:cNvSpPr>
          <p:nvPr>
            <p:ph type="title"/>
          </p:nvPr>
        </p:nvSpPr>
        <p:spPr/>
        <p:txBody>
          <a:bodyPr/>
          <a:lstStyle/>
          <a:p>
            <a:endParaRPr lang="es-AR" dirty="0"/>
          </a:p>
        </p:txBody>
      </p:sp>
    </p:spTree>
    <p:extLst>
      <p:ext uri="{BB962C8B-B14F-4D97-AF65-F5344CB8AC3E}">
        <p14:creationId xmlns:p14="http://schemas.microsoft.com/office/powerpoint/2010/main" val="39138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81F13FF-0B7E-CB44-02CF-46B3973BAEEA}"/>
              </a:ext>
            </a:extLst>
          </p:cNvPr>
          <p:cNvPicPr>
            <a:picLocks noChangeAspect="1"/>
          </p:cNvPicPr>
          <p:nvPr/>
        </p:nvPicPr>
        <p:blipFill>
          <a:blip r:embed="rId2"/>
          <a:stretch>
            <a:fillRect/>
          </a:stretch>
        </p:blipFill>
        <p:spPr>
          <a:xfrm>
            <a:off x="2632648" y="2133383"/>
            <a:ext cx="1714500" cy="1714500"/>
          </a:xfrm>
          <a:prstGeom prst="rect">
            <a:avLst/>
          </a:prstGeom>
        </p:spPr>
      </p:pic>
      <p:pic>
        <p:nvPicPr>
          <p:cNvPr id="5" name="Imagen 4">
            <a:extLst>
              <a:ext uri="{FF2B5EF4-FFF2-40B4-BE49-F238E27FC236}">
                <a16:creationId xmlns:a16="http://schemas.microsoft.com/office/drawing/2014/main" id="{9058A652-9473-7C09-916D-4B647D9747B8}"/>
              </a:ext>
            </a:extLst>
          </p:cNvPr>
          <p:cNvPicPr>
            <a:picLocks noChangeAspect="1"/>
          </p:cNvPicPr>
          <p:nvPr/>
        </p:nvPicPr>
        <p:blipFill>
          <a:blip r:embed="rId3"/>
          <a:stretch>
            <a:fillRect/>
          </a:stretch>
        </p:blipFill>
        <p:spPr>
          <a:xfrm>
            <a:off x="838200" y="158723"/>
            <a:ext cx="3508948" cy="1738366"/>
          </a:xfrm>
          <a:prstGeom prst="rect">
            <a:avLst/>
          </a:prstGeom>
        </p:spPr>
      </p:pic>
      <p:pic>
        <p:nvPicPr>
          <p:cNvPr id="6" name="Imagen 5">
            <a:extLst>
              <a:ext uri="{FF2B5EF4-FFF2-40B4-BE49-F238E27FC236}">
                <a16:creationId xmlns:a16="http://schemas.microsoft.com/office/drawing/2014/main" id="{9B30DBEC-1CAD-1425-07F8-E83AABF7E2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0790" y="2571749"/>
            <a:ext cx="2382981" cy="837767"/>
          </a:xfrm>
          <a:prstGeom prst="rect">
            <a:avLst/>
          </a:prstGeom>
        </p:spPr>
      </p:pic>
      <p:pic>
        <p:nvPicPr>
          <p:cNvPr id="2052" name="Picture 4" descr="ggplot2 Based Plots with Statistical Details • ggstatsplot">
            <a:extLst>
              <a:ext uri="{FF2B5EF4-FFF2-40B4-BE49-F238E27FC236}">
                <a16:creationId xmlns:a16="http://schemas.microsoft.com/office/drawing/2014/main" id="{45674274-8204-A364-8C67-014CE09392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7132" y="3599416"/>
            <a:ext cx="4163040" cy="29736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PSS Box Plots">
            <a:extLst>
              <a:ext uri="{FF2B5EF4-FFF2-40B4-BE49-F238E27FC236}">
                <a16:creationId xmlns:a16="http://schemas.microsoft.com/office/drawing/2014/main" id="{15D61D70-A5EF-099A-3A17-A11FF211E9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3162" y="3504219"/>
            <a:ext cx="3873471" cy="3098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9250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animEffect transition="in" filter="barn(inVertical)">
                                      <p:cBhvr>
                                        <p:cTn id="7" dur="500"/>
                                        <p:tgtEl>
                                          <p:spTgt spid="205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barn(inVertical)">
                                      <p:cBhvr>
                                        <p:cTn id="12"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98CB20-8BCE-B5AF-B72E-6026B6FF94C2}"/>
              </a:ext>
            </a:extLst>
          </p:cNvPr>
          <p:cNvSpPr>
            <a:spLocks noGrp="1"/>
          </p:cNvSpPr>
          <p:nvPr>
            <p:ph type="title"/>
          </p:nvPr>
        </p:nvSpPr>
        <p:spPr/>
        <p:txBody>
          <a:bodyPr/>
          <a:lstStyle/>
          <a:p>
            <a:endParaRPr lang="es-AR" dirty="0"/>
          </a:p>
        </p:txBody>
      </p:sp>
      <p:sp>
        <p:nvSpPr>
          <p:cNvPr id="3" name="Marcador de contenido 2">
            <a:extLst>
              <a:ext uri="{FF2B5EF4-FFF2-40B4-BE49-F238E27FC236}">
                <a16:creationId xmlns:a16="http://schemas.microsoft.com/office/drawing/2014/main" id="{785954BC-99DC-B14E-3057-11299D68AAAB}"/>
              </a:ext>
            </a:extLst>
          </p:cNvPr>
          <p:cNvSpPr>
            <a:spLocks noGrp="1"/>
          </p:cNvSpPr>
          <p:nvPr>
            <p:ph idx="1"/>
          </p:nvPr>
        </p:nvSpPr>
        <p:spPr/>
        <p:txBody>
          <a:bodyPr/>
          <a:lstStyle/>
          <a:p>
            <a:endParaRPr lang="es-AR" dirty="0"/>
          </a:p>
        </p:txBody>
      </p:sp>
      <p:pic>
        <p:nvPicPr>
          <p:cNvPr id="9" name="Imagen 8">
            <a:extLst>
              <a:ext uri="{FF2B5EF4-FFF2-40B4-BE49-F238E27FC236}">
                <a16:creationId xmlns:a16="http://schemas.microsoft.com/office/drawing/2014/main" id="{CCF392A3-E6B3-CB95-CB27-3BFD952628F2}"/>
              </a:ext>
            </a:extLst>
          </p:cNvPr>
          <p:cNvPicPr>
            <a:picLocks noChangeAspect="1"/>
          </p:cNvPicPr>
          <p:nvPr/>
        </p:nvPicPr>
        <p:blipFill>
          <a:blip r:embed="rId3"/>
          <a:stretch>
            <a:fillRect/>
          </a:stretch>
        </p:blipFill>
        <p:spPr>
          <a:xfrm>
            <a:off x="5177603" y="2137065"/>
            <a:ext cx="4820323" cy="1000265"/>
          </a:xfrm>
          <a:prstGeom prst="rect">
            <a:avLst/>
          </a:prstGeom>
        </p:spPr>
      </p:pic>
      <p:pic>
        <p:nvPicPr>
          <p:cNvPr id="12" name="Imagen 11">
            <a:extLst>
              <a:ext uri="{FF2B5EF4-FFF2-40B4-BE49-F238E27FC236}">
                <a16:creationId xmlns:a16="http://schemas.microsoft.com/office/drawing/2014/main" id="{8D12509A-156B-A304-6382-704D8BBA94ED}"/>
              </a:ext>
            </a:extLst>
          </p:cNvPr>
          <p:cNvPicPr>
            <a:picLocks noChangeAspect="1"/>
          </p:cNvPicPr>
          <p:nvPr/>
        </p:nvPicPr>
        <p:blipFill>
          <a:blip r:embed="rId4"/>
          <a:stretch>
            <a:fillRect/>
          </a:stretch>
        </p:blipFill>
        <p:spPr>
          <a:xfrm>
            <a:off x="5462420" y="1075679"/>
            <a:ext cx="2372056" cy="1057423"/>
          </a:xfrm>
          <a:prstGeom prst="rect">
            <a:avLst/>
          </a:prstGeom>
        </p:spPr>
      </p:pic>
      <p:pic>
        <p:nvPicPr>
          <p:cNvPr id="16" name="Imagen 15">
            <a:extLst>
              <a:ext uri="{FF2B5EF4-FFF2-40B4-BE49-F238E27FC236}">
                <a16:creationId xmlns:a16="http://schemas.microsoft.com/office/drawing/2014/main" id="{15FCAD06-5AC6-DE81-82E1-CB3CD18210A6}"/>
              </a:ext>
            </a:extLst>
          </p:cNvPr>
          <p:cNvPicPr>
            <a:picLocks noChangeAspect="1"/>
          </p:cNvPicPr>
          <p:nvPr/>
        </p:nvPicPr>
        <p:blipFill>
          <a:blip r:embed="rId5"/>
          <a:stretch>
            <a:fillRect/>
          </a:stretch>
        </p:blipFill>
        <p:spPr>
          <a:xfrm>
            <a:off x="1845934" y="0"/>
            <a:ext cx="3096872" cy="6858000"/>
          </a:xfrm>
          <a:prstGeom prst="rect">
            <a:avLst/>
          </a:prstGeom>
        </p:spPr>
      </p:pic>
    </p:spTree>
    <p:extLst>
      <p:ext uri="{BB962C8B-B14F-4D97-AF65-F5344CB8AC3E}">
        <p14:creationId xmlns:p14="http://schemas.microsoft.com/office/powerpoint/2010/main" val="4113137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8DDD15-A647-01B1-F8DC-5A83614E051D}"/>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5FB04920-F114-DFBD-F9AF-75E2C16E846C}"/>
              </a:ext>
            </a:extLst>
          </p:cNvPr>
          <p:cNvSpPr>
            <a:spLocks noGrp="1"/>
          </p:cNvSpPr>
          <p:nvPr>
            <p:ph idx="1"/>
          </p:nvPr>
        </p:nvSpPr>
        <p:spPr/>
        <p:txBody>
          <a:bodyPr/>
          <a:lstStyle/>
          <a:p>
            <a:endParaRPr lang="es-AR"/>
          </a:p>
        </p:txBody>
      </p:sp>
      <p:pic>
        <p:nvPicPr>
          <p:cNvPr id="5" name="Imagen 4">
            <a:extLst>
              <a:ext uri="{FF2B5EF4-FFF2-40B4-BE49-F238E27FC236}">
                <a16:creationId xmlns:a16="http://schemas.microsoft.com/office/drawing/2014/main" id="{B792E29E-B542-9A65-901A-27E8C14BB418}"/>
              </a:ext>
            </a:extLst>
          </p:cNvPr>
          <p:cNvPicPr>
            <a:picLocks noChangeAspect="1"/>
          </p:cNvPicPr>
          <p:nvPr/>
        </p:nvPicPr>
        <p:blipFill>
          <a:blip r:embed="rId3"/>
          <a:stretch>
            <a:fillRect/>
          </a:stretch>
        </p:blipFill>
        <p:spPr>
          <a:xfrm>
            <a:off x="551676" y="318653"/>
            <a:ext cx="11088647" cy="6220693"/>
          </a:xfrm>
          <a:prstGeom prst="rect">
            <a:avLst/>
          </a:prstGeom>
        </p:spPr>
      </p:pic>
      <p:sp>
        <p:nvSpPr>
          <p:cNvPr id="6" name="Rectángulo 5">
            <a:extLst>
              <a:ext uri="{FF2B5EF4-FFF2-40B4-BE49-F238E27FC236}">
                <a16:creationId xmlns:a16="http://schemas.microsoft.com/office/drawing/2014/main" id="{F53AC9C5-EF79-C72A-A17F-AD45AEE3AEA8}"/>
              </a:ext>
            </a:extLst>
          </p:cNvPr>
          <p:cNvSpPr/>
          <p:nvPr/>
        </p:nvSpPr>
        <p:spPr>
          <a:xfrm>
            <a:off x="1537855" y="997527"/>
            <a:ext cx="1039090" cy="51794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2E133F8C-5538-8397-831D-12490427C665}"/>
              </a:ext>
            </a:extLst>
          </p:cNvPr>
          <p:cNvSpPr/>
          <p:nvPr/>
        </p:nvSpPr>
        <p:spPr>
          <a:xfrm>
            <a:off x="5626199" y="2784763"/>
            <a:ext cx="1039090" cy="33921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92216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A592F0-2434-8369-5458-FED360A6D357}"/>
              </a:ext>
            </a:extLst>
          </p:cNvPr>
          <p:cNvSpPr>
            <a:spLocks noGrp="1"/>
          </p:cNvSpPr>
          <p:nvPr>
            <p:ph type="title"/>
          </p:nvPr>
        </p:nvSpPr>
        <p:spPr/>
        <p:txBody>
          <a:bodyPr/>
          <a:lstStyle/>
          <a:p>
            <a:r>
              <a:rPr lang="es-AR" dirty="0"/>
              <a:t>Encuesta 2023</a:t>
            </a:r>
          </a:p>
        </p:txBody>
      </p:sp>
      <p:pic>
        <p:nvPicPr>
          <p:cNvPr id="5" name="Imagen 4">
            <a:extLst>
              <a:ext uri="{FF2B5EF4-FFF2-40B4-BE49-F238E27FC236}">
                <a16:creationId xmlns:a16="http://schemas.microsoft.com/office/drawing/2014/main" id="{2A955362-402A-EDD9-ABD6-707B9F8E2AE9}"/>
              </a:ext>
            </a:extLst>
          </p:cNvPr>
          <p:cNvPicPr>
            <a:picLocks noChangeAspect="1"/>
          </p:cNvPicPr>
          <p:nvPr/>
        </p:nvPicPr>
        <p:blipFill>
          <a:blip r:embed="rId3"/>
          <a:stretch>
            <a:fillRect/>
          </a:stretch>
        </p:blipFill>
        <p:spPr>
          <a:xfrm>
            <a:off x="4374617" y="1426520"/>
            <a:ext cx="5853461" cy="5407483"/>
          </a:xfrm>
          <a:prstGeom prst="rect">
            <a:avLst/>
          </a:prstGeom>
        </p:spPr>
      </p:pic>
      <p:sp>
        <p:nvSpPr>
          <p:cNvPr id="9" name="Marcador de contenido 8">
            <a:extLst>
              <a:ext uri="{FF2B5EF4-FFF2-40B4-BE49-F238E27FC236}">
                <a16:creationId xmlns:a16="http://schemas.microsoft.com/office/drawing/2014/main" id="{67A8897F-2FB6-528B-8156-BFC37840DE05}"/>
              </a:ext>
            </a:extLst>
          </p:cNvPr>
          <p:cNvSpPr>
            <a:spLocks noGrp="1"/>
          </p:cNvSpPr>
          <p:nvPr>
            <p:ph idx="1"/>
          </p:nvPr>
        </p:nvSpPr>
        <p:spPr/>
        <p:txBody>
          <a:bodyPr/>
          <a:lstStyle/>
          <a:p>
            <a:endParaRPr lang="es-AR" dirty="0"/>
          </a:p>
        </p:txBody>
      </p:sp>
    </p:spTree>
    <p:extLst>
      <p:ext uri="{BB962C8B-B14F-4D97-AF65-F5344CB8AC3E}">
        <p14:creationId xmlns:p14="http://schemas.microsoft.com/office/powerpoint/2010/main" val="599424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BABA2A-39AC-DE4D-7A12-ED21F82150B4}"/>
              </a:ext>
            </a:extLst>
          </p:cNvPr>
          <p:cNvSpPr>
            <a:spLocks noGrp="1"/>
          </p:cNvSpPr>
          <p:nvPr>
            <p:ph type="title"/>
          </p:nvPr>
        </p:nvSpPr>
        <p:spPr/>
        <p:txBody>
          <a:bodyPr/>
          <a:lstStyle/>
          <a:p>
            <a:endParaRPr lang="es-AR" dirty="0"/>
          </a:p>
        </p:txBody>
      </p:sp>
      <p:sp>
        <p:nvSpPr>
          <p:cNvPr id="3" name="Marcador de contenido 2">
            <a:extLst>
              <a:ext uri="{FF2B5EF4-FFF2-40B4-BE49-F238E27FC236}">
                <a16:creationId xmlns:a16="http://schemas.microsoft.com/office/drawing/2014/main" id="{0102144B-19FD-8044-A388-C5F9B9277C1F}"/>
              </a:ext>
            </a:extLst>
          </p:cNvPr>
          <p:cNvSpPr>
            <a:spLocks noGrp="1"/>
          </p:cNvSpPr>
          <p:nvPr>
            <p:ph idx="1"/>
          </p:nvPr>
        </p:nvSpPr>
        <p:spPr/>
        <p:txBody>
          <a:bodyPr/>
          <a:lstStyle/>
          <a:p>
            <a:endParaRPr lang="es-AR"/>
          </a:p>
        </p:txBody>
      </p:sp>
      <p:pic>
        <p:nvPicPr>
          <p:cNvPr id="5" name="Imagen 4">
            <a:extLst>
              <a:ext uri="{FF2B5EF4-FFF2-40B4-BE49-F238E27FC236}">
                <a16:creationId xmlns:a16="http://schemas.microsoft.com/office/drawing/2014/main" id="{F561E0F0-586E-CA9E-9A9A-44737F13A0A1}"/>
              </a:ext>
            </a:extLst>
          </p:cNvPr>
          <p:cNvPicPr>
            <a:picLocks noChangeAspect="1"/>
          </p:cNvPicPr>
          <p:nvPr/>
        </p:nvPicPr>
        <p:blipFill>
          <a:blip r:embed="rId3"/>
          <a:stretch>
            <a:fillRect/>
          </a:stretch>
        </p:blipFill>
        <p:spPr>
          <a:xfrm>
            <a:off x="5296058" y="371048"/>
            <a:ext cx="4010585" cy="6115904"/>
          </a:xfrm>
          <a:prstGeom prst="rect">
            <a:avLst/>
          </a:prstGeom>
        </p:spPr>
      </p:pic>
      <p:pic>
        <p:nvPicPr>
          <p:cNvPr id="9" name="Imagen 8">
            <a:extLst>
              <a:ext uri="{FF2B5EF4-FFF2-40B4-BE49-F238E27FC236}">
                <a16:creationId xmlns:a16="http://schemas.microsoft.com/office/drawing/2014/main" id="{D410DACC-184D-24B5-17EB-B60A0165B359}"/>
              </a:ext>
            </a:extLst>
          </p:cNvPr>
          <p:cNvPicPr>
            <a:picLocks noChangeAspect="1"/>
          </p:cNvPicPr>
          <p:nvPr/>
        </p:nvPicPr>
        <p:blipFill>
          <a:blip r:embed="rId4"/>
          <a:stretch>
            <a:fillRect/>
          </a:stretch>
        </p:blipFill>
        <p:spPr>
          <a:xfrm>
            <a:off x="961578" y="1515636"/>
            <a:ext cx="4334480" cy="3829584"/>
          </a:xfrm>
          <a:prstGeom prst="rect">
            <a:avLst/>
          </a:prstGeom>
        </p:spPr>
      </p:pic>
    </p:spTree>
    <p:extLst>
      <p:ext uri="{BB962C8B-B14F-4D97-AF65-F5344CB8AC3E}">
        <p14:creationId xmlns:p14="http://schemas.microsoft.com/office/powerpoint/2010/main" val="4271833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A87EB6-D441-A4A9-F6F2-A775ECBFC708}"/>
              </a:ext>
            </a:extLst>
          </p:cNvPr>
          <p:cNvSpPr>
            <a:spLocks noGrp="1"/>
          </p:cNvSpPr>
          <p:nvPr>
            <p:ph type="title"/>
          </p:nvPr>
        </p:nvSpPr>
        <p:spPr>
          <a:xfrm>
            <a:off x="589560" y="856180"/>
            <a:ext cx="5279408" cy="1128068"/>
          </a:xfrm>
        </p:spPr>
        <p:txBody>
          <a:bodyPr anchor="ctr">
            <a:normAutofit fontScale="90000"/>
          </a:bodyPr>
          <a:lstStyle/>
          <a:p>
            <a:r>
              <a:rPr lang="es-AR" sz="4000" dirty="0"/>
              <a:t>Razones para Inclinarse hacia R</a:t>
            </a:r>
          </a:p>
        </p:txBody>
      </p:sp>
      <p:sp>
        <p:nvSpPr>
          <p:cNvPr id="3" name="Marcador de contenido 2">
            <a:extLst>
              <a:ext uri="{FF2B5EF4-FFF2-40B4-BE49-F238E27FC236}">
                <a16:creationId xmlns:a16="http://schemas.microsoft.com/office/drawing/2014/main" id="{E22D7C5D-7664-0827-7360-F11C22C6EAEB}"/>
              </a:ext>
            </a:extLst>
          </p:cNvPr>
          <p:cNvSpPr>
            <a:spLocks noGrp="1"/>
          </p:cNvSpPr>
          <p:nvPr>
            <p:ph idx="1"/>
          </p:nvPr>
        </p:nvSpPr>
        <p:spPr>
          <a:xfrm>
            <a:off x="590719" y="2330505"/>
            <a:ext cx="5278066" cy="3979585"/>
          </a:xfrm>
        </p:spPr>
        <p:txBody>
          <a:bodyPr anchor="ctr">
            <a:normAutofit/>
          </a:bodyPr>
          <a:lstStyle/>
          <a:p>
            <a:r>
              <a:rPr lang="es-AR" sz="2000" dirty="0"/>
              <a:t>De acceso abierto: de fuente/código abierto y gratis.</a:t>
            </a:r>
          </a:p>
          <a:p>
            <a:r>
              <a:rPr lang="es-AR" sz="2000" dirty="0"/>
              <a:t>Posee un gran ecosistema de paquetes que extienden sus funcionalidades.</a:t>
            </a:r>
          </a:p>
          <a:p>
            <a:r>
              <a:rPr lang="es-AR" sz="2000" dirty="0"/>
              <a:t>Existe una fuerte y activa comunidad de usuarios.</a:t>
            </a:r>
          </a:p>
          <a:p>
            <a:r>
              <a:rPr lang="es-AR" sz="2000" dirty="0"/>
              <a:t>Promueve buenas prácticas vinculadas a la reproducibilidad en investigación (¡creación de reportes dinámicos –texto y análisis– y reproducibles!). </a:t>
            </a:r>
          </a:p>
        </p:txBody>
      </p:sp>
      <p:pic>
        <p:nvPicPr>
          <p:cNvPr id="4" name="Imagen 3">
            <a:extLst>
              <a:ext uri="{FF2B5EF4-FFF2-40B4-BE49-F238E27FC236}">
                <a16:creationId xmlns:a16="http://schemas.microsoft.com/office/drawing/2014/main" id="{831BD5B8-C8D4-CAC5-256D-91BD9216B176}"/>
              </a:ext>
            </a:extLst>
          </p:cNvPr>
          <p:cNvPicPr>
            <a:picLocks noChangeAspect="1"/>
          </p:cNvPicPr>
          <p:nvPr/>
        </p:nvPicPr>
        <p:blipFill>
          <a:blip r:embed="rId3"/>
          <a:stretch>
            <a:fillRect/>
          </a:stretch>
        </p:blipFill>
        <p:spPr>
          <a:xfrm>
            <a:off x="7110798" y="581892"/>
            <a:ext cx="4342683" cy="2518756"/>
          </a:xfrm>
          <a:prstGeom prst="rect">
            <a:avLst/>
          </a:prstGeom>
        </p:spPr>
      </p:pic>
      <p:pic>
        <p:nvPicPr>
          <p:cNvPr id="5" name="Imagen 4">
            <a:extLst>
              <a:ext uri="{FF2B5EF4-FFF2-40B4-BE49-F238E27FC236}">
                <a16:creationId xmlns:a16="http://schemas.microsoft.com/office/drawing/2014/main" id="{5E7779F0-32E2-E453-4340-831D135D076B}"/>
              </a:ext>
            </a:extLst>
          </p:cNvPr>
          <p:cNvPicPr>
            <a:picLocks noChangeAspect="1"/>
          </p:cNvPicPr>
          <p:nvPr/>
        </p:nvPicPr>
        <p:blipFill>
          <a:blip r:embed="rId4"/>
          <a:stretch>
            <a:fillRect/>
          </a:stretch>
        </p:blipFill>
        <p:spPr>
          <a:xfrm>
            <a:off x="7494856" y="3707894"/>
            <a:ext cx="3572703" cy="2518756"/>
          </a:xfrm>
          <a:prstGeom prst="rect">
            <a:avLst/>
          </a:prstGeom>
        </p:spPr>
      </p:pic>
    </p:spTree>
    <p:extLst>
      <p:ext uri="{BB962C8B-B14F-4D97-AF65-F5344CB8AC3E}">
        <p14:creationId xmlns:p14="http://schemas.microsoft.com/office/powerpoint/2010/main" val="115172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FBE51-49C4-F3C5-6F8A-47A847FDE8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1C5055-7B4B-9165-3E4F-06D963B45A5E}"/>
              </a:ext>
            </a:extLst>
          </p:cNvPr>
          <p:cNvSpPr>
            <a:spLocks noGrp="1"/>
          </p:cNvSpPr>
          <p:nvPr>
            <p:ph type="title"/>
          </p:nvPr>
        </p:nvSpPr>
        <p:spPr>
          <a:xfrm>
            <a:off x="589560" y="856180"/>
            <a:ext cx="5279408" cy="1128068"/>
          </a:xfrm>
        </p:spPr>
        <p:txBody>
          <a:bodyPr anchor="ctr">
            <a:normAutofit fontScale="90000"/>
          </a:bodyPr>
          <a:lstStyle/>
          <a:p>
            <a:r>
              <a:rPr lang="es-AR" sz="4000" dirty="0"/>
              <a:t>Razones para Inclinarse hacia R</a:t>
            </a:r>
          </a:p>
        </p:txBody>
      </p:sp>
      <p:sp>
        <p:nvSpPr>
          <p:cNvPr id="3" name="Marcador de contenido 2">
            <a:extLst>
              <a:ext uri="{FF2B5EF4-FFF2-40B4-BE49-F238E27FC236}">
                <a16:creationId xmlns:a16="http://schemas.microsoft.com/office/drawing/2014/main" id="{0AE1F9A4-C2A6-5252-BFAB-2CCA849FB2C1}"/>
              </a:ext>
            </a:extLst>
          </p:cNvPr>
          <p:cNvSpPr>
            <a:spLocks noGrp="1"/>
          </p:cNvSpPr>
          <p:nvPr>
            <p:ph idx="1"/>
          </p:nvPr>
        </p:nvSpPr>
        <p:spPr>
          <a:xfrm>
            <a:off x="590719" y="2330505"/>
            <a:ext cx="5278066" cy="3979585"/>
          </a:xfrm>
        </p:spPr>
        <p:txBody>
          <a:bodyPr anchor="ctr">
            <a:normAutofit/>
          </a:bodyPr>
          <a:lstStyle/>
          <a:p>
            <a:r>
              <a:rPr lang="es-AR" sz="2000" dirty="0"/>
              <a:t>Por lo tanto, R facilita y promueve habilidades para utilizar y diseminar métodos estadísticos modernos, compartir y transparentar el propio trabajo, y reproducir el trabajo de otros.</a:t>
            </a:r>
          </a:p>
          <a:p>
            <a:r>
              <a:rPr lang="es-AR" sz="2000" dirty="0"/>
              <a:t>Al utilizar R, estamos bien posicionados para contribuir a, y beneficiarnos de, los principios de Apertura, Transparencia, y Colaboración que caracteriza a los movimientos actuales de Ciencia Abierta.</a:t>
            </a:r>
          </a:p>
        </p:txBody>
      </p:sp>
      <p:pic>
        <p:nvPicPr>
          <p:cNvPr id="4" name="Imagen 3">
            <a:extLst>
              <a:ext uri="{FF2B5EF4-FFF2-40B4-BE49-F238E27FC236}">
                <a16:creationId xmlns:a16="http://schemas.microsoft.com/office/drawing/2014/main" id="{6ECED0F9-4468-9AEC-FF62-3C44D106F9FE}"/>
              </a:ext>
            </a:extLst>
          </p:cNvPr>
          <p:cNvPicPr>
            <a:picLocks noChangeAspect="1"/>
          </p:cNvPicPr>
          <p:nvPr/>
        </p:nvPicPr>
        <p:blipFill>
          <a:blip r:embed="rId3"/>
          <a:stretch>
            <a:fillRect/>
          </a:stretch>
        </p:blipFill>
        <p:spPr>
          <a:xfrm>
            <a:off x="7110798" y="581892"/>
            <a:ext cx="4342683" cy="2518756"/>
          </a:xfrm>
          <a:prstGeom prst="rect">
            <a:avLst/>
          </a:prstGeom>
        </p:spPr>
      </p:pic>
      <p:pic>
        <p:nvPicPr>
          <p:cNvPr id="5" name="Imagen 4">
            <a:extLst>
              <a:ext uri="{FF2B5EF4-FFF2-40B4-BE49-F238E27FC236}">
                <a16:creationId xmlns:a16="http://schemas.microsoft.com/office/drawing/2014/main" id="{0B0B3814-E27C-03D5-E9A6-46DF325EFCAC}"/>
              </a:ext>
            </a:extLst>
          </p:cNvPr>
          <p:cNvPicPr>
            <a:picLocks noChangeAspect="1"/>
          </p:cNvPicPr>
          <p:nvPr/>
        </p:nvPicPr>
        <p:blipFill>
          <a:blip r:embed="rId4"/>
          <a:stretch>
            <a:fillRect/>
          </a:stretch>
        </p:blipFill>
        <p:spPr>
          <a:xfrm>
            <a:off x="7494856" y="3707894"/>
            <a:ext cx="3572703" cy="2518756"/>
          </a:xfrm>
          <a:prstGeom prst="rect">
            <a:avLst/>
          </a:prstGeom>
        </p:spPr>
      </p:pic>
    </p:spTree>
    <p:extLst>
      <p:ext uri="{BB962C8B-B14F-4D97-AF65-F5344CB8AC3E}">
        <p14:creationId xmlns:p14="http://schemas.microsoft.com/office/powerpoint/2010/main" val="3566002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D95D68-3A08-BF57-A646-D7075F3D67D5}"/>
              </a:ext>
            </a:extLst>
          </p:cNvPr>
          <p:cNvSpPr>
            <a:spLocks noGrp="1"/>
          </p:cNvSpPr>
          <p:nvPr>
            <p:ph type="title"/>
          </p:nvPr>
        </p:nvSpPr>
        <p:spPr>
          <a:xfrm>
            <a:off x="127967" y="679977"/>
            <a:ext cx="5052369" cy="1035781"/>
          </a:xfrm>
        </p:spPr>
        <p:txBody>
          <a:bodyPr anchor="ctr">
            <a:normAutofit fontScale="90000"/>
          </a:bodyPr>
          <a:lstStyle/>
          <a:p>
            <a:r>
              <a:rPr lang="es-AR" sz="3600" dirty="0"/>
              <a:t>Hacia una Mejor Ciencia en Menos Tiempo</a:t>
            </a:r>
          </a:p>
        </p:txBody>
      </p:sp>
      <p:sp>
        <p:nvSpPr>
          <p:cNvPr id="3" name="Marcador de contenido 2">
            <a:extLst>
              <a:ext uri="{FF2B5EF4-FFF2-40B4-BE49-F238E27FC236}">
                <a16:creationId xmlns:a16="http://schemas.microsoft.com/office/drawing/2014/main" id="{BF174B18-7C32-FFBB-E13B-15581B1D6435}"/>
              </a:ext>
            </a:extLst>
          </p:cNvPr>
          <p:cNvSpPr>
            <a:spLocks noGrp="1"/>
          </p:cNvSpPr>
          <p:nvPr>
            <p:ph idx="1"/>
          </p:nvPr>
        </p:nvSpPr>
        <p:spPr>
          <a:xfrm>
            <a:off x="158338" y="2164503"/>
            <a:ext cx="4991629" cy="3677123"/>
          </a:xfrm>
        </p:spPr>
        <p:txBody>
          <a:bodyPr anchor="ctr">
            <a:normAutofit/>
          </a:bodyPr>
          <a:lstStyle/>
          <a:p>
            <a:pPr marL="0" indent="0">
              <a:buNone/>
            </a:pPr>
            <a:r>
              <a:rPr lang="es-AR" dirty="0"/>
              <a:t>R como una herramienta de software libre que ha mejorado el enfoque de investigación colaborativa, haciendo que todo el flujo de trabajo sea más transparente y eficiente.</a:t>
            </a:r>
          </a:p>
          <a:p>
            <a:endParaRPr lang="es-AR" sz="1800" dirty="0"/>
          </a:p>
        </p:txBody>
      </p:sp>
      <p:pic>
        <p:nvPicPr>
          <p:cNvPr id="4" name="Imagen 3">
            <a:extLst>
              <a:ext uri="{FF2B5EF4-FFF2-40B4-BE49-F238E27FC236}">
                <a16:creationId xmlns:a16="http://schemas.microsoft.com/office/drawing/2014/main" id="{6E35EBA9-3AA1-4FA5-2F86-863FD6DA643D}"/>
              </a:ext>
            </a:extLst>
          </p:cNvPr>
          <p:cNvPicPr>
            <a:picLocks noChangeAspect="1"/>
          </p:cNvPicPr>
          <p:nvPr/>
        </p:nvPicPr>
        <p:blipFill>
          <a:blip r:embed="rId2"/>
          <a:stretch>
            <a:fillRect/>
          </a:stretch>
        </p:blipFill>
        <p:spPr>
          <a:xfrm>
            <a:off x="5250800" y="468373"/>
            <a:ext cx="6941200" cy="5921253"/>
          </a:xfrm>
          <a:prstGeom prst="rect">
            <a:avLst/>
          </a:prstGeom>
        </p:spPr>
      </p:pic>
    </p:spTree>
    <p:extLst>
      <p:ext uri="{BB962C8B-B14F-4D97-AF65-F5344CB8AC3E}">
        <p14:creationId xmlns:p14="http://schemas.microsoft.com/office/powerpoint/2010/main" val="418415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82953D-2C08-FB55-488B-8F3BDF79A1DA}"/>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C8527048-F48E-1E25-32AF-827DAD642F3B}"/>
              </a:ext>
            </a:extLst>
          </p:cNvPr>
          <p:cNvSpPr>
            <a:spLocks noGrp="1"/>
          </p:cNvSpPr>
          <p:nvPr>
            <p:ph idx="1"/>
          </p:nvPr>
        </p:nvSpPr>
        <p:spPr/>
        <p:txBody>
          <a:bodyPr/>
          <a:lstStyle/>
          <a:p>
            <a:endParaRPr lang="es-AR"/>
          </a:p>
        </p:txBody>
      </p:sp>
      <p:pic>
        <p:nvPicPr>
          <p:cNvPr id="5" name="Imagen 4">
            <a:extLst>
              <a:ext uri="{FF2B5EF4-FFF2-40B4-BE49-F238E27FC236}">
                <a16:creationId xmlns:a16="http://schemas.microsoft.com/office/drawing/2014/main" id="{F095487D-9387-BEB6-D039-3824296E8176}"/>
              </a:ext>
            </a:extLst>
          </p:cNvPr>
          <p:cNvPicPr>
            <a:picLocks noChangeAspect="1"/>
          </p:cNvPicPr>
          <p:nvPr/>
        </p:nvPicPr>
        <p:blipFill>
          <a:blip r:embed="rId3"/>
          <a:stretch>
            <a:fillRect/>
          </a:stretch>
        </p:blipFill>
        <p:spPr>
          <a:xfrm>
            <a:off x="2042160" y="437395"/>
            <a:ext cx="8107680" cy="5983209"/>
          </a:xfrm>
          <a:prstGeom prst="rect">
            <a:avLst/>
          </a:prstGeom>
        </p:spPr>
      </p:pic>
    </p:spTree>
    <p:extLst>
      <p:ext uri="{BB962C8B-B14F-4D97-AF65-F5344CB8AC3E}">
        <p14:creationId xmlns:p14="http://schemas.microsoft.com/office/powerpoint/2010/main" val="2764987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DBAE0B-7E78-F0B0-ADD1-9AE9C2ABB720}"/>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221CBB69-8988-1E54-F05C-31B605F78BDE}"/>
              </a:ext>
            </a:extLst>
          </p:cNvPr>
          <p:cNvSpPr>
            <a:spLocks noGrp="1"/>
          </p:cNvSpPr>
          <p:nvPr>
            <p:ph idx="1"/>
          </p:nvPr>
        </p:nvSpPr>
        <p:spPr/>
        <p:txBody>
          <a:bodyPr/>
          <a:lstStyle/>
          <a:p>
            <a:endParaRPr lang="es-AR"/>
          </a:p>
        </p:txBody>
      </p:sp>
      <p:pic>
        <p:nvPicPr>
          <p:cNvPr id="5" name="Imagen 4">
            <a:extLst>
              <a:ext uri="{FF2B5EF4-FFF2-40B4-BE49-F238E27FC236}">
                <a16:creationId xmlns:a16="http://schemas.microsoft.com/office/drawing/2014/main" id="{0C6505F9-3231-D560-391F-76D4F4D8551F}"/>
              </a:ext>
            </a:extLst>
          </p:cNvPr>
          <p:cNvPicPr>
            <a:picLocks noChangeAspect="1"/>
          </p:cNvPicPr>
          <p:nvPr/>
        </p:nvPicPr>
        <p:blipFill>
          <a:blip r:embed="rId2"/>
          <a:stretch>
            <a:fillRect/>
          </a:stretch>
        </p:blipFill>
        <p:spPr>
          <a:xfrm>
            <a:off x="955864" y="453132"/>
            <a:ext cx="10280271" cy="5951736"/>
          </a:xfrm>
          <a:prstGeom prst="rect">
            <a:avLst/>
          </a:prstGeom>
        </p:spPr>
      </p:pic>
    </p:spTree>
    <p:extLst>
      <p:ext uri="{BB962C8B-B14F-4D97-AF65-F5344CB8AC3E}">
        <p14:creationId xmlns:p14="http://schemas.microsoft.com/office/powerpoint/2010/main" val="681909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195901-22F2-BB64-DBEE-761A3074F7C2}"/>
              </a:ext>
            </a:extLst>
          </p:cNvPr>
          <p:cNvSpPr>
            <a:spLocks noGrp="1"/>
          </p:cNvSpPr>
          <p:nvPr>
            <p:ph type="title"/>
          </p:nvPr>
        </p:nvSpPr>
        <p:spPr/>
        <p:txBody>
          <a:bodyPr/>
          <a:lstStyle/>
          <a:p>
            <a:r>
              <a:rPr lang="es-AR" dirty="0"/>
              <a:t>Pasemos a verlo con nuestros propios ojos</a:t>
            </a:r>
          </a:p>
        </p:txBody>
      </p:sp>
      <p:sp>
        <p:nvSpPr>
          <p:cNvPr id="3" name="Marcador de contenido 2">
            <a:extLst>
              <a:ext uri="{FF2B5EF4-FFF2-40B4-BE49-F238E27FC236}">
                <a16:creationId xmlns:a16="http://schemas.microsoft.com/office/drawing/2014/main" id="{F0609EA2-789F-1552-3D1C-98D23E807DA4}"/>
              </a:ext>
            </a:extLst>
          </p:cNvPr>
          <p:cNvSpPr>
            <a:spLocks noGrp="1"/>
          </p:cNvSpPr>
          <p:nvPr>
            <p:ph idx="1"/>
          </p:nvPr>
        </p:nvSpPr>
        <p:spPr/>
        <p:txBody>
          <a:bodyPr/>
          <a:lstStyle/>
          <a:p>
            <a:endParaRPr lang="es-AR" dirty="0"/>
          </a:p>
        </p:txBody>
      </p:sp>
      <p:pic>
        <p:nvPicPr>
          <p:cNvPr id="11" name="Imagen 10">
            <a:extLst>
              <a:ext uri="{FF2B5EF4-FFF2-40B4-BE49-F238E27FC236}">
                <a16:creationId xmlns:a16="http://schemas.microsoft.com/office/drawing/2014/main" id="{52936A87-C40C-B2BD-922B-903EC3FAC212}"/>
              </a:ext>
            </a:extLst>
          </p:cNvPr>
          <p:cNvPicPr>
            <a:picLocks noChangeAspect="1"/>
          </p:cNvPicPr>
          <p:nvPr/>
        </p:nvPicPr>
        <p:blipFill>
          <a:blip r:embed="rId3"/>
          <a:stretch>
            <a:fillRect/>
          </a:stretch>
        </p:blipFill>
        <p:spPr>
          <a:xfrm>
            <a:off x="1116440" y="1258713"/>
            <a:ext cx="9959120" cy="5719539"/>
          </a:xfrm>
          <a:prstGeom prst="rect">
            <a:avLst/>
          </a:prstGeom>
        </p:spPr>
      </p:pic>
    </p:spTree>
    <p:extLst>
      <p:ext uri="{BB962C8B-B14F-4D97-AF65-F5344CB8AC3E}">
        <p14:creationId xmlns:p14="http://schemas.microsoft.com/office/powerpoint/2010/main" val="91878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TotalTime>
  <Words>1263</Words>
  <Application>Microsoft Office PowerPoint</Application>
  <PresentationFormat>Panorámica</PresentationFormat>
  <Paragraphs>111</Paragraphs>
  <Slides>20</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Aptos</vt:lpstr>
      <vt:lpstr>Aptos Display</vt:lpstr>
      <vt:lpstr>Arial</vt:lpstr>
      <vt:lpstr>Tema de Office</vt:lpstr>
      <vt:lpstr>Aspectos Introductorios</vt:lpstr>
      <vt:lpstr>¿Qué vamos a hacer en este Módulo?</vt:lpstr>
      <vt:lpstr>Ruta de Aprendizaje</vt:lpstr>
      <vt:lpstr>Presentación de PowerPoint</vt:lpstr>
      <vt:lpstr>¿Qué es R y RStudio?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Encuesta 2023</vt:lpstr>
      <vt:lpstr>Presentación de PowerPoint</vt:lpstr>
      <vt:lpstr>Razones para Inclinarse hacia R</vt:lpstr>
      <vt:lpstr>Razones para Inclinarse hacia R</vt:lpstr>
      <vt:lpstr>Hacia una Mejor Ciencia en Menos Tiempo</vt:lpstr>
      <vt:lpstr>Presentación de PowerPoint</vt:lpstr>
      <vt:lpstr>Presentación de PowerPoint</vt:lpstr>
      <vt:lpstr>Pasemos a verlo con nuestros propios ojos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Anónimo</dc:creator>
  <cp:lastModifiedBy>Anónimo</cp:lastModifiedBy>
  <cp:revision>2</cp:revision>
  <dcterms:created xsi:type="dcterms:W3CDTF">2025-09-10T20:48:47Z</dcterms:created>
  <dcterms:modified xsi:type="dcterms:W3CDTF">2026-02-27T21:57:19Z</dcterms:modified>
</cp:coreProperties>
</file>