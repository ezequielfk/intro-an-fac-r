
<file path=[Content_Types].xml><?xml version="1.0" encoding="utf-8"?>
<Types xmlns="http://schemas.openxmlformats.org/package/2006/content-types">
  <Default Extension="bin" ContentType="application/vnd.openxmlformats-officedocument.oleObject"/>
  <Default Extension="jpeg" ContentType="image/jpeg"/>
  <Default Extension="png" ContentType="image/png"/>
  <Default Extension="rels" ContentType="application/vnd.openxmlformats-package.relationships+xml"/>
  <Default Extension="wdp" ContentType="image/vnd.ms-photo"/>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9"/>
  </p:notesMasterIdLst>
  <p:sldIdLst>
    <p:sldId id="3461" r:id="rId2"/>
    <p:sldId id="3427" r:id="rId3"/>
    <p:sldId id="257" r:id="rId4"/>
    <p:sldId id="3409" r:id="rId5"/>
    <p:sldId id="3416" r:id="rId6"/>
    <p:sldId id="3410" r:id="rId7"/>
    <p:sldId id="3440" r:id="rId8"/>
    <p:sldId id="3439" r:id="rId9"/>
    <p:sldId id="3413" r:id="rId10"/>
    <p:sldId id="258" r:id="rId11"/>
    <p:sldId id="3414" r:id="rId12"/>
    <p:sldId id="3314" r:id="rId13"/>
    <p:sldId id="259" r:id="rId14"/>
    <p:sldId id="3411" r:id="rId15"/>
    <p:sldId id="260" r:id="rId16"/>
    <p:sldId id="3408" r:id="rId17"/>
    <p:sldId id="3455" r:id="rId18"/>
    <p:sldId id="3391" r:id="rId19"/>
    <p:sldId id="3396" r:id="rId20"/>
    <p:sldId id="320" r:id="rId21"/>
    <p:sldId id="318" r:id="rId22"/>
    <p:sldId id="3429" r:id="rId23"/>
    <p:sldId id="3417" r:id="rId24"/>
    <p:sldId id="3418" r:id="rId25"/>
    <p:sldId id="3419" r:id="rId26"/>
    <p:sldId id="3420" r:id="rId27"/>
    <p:sldId id="3421" r:id="rId28"/>
    <p:sldId id="3424" r:id="rId29"/>
    <p:sldId id="3400" r:id="rId30"/>
    <p:sldId id="3453" r:id="rId31"/>
    <p:sldId id="3430" r:id="rId32"/>
    <p:sldId id="3441" r:id="rId33"/>
    <p:sldId id="3335" r:id="rId34"/>
    <p:sldId id="3387" r:id="rId35"/>
    <p:sldId id="3388" r:id="rId36"/>
    <p:sldId id="3434" r:id="rId37"/>
    <p:sldId id="261" r:id="rId38"/>
    <p:sldId id="3432" r:id="rId39"/>
    <p:sldId id="3433" r:id="rId40"/>
    <p:sldId id="3442" r:id="rId41"/>
    <p:sldId id="3443" r:id="rId42"/>
    <p:sldId id="3444" r:id="rId43"/>
    <p:sldId id="3435" r:id="rId44"/>
    <p:sldId id="3436" r:id="rId45"/>
    <p:sldId id="3445" r:id="rId46"/>
    <p:sldId id="3447" r:id="rId47"/>
    <p:sldId id="3448" r:id="rId48"/>
    <p:sldId id="3446" r:id="rId49"/>
    <p:sldId id="3449" r:id="rId50"/>
    <p:sldId id="3450" r:id="rId51"/>
    <p:sldId id="3451" r:id="rId52"/>
    <p:sldId id="3454" r:id="rId53"/>
    <p:sldId id="3456" r:id="rId54"/>
    <p:sldId id="3403" r:id="rId55"/>
    <p:sldId id="3458" r:id="rId56"/>
    <p:sldId id="3457" r:id="rId57"/>
    <p:sldId id="3459" r:id="rId5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79085" autoAdjust="0"/>
  </p:normalViewPr>
  <p:slideViewPr>
    <p:cSldViewPr snapToGrid="0">
      <p:cViewPr varScale="1">
        <p:scale>
          <a:sx n="54" d="100"/>
          <a:sy n="54" d="100"/>
        </p:scale>
        <p:origin x="1733" y="27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microsoft.com/office/2016/11/relationships/changesInfo" Target="changesInfos/changesInfo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blo Ezequiel Flores Kanter" userId="03da0cbcfcedef2e" providerId="LiveId" clId="{741AA1FE-7C38-444F-B79D-5C0E439E15A0}"/>
    <pc:docChg chg="addSld delSld modSld sldOrd">
      <pc:chgData name="Pablo Ezequiel Flores Kanter" userId="03da0cbcfcedef2e" providerId="LiveId" clId="{741AA1FE-7C38-444F-B79D-5C0E439E15A0}" dt="2025-11-14T22:31:45.598" v="87" actId="47"/>
      <pc:docMkLst>
        <pc:docMk/>
      </pc:docMkLst>
      <pc:sldChg chg="modSp del mod">
        <pc:chgData name="Pablo Ezequiel Flores Kanter" userId="03da0cbcfcedef2e" providerId="LiveId" clId="{741AA1FE-7C38-444F-B79D-5C0E439E15A0}" dt="2025-11-14T22:31:04.427" v="1" actId="47"/>
        <pc:sldMkLst>
          <pc:docMk/>
          <pc:sldMk cId="0" sldId="3437"/>
        </pc:sldMkLst>
        <pc:spChg chg="mod">
          <ac:chgData name="Pablo Ezequiel Flores Kanter" userId="03da0cbcfcedef2e" providerId="LiveId" clId="{741AA1FE-7C38-444F-B79D-5C0E439E15A0}" dt="2025-11-14T22:31:03.133" v="0" actId="6549"/>
          <ac:spMkLst>
            <pc:docMk/>
            <pc:sldMk cId="0" sldId="3437"/>
            <ac:spMk id="85" creationId="{00000000-0000-0000-0000-000000000000}"/>
          </ac:spMkLst>
        </pc:spChg>
      </pc:sldChg>
      <pc:sldChg chg="del">
        <pc:chgData name="Pablo Ezequiel Flores Kanter" userId="03da0cbcfcedef2e" providerId="LiveId" clId="{741AA1FE-7C38-444F-B79D-5C0E439E15A0}" dt="2025-11-14T22:31:45.598" v="87" actId="47"/>
        <pc:sldMkLst>
          <pc:docMk/>
          <pc:sldMk cId="0" sldId="3438"/>
        </pc:sldMkLst>
      </pc:sldChg>
      <pc:sldChg chg="new del ord">
        <pc:chgData name="Pablo Ezequiel Flores Kanter" userId="03da0cbcfcedef2e" providerId="LiveId" clId="{741AA1FE-7C38-444F-B79D-5C0E439E15A0}" dt="2025-11-14T22:31:15.011" v="6" actId="47"/>
        <pc:sldMkLst>
          <pc:docMk/>
          <pc:sldMk cId="759831772" sldId="3460"/>
        </pc:sldMkLst>
      </pc:sldChg>
      <pc:sldChg chg="modSp new mod">
        <pc:chgData name="Pablo Ezequiel Flores Kanter" userId="03da0cbcfcedef2e" providerId="LiveId" clId="{741AA1FE-7C38-444F-B79D-5C0E439E15A0}" dt="2025-11-14T22:31:35.477" v="86" actId="20577"/>
        <pc:sldMkLst>
          <pc:docMk/>
          <pc:sldMk cId="1899599526" sldId="3461"/>
        </pc:sldMkLst>
        <pc:spChg chg="mod">
          <ac:chgData name="Pablo Ezequiel Flores Kanter" userId="03da0cbcfcedef2e" providerId="LiveId" clId="{741AA1FE-7C38-444F-B79D-5C0E439E15A0}" dt="2025-11-14T22:31:28.425" v="52" actId="20577"/>
          <ac:spMkLst>
            <pc:docMk/>
            <pc:sldMk cId="1899599526" sldId="3461"/>
            <ac:spMk id="2" creationId="{5E704F8D-31A5-8891-D719-DBB397FFBB61}"/>
          </ac:spMkLst>
        </pc:spChg>
        <pc:spChg chg="mod">
          <ac:chgData name="Pablo Ezequiel Flores Kanter" userId="03da0cbcfcedef2e" providerId="LiveId" clId="{741AA1FE-7C38-444F-B79D-5C0E439E15A0}" dt="2025-11-14T22:31:35.477" v="86" actId="20577"/>
          <ac:spMkLst>
            <pc:docMk/>
            <pc:sldMk cId="1899599526" sldId="3461"/>
            <ac:spMk id="3" creationId="{5FD2052E-25D7-9AAB-C8A5-E95289CF3660}"/>
          </ac:spMkLst>
        </pc:spChg>
      </pc:sldChg>
    </pc:docChg>
  </pc:docChgLst>
</pc:chgInfo>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540A1D4-2890-4690-A788-432971664B90}"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s-AR"/>
        </a:p>
      </dgm:t>
    </dgm:pt>
    <dgm:pt modelId="{4419451E-9D36-4B87-96C2-8E0C5848C4D7}">
      <dgm:prSet phldrT="[Texto]" phldr="0"/>
      <dgm:spPr/>
      <dgm:t>
        <a:bodyPr/>
        <a:lstStyle/>
        <a:p>
          <a:r>
            <a:rPr lang="es-AR" dirty="0"/>
            <a:t>Fase Sustantiva</a:t>
          </a:r>
        </a:p>
      </dgm:t>
    </dgm:pt>
    <dgm:pt modelId="{5865BFC3-05D2-4E6A-83BE-57F0946FA007}" type="parTrans" cxnId="{3A3A99BE-CF02-4EBF-8085-5361ED92D191}">
      <dgm:prSet/>
      <dgm:spPr/>
      <dgm:t>
        <a:bodyPr/>
        <a:lstStyle/>
        <a:p>
          <a:endParaRPr lang="es-AR"/>
        </a:p>
      </dgm:t>
    </dgm:pt>
    <dgm:pt modelId="{5B136494-A6EB-45B9-B59F-295EC4D3A92D}" type="sibTrans" cxnId="{3A3A99BE-CF02-4EBF-8085-5361ED92D191}">
      <dgm:prSet/>
      <dgm:spPr/>
      <dgm:t>
        <a:bodyPr/>
        <a:lstStyle/>
        <a:p>
          <a:endParaRPr lang="es-AR"/>
        </a:p>
      </dgm:t>
    </dgm:pt>
    <dgm:pt modelId="{8D18F7A6-883F-4933-B4AC-D215A44A142D}">
      <dgm:prSet phldrT="[Texto]" phldr="0"/>
      <dgm:spPr/>
      <dgm:t>
        <a:bodyPr/>
        <a:lstStyle/>
        <a:p>
          <a:r>
            <a:rPr lang="es-AR" dirty="0"/>
            <a:t>Fase Externa</a:t>
          </a:r>
        </a:p>
      </dgm:t>
    </dgm:pt>
    <dgm:pt modelId="{C7B79BBF-E03D-4255-B99C-1AAE2C913BB1}" type="parTrans" cxnId="{7CD68F94-DB7F-4462-8C74-A251A1059DC8}">
      <dgm:prSet/>
      <dgm:spPr/>
      <dgm:t>
        <a:bodyPr/>
        <a:lstStyle/>
        <a:p>
          <a:endParaRPr lang="es-AR"/>
        </a:p>
      </dgm:t>
    </dgm:pt>
    <dgm:pt modelId="{4126DD63-4AAC-4744-ACE0-D5B76BBFDB78}" type="sibTrans" cxnId="{7CD68F94-DB7F-4462-8C74-A251A1059DC8}">
      <dgm:prSet/>
      <dgm:spPr/>
      <dgm:t>
        <a:bodyPr/>
        <a:lstStyle/>
        <a:p>
          <a:endParaRPr lang="es-AR"/>
        </a:p>
      </dgm:t>
    </dgm:pt>
    <dgm:pt modelId="{14A89C9E-FAB2-4CF5-89B9-B21A5D605D07}">
      <dgm:prSet phldrT="[Texto]" phldr="0"/>
      <dgm:spPr/>
      <dgm:t>
        <a:bodyPr/>
        <a:lstStyle/>
        <a:p>
          <a:r>
            <a:rPr lang="es-AR" dirty="0"/>
            <a:t>Fase Estructural</a:t>
          </a:r>
        </a:p>
      </dgm:t>
    </dgm:pt>
    <dgm:pt modelId="{FEB673DB-84B3-43E8-A3A3-AC46A031BB64}" type="parTrans" cxnId="{F37FE1D0-16FF-4687-BF71-96C66B79180C}">
      <dgm:prSet/>
      <dgm:spPr/>
      <dgm:t>
        <a:bodyPr/>
        <a:lstStyle/>
        <a:p>
          <a:endParaRPr lang="es-AR"/>
        </a:p>
      </dgm:t>
    </dgm:pt>
    <dgm:pt modelId="{21D0CAE1-AC1C-4E51-9F2B-A3A0E42D0625}" type="sibTrans" cxnId="{F37FE1D0-16FF-4687-BF71-96C66B79180C}">
      <dgm:prSet/>
      <dgm:spPr/>
      <dgm:t>
        <a:bodyPr/>
        <a:lstStyle/>
        <a:p>
          <a:endParaRPr lang="es-AR"/>
        </a:p>
      </dgm:t>
    </dgm:pt>
    <dgm:pt modelId="{F8498C9C-E0F0-4DD1-85A8-940D02BA034E}" type="pres">
      <dgm:prSet presAssocID="{A540A1D4-2890-4690-A788-432971664B90}" presName="Name0" presStyleCnt="0">
        <dgm:presLayoutVars>
          <dgm:dir/>
          <dgm:resizeHandles val="exact"/>
        </dgm:presLayoutVars>
      </dgm:prSet>
      <dgm:spPr/>
    </dgm:pt>
    <dgm:pt modelId="{9FB2A82B-BABE-4739-8EA0-944496439400}" type="pres">
      <dgm:prSet presAssocID="{4419451E-9D36-4B87-96C2-8E0C5848C4D7}" presName="node" presStyleLbl="node1" presStyleIdx="0" presStyleCnt="3">
        <dgm:presLayoutVars>
          <dgm:bulletEnabled val="1"/>
        </dgm:presLayoutVars>
      </dgm:prSet>
      <dgm:spPr/>
    </dgm:pt>
    <dgm:pt modelId="{4CDCDA3A-7B28-4B2D-9685-943CBFAA07B4}" type="pres">
      <dgm:prSet presAssocID="{5B136494-A6EB-45B9-B59F-295EC4D3A92D}" presName="sibTrans" presStyleLbl="sibTrans2D1" presStyleIdx="0" presStyleCnt="3"/>
      <dgm:spPr/>
    </dgm:pt>
    <dgm:pt modelId="{C4F705DB-16BD-47B4-B0C9-2484AFEC5B3D}" type="pres">
      <dgm:prSet presAssocID="{5B136494-A6EB-45B9-B59F-295EC4D3A92D}" presName="connectorText" presStyleLbl="sibTrans2D1" presStyleIdx="0" presStyleCnt="3"/>
      <dgm:spPr/>
    </dgm:pt>
    <dgm:pt modelId="{28471670-0D4C-4257-A21A-461A68985F31}" type="pres">
      <dgm:prSet presAssocID="{8D18F7A6-883F-4933-B4AC-D215A44A142D}" presName="node" presStyleLbl="node1" presStyleIdx="1" presStyleCnt="3">
        <dgm:presLayoutVars>
          <dgm:bulletEnabled val="1"/>
        </dgm:presLayoutVars>
      </dgm:prSet>
      <dgm:spPr/>
    </dgm:pt>
    <dgm:pt modelId="{304EBB95-B6A3-41EB-B63F-4E590D96FE3B}" type="pres">
      <dgm:prSet presAssocID="{4126DD63-4AAC-4744-ACE0-D5B76BBFDB78}" presName="sibTrans" presStyleLbl="sibTrans2D1" presStyleIdx="1" presStyleCnt="3"/>
      <dgm:spPr/>
    </dgm:pt>
    <dgm:pt modelId="{7DFE2F50-067A-489D-9423-594C28CFA121}" type="pres">
      <dgm:prSet presAssocID="{4126DD63-4AAC-4744-ACE0-D5B76BBFDB78}" presName="connectorText" presStyleLbl="sibTrans2D1" presStyleIdx="1" presStyleCnt="3"/>
      <dgm:spPr/>
    </dgm:pt>
    <dgm:pt modelId="{50DDC56D-726A-4F37-9C28-822779C22943}" type="pres">
      <dgm:prSet presAssocID="{14A89C9E-FAB2-4CF5-89B9-B21A5D605D07}" presName="node" presStyleLbl="node1" presStyleIdx="2" presStyleCnt="3">
        <dgm:presLayoutVars>
          <dgm:bulletEnabled val="1"/>
        </dgm:presLayoutVars>
      </dgm:prSet>
      <dgm:spPr/>
    </dgm:pt>
    <dgm:pt modelId="{8204C6C2-AA2F-410E-97D2-C60FAAC0CA0B}" type="pres">
      <dgm:prSet presAssocID="{21D0CAE1-AC1C-4E51-9F2B-A3A0E42D0625}" presName="sibTrans" presStyleLbl="sibTrans2D1" presStyleIdx="2" presStyleCnt="3"/>
      <dgm:spPr/>
    </dgm:pt>
    <dgm:pt modelId="{656FCD9D-1A3E-48AA-9625-FBCC4C581432}" type="pres">
      <dgm:prSet presAssocID="{21D0CAE1-AC1C-4E51-9F2B-A3A0E42D0625}" presName="connectorText" presStyleLbl="sibTrans2D1" presStyleIdx="2" presStyleCnt="3"/>
      <dgm:spPr/>
    </dgm:pt>
  </dgm:ptLst>
  <dgm:cxnLst>
    <dgm:cxn modelId="{72A3AF07-0D4C-493B-926E-8BB36B1BAC70}" type="presOf" srcId="{8D18F7A6-883F-4933-B4AC-D215A44A142D}" destId="{28471670-0D4C-4257-A21A-461A68985F31}" srcOrd="0" destOrd="0" presId="urn:microsoft.com/office/officeart/2005/8/layout/cycle7"/>
    <dgm:cxn modelId="{A2002320-187C-47B1-B49B-05A833B222FF}" type="presOf" srcId="{21D0CAE1-AC1C-4E51-9F2B-A3A0E42D0625}" destId="{8204C6C2-AA2F-410E-97D2-C60FAAC0CA0B}" srcOrd="0" destOrd="0" presId="urn:microsoft.com/office/officeart/2005/8/layout/cycle7"/>
    <dgm:cxn modelId="{09995F22-9498-4B97-A387-911740ED9B48}" type="presOf" srcId="{14A89C9E-FAB2-4CF5-89B9-B21A5D605D07}" destId="{50DDC56D-726A-4F37-9C28-822779C22943}" srcOrd="0" destOrd="0" presId="urn:microsoft.com/office/officeart/2005/8/layout/cycle7"/>
    <dgm:cxn modelId="{ECBAE96C-2EC1-47A3-A3B0-A170678AB7B0}" type="presOf" srcId="{21D0CAE1-AC1C-4E51-9F2B-A3A0E42D0625}" destId="{656FCD9D-1A3E-48AA-9625-FBCC4C581432}" srcOrd="1" destOrd="0" presId="urn:microsoft.com/office/officeart/2005/8/layout/cycle7"/>
    <dgm:cxn modelId="{0820D88A-444B-417A-A0A0-39A2E2D17FF2}" type="presOf" srcId="{5B136494-A6EB-45B9-B59F-295EC4D3A92D}" destId="{C4F705DB-16BD-47B4-B0C9-2484AFEC5B3D}" srcOrd="1" destOrd="0" presId="urn:microsoft.com/office/officeart/2005/8/layout/cycle7"/>
    <dgm:cxn modelId="{7CD68F94-DB7F-4462-8C74-A251A1059DC8}" srcId="{A540A1D4-2890-4690-A788-432971664B90}" destId="{8D18F7A6-883F-4933-B4AC-D215A44A142D}" srcOrd="1" destOrd="0" parTransId="{C7B79BBF-E03D-4255-B99C-1AAE2C913BB1}" sibTransId="{4126DD63-4AAC-4744-ACE0-D5B76BBFDB78}"/>
    <dgm:cxn modelId="{7BFD2CA5-C0EF-4EBA-A54F-AC02CA674A40}" type="presOf" srcId="{4419451E-9D36-4B87-96C2-8E0C5848C4D7}" destId="{9FB2A82B-BABE-4739-8EA0-944496439400}" srcOrd="0" destOrd="0" presId="urn:microsoft.com/office/officeart/2005/8/layout/cycle7"/>
    <dgm:cxn modelId="{90CF4EB3-51DE-449B-B567-E275144AD214}" type="presOf" srcId="{A540A1D4-2890-4690-A788-432971664B90}" destId="{F8498C9C-E0F0-4DD1-85A8-940D02BA034E}" srcOrd="0" destOrd="0" presId="urn:microsoft.com/office/officeart/2005/8/layout/cycle7"/>
    <dgm:cxn modelId="{F958E6BD-1060-47E0-B7F9-AA0907FDB64E}" type="presOf" srcId="{4126DD63-4AAC-4744-ACE0-D5B76BBFDB78}" destId="{7DFE2F50-067A-489D-9423-594C28CFA121}" srcOrd="1" destOrd="0" presId="urn:microsoft.com/office/officeart/2005/8/layout/cycle7"/>
    <dgm:cxn modelId="{3A3A99BE-CF02-4EBF-8085-5361ED92D191}" srcId="{A540A1D4-2890-4690-A788-432971664B90}" destId="{4419451E-9D36-4B87-96C2-8E0C5848C4D7}" srcOrd="0" destOrd="0" parTransId="{5865BFC3-05D2-4E6A-83BE-57F0946FA007}" sibTransId="{5B136494-A6EB-45B9-B59F-295EC4D3A92D}"/>
    <dgm:cxn modelId="{A685E1BE-5235-4AD5-A5CE-7C35D8F35324}" type="presOf" srcId="{5B136494-A6EB-45B9-B59F-295EC4D3A92D}" destId="{4CDCDA3A-7B28-4B2D-9685-943CBFAA07B4}" srcOrd="0" destOrd="0" presId="urn:microsoft.com/office/officeart/2005/8/layout/cycle7"/>
    <dgm:cxn modelId="{F37FE1D0-16FF-4687-BF71-96C66B79180C}" srcId="{A540A1D4-2890-4690-A788-432971664B90}" destId="{14A89C9E-FAB2-4CF5-89B9-B21A5D605D07}" srcOrd="2" destOrd="0" parTransId="{FEB673DB-84B3-43E8-A3A3-AC46A031BB64}" sibTransId="{21D0CAE1-AC1C-4E51-9F2B-A3A0E42D0625}"/>
    <dgm:cxn modelId="{E78933F5-2C39-4EDF-B0ED-B148C7519A1E}" type="presOf" srcId="{4126DD63-4AAC-4744-ACE0-D5B76BBFDB78}" destId="{304EBB95-B6A3-41EB-B63F-4E590D96FE3B}" srcOrd="0" destOrd="0" presId="urn:microsoft.com/office/officeart/2005/8/layout/cycle7"/>
    <dgm:cxn modelId="{6796A79A-2083-4BB5-B0CC-D4A50DB29B72}" type="presParOf" srcId="{F8498C9C-E0F0-4DD1-85A8-940D02BA034E}" destId="{9FB2A82B-BABE-4739-8EA0-944496439400}" srcOrd="0" destOrd="0" presId="urn:microsoft.com/office/officeart/2005/8/layout/cycle7"/>
    <dgm:cxn modelId="{B9804CC7-FD60-4DD5-B40B-62F55CC33FD2}" type="presParOf" srcId="{F8498C9C-E0F0-4DD1-85A8-940D02BA034E}" destId="{4CDCDA3A-7B28-4B2D-9685-943CBFAA07B4}" srcOrd="1" destOrd="0" presId="urn:microsoft.com/office/officeart/2005/8/layout/cycle7"/>
    <dgm:cxn modelId="{9B419B8D-B672-4D9A-AE85-41EFEC0F152C}" type="presParOf" srcId="{4CDCDA3A-7B28-4B2D-9685-943CBFAA07B4}" destId="{C4F705DB-16BD-47B4-B0C9-2484AFEC5B3D}" srcOrd="0" destOrd="0" presId="urn:microsoft.com/office/officeart/2005/8/layout/cycle7"/>
    <dgm:cxn modelId="{2AB47C64-1B42-4348-8DD5-AC11AEBECB6D}" type="presParOf" srcId="{F8498C9C-E0F0-4DD1-85A8-940D02BA034E}" destId="{28471670-0D4C-4257-A21A-461A68985F31}" srcOrd="2" destOrd="0" presId="urn:microsoft.com/office/officeart/2005/8/layout/cycle7"/>
    <dgm:cxn modelId="{50060474-3956-4E38-A254-8F396D182C4E}" type="presParOf" srcId="{F8498C9C-E0F0-4DD1-85A8-940D02BA034E}" destId="{304EBB95-B6A3-41EB-B63F-4E590D96FE3B}" srcOrd="3" destOrd="0" presId="urn:microsoft.com/office/officeart/2005/8/layout/cycle7"/>
    <dgm:cxn modelId="{C0C879F6-EB0D-4A3F-978C-AFFC50714E55}" type="presParOf" srcId="{304EBB95-B6A3-41EB-B63F-4E590D96FE3B}" destId="{7DFE2F50-067A-489D-9423-594C28CFA121}" srcOrd="0" destOrd="0" presId="urn:microsoft.com/office/officeart/2005/8/layout/cycle7"/>
    <dgm:cxn modelId="{827E5FC1-821A-40AF-AFE8-FB0AF61BA6B9}" type="presParOf" srcId="{F8498C9C-E0F0-4DD1-85A8-940D02BA034E}" destId="{50DDC56D-726A-4F37-9C28-822779C22943}" srcOrd="4" destOrd="0" presId="urn:microsoft.com/office/officeart/2005/8/layout/cycle7"/>
    <dgm:cxn modelId="{9C9C22D1-49B6-4528-A4BA-41E7991577C3}" type="presParOf" srcId="{F8498C9C-E0F0-4DD1-85A8-940D02BA034E}" destId="{8204C6C2-AA2F-410E-97D2-C60FAAC0CA0B}" srcOrd="5" destOrd="0" presId="urn:microsoft.com/office/officeart/2005/8/layout/cycle7"/>
    <dgm:cxn modelId="{2A2CAAA8-7AB1-4048-B92A-1319DFC293D7}" type="presParOf" srcId="{8204C6C2-AA2F-410E-97D2-C60FAAC0CA0B}" destId="{656FCD9D-1A3E-48AA-9625-FBCC4C581432}"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A540A1D4-2890-4690-A788-432971664B90}" type="doc">
      <dgm:prSet loTypeId="urn:microsoft.com/office/officeart/2005/8/layout/cycle7" loCatId="cycle" qsTypeId="urn:microsoft.com/office/officeart/2005/8/quickstyle/simple1" qsCatId="simple" csTypeId="urn:microsoft.com/office/officeart/2005/8/colors/accent1_2" csCatId="accent1" phldr="1"/>
      <dgm:spPr/>
      <dgm:t>
        <a:bodyPr/>
        <a:lstStyle/>
        <a:p>
          <a:endParaRPr lang="es-AR"/>
        </a:p>
      </dgm:t>
    </dgm:pt>
    <dgm:pt modelId="{4419451E-9D36-4B87-96C2-8E0C5848C4D7}">
      <dgm:prSet phldrT="[Texto]" phldr="0"/>
      <dgm:spPr/>
      <dgm:t>
        <a:bodyPr/>
        <a:lstStyle/>
        <a:p>
          <a:r>
            <a:rPr lang="es-AR" dirty="0"/>
            <a:t>Fase Sustantiva</a:t>
          </a:r>
        </a:p>
      </dgm:t>
    </dgm:pt>
    <dgm:pt modelId="{5865BFC3-05D2-4E6A-83BE-57F0946FA007}" type="parTrans" cxnId="{3A3A99BE-CF02-4EBF-8085-5361ED92D191}">
      <dgm:prSet/>
      <dgm:spPr/>
      <dgm:t>
        <a:bodyPr/>
        <a:lstStyle/>
        <a:p>
          <a:endParaRPr lang="es-AR"/>
        </a:p>
      </dgm:t>
    </dgm:pt>
    <dgm:pt modelId="{5B136494-A6EB-45B9-B59F-295EC4D3A92D}" type="sibTrans" cxnId="{3A3A99BE-CF02-4EBF-8085-5361ED92D191}">
      <dgm:prSet/>
      <dgm:spPr/>
      <dgm:t>
        <a:bodyPr/>
        <a:lstStyle/>
        <a:p>
          <a:endParaRPr lang="es-AR"/>
        </a:p>
      </dgm:t>
    </dgm:pt>
    <dgm:pt modelId="{14A89C9E-FAB2-4CF5-89B9-B21A5D605D07}">
      <dgm:prSet phldrT="[Texto]" phldr="0"/>
      <dgm:spPr>
        <a:solidFill>
          <a:schemeClr val="bg2"/>
        </a:solidFill>
      </dgm:spPr>
      <dgm:t>
        <a:bodyPr/>
        <a:lstStyle/>
        <a:p>
          <a:r>
            <a:rPr lang="es-AR" b="1" dirty="0">
              <a:solidFill>
                <a:srgbClr val="FF0000"/>
              </a:solidFill>
            </a:rPr>
            <a:t>Fase Estructural</a:t>
          </a:r>
        </a:p>
      </dgm:t>
    </dgm:pt>
    <dgm:pt modelId="{FEB673DB-84B3-43E8-A3A3-AC46A031BB64}" type="parTrans" cxnId="{F37FE1D0-16FF-4687-BF71-96C66B79180C}">
      <dgm:prSet/>
      <dgm:spPr/>
      <dgm:t>
        <a:bodyPr/>
        <a:lstStyle/>
        <a:p>
          <a:endParaRPr lang="es-AR"/>
        </a:p>
      </dgm:t>
    </dgm:pt>
    <dgm:pt modelId="{21D0CAE1-AC1C-4E51-9F2B-A3A0E42D0625}" type="sibTrans" cxnId="{F37FE1D0-16FF-4687-BF71-96C66B79180C}">
      <dgm:prSet/>
      <dgm:spPr/>
      <dgm:t>
        <a:bodyPr/>
        <a:lstStyle/>
        <a:p>
          <a:endParaRPr lang="es-AR"/>
        </a:p>
      </dgm:t>
    </dgm:pt>
    <dgm:pt modelId="{F8498C9C-E0F0-4DD1-85A8-940D02BA034E}" type="pres">
      <dgm:prSet presAssocID="{A540A1D4-2890-4690-A788-432971664B90}" presName="Name0" presStyleCnt="0">
        <dgm:presLayoutVars>
          <dgm:dir/>
          <dgm:resizeHandles val="exact"/>
        </dgm:presLayoutVars>
      </dgm:prSet>
      <dgm:spPr/>
    </dgm:pt>
    <dgm:pt modelId="{9FB2A82B-BABE-4739-8EA0-944496439400}" type="pres">
      <dgm:prSet presAssocID="{4419451E-9D36-4B87-96C2-8E0C5848C4D7}" presName="node" presStyleLbl="node1" presStyleIdx="0" presStyleCnt="2">
        <dgm:presLayoutVars>
          <dgm:bulletEnabled val="1"/>
        </dgm:presLayoutVars>
      </dgm:prSet>
      <dgm:spPr/>
    </dgm:pt>
    <dgm:pt modelId="{4CDCDA3A-7B28-4B2D-9685-943CBFAA07B4}" type="pres">
      <dgm:prSet presAssocID="{5B136494-A6EB-45B9-B59F-295EC4D3A92D}" presName="sibTrans" presStyleLbl="sibTrans2D1" presStyleIdx="0" presStyleCnt="2"/>
      <dgm:spPr/>
    </dgm:pt>
    <dgm:pt modelId="{C4F705DB-16BD-47B4-B0C9-2484AFEC5B3D}" type="pres">
      <dgm:prSet presAssocID="{5B136494-A6EB-45B9-B59F-295EC4D3A92D}" presName="connectorText" presStyleLbl="sibTrans2D1" presStyleIdx="0" presStyleCnt="2"/>
      <dgm:spPr/>
    </dgm:pt>
    <dgm:pt modelId="{50DDC56D-726A-4F37-9C28-822779C22943}" type="pres">
      <dgm:prSet presAssocID="{14A89C9E-FAB2-4CF5-89B9-B21A5D605D07}" presName="node" presStyleLbl="node1" presStyleIdx="1" presStyleCnt="2">
        <dgm:presLayoutVars>
          <dgm:bulletEnabled val="1"/>
        </dgm:presLayoutVars>
      </dgm:prSet>
      <dgm:spPr/>
    </dgm:pt>
    <dgm:pt modelId="{8204C6C2-AA2F-410E-97D2-C60FAAC0CA0B}" type="pres">
      <dgm:prSet presAssocID="{21D0CAE1-AC1C-4E51-9F2B-A3A0E42D0625}" presName="sibTrans" presStyleLbl="sibTrans2D1" presStyleIdx="1" presStyleCnt="2"/>
      <dgm:spPr/>
    </dgm:pt>
    <dgm:pt modelId="{656FCD9D-1A3E-48AA-9625-FBCC4C581432}" type="pres">
      <dgm:prSet presAssocID="{21D0CAE1-AC1C-4E51-9F2B-A3A0E42D0625}" presName="connectorText" presStyleLbl="sibTrans2D1" presStyleIdx="1" presStyleCnt="2"/>
      <dgm:spPr/>
    </dgm:pt>
  </dgm:ptLst>
  <dgm:cxnLst>
    <dgm:cxn modelId="{A2002320-187C-47B1-B49B-05A833B222FF}" type="presOf" srcId="{21D0CAE1-AC1C-4E51-9F2B-A3A0E42D0625}" destId="{8204C6C2-AA2F-410E-97D2-C60FAAC0CA0B}" srcOrd="0" destOrd="0" presId="urn:microsoft.com/office/officeart/2005/8/layout/cycle7"/>
    <dgm:cxn modelId="{09995F22-9498-4B97-A387-911740ED9B48}" type="presOf" srcId="{14A89C9E-FAB2-4CF5-89B9-B21A5D605D07}" destId="{50DDC56D-726A-4F37-9C28-822779C22943}" srcOrd="0" destOrd="0" presId="urn:microsoft.com/office/officeart/2005/8/layout/cycle7"/>
    <dgm:cxn modelId="{ECBAE96C-2EC1-47A3-A3B0-A170678AB7B0}" type="presOf" srcId="{21D0CAE1-AC1C-4E51-9F2B-A3A0E42D0625}" destId="{656FCD9D-1A3E-48AA-9625-FBCC4C581432}" srcOrd="1" destOrd="0" presId="urn:microsoft.com/office/officeart/2005/8/layout/cycle7"/>
    <dgm:cxn modelId="{0820D88A-444B-417A-A0A0-39A2E2D17FF2}" type="presOf" srcId="{5B136494-A6EB-45B9-B59F-295EC4D3A92D}" destId="{C4F705DB-16BD-47B4-B0C9-2484AFEC5B3D}" srcOrd="1" destOrd="0" presId="urn:microsoft.com/office/officeart/2005/8/layout/cycle7"/>
    <dgm:cxn modelId="{7BFD2CA5-C0EF-4EBA-A54F-AC02CA674A40}" type="presOf" srcId="{4419451E-9D36-4B87-96C2-8E0C5848C4D7}" destId="{9FB2A82B-BABE-4739-8EA0-944496439400}" srcOrd="0" destOrd="0" presId="urn:microsoft.com/office/officeart/2005/8/layout/cycle7"/>
    <dgm:cxn modelId="{90CF4EB3-51DE-449B-B567-E275144AD214}" type="presOf" srcId="{A540A1D4-2890-4690-A788-432971664B90}" destId="{F8498C9C-E0F0-4DD1-85A8-940D02BA034E}" srcOrd="0" destOrd="0" presId="urn:microsoft.com/office/officeart/2005/8/layout/cycle7"/>
    <dgm:cxn modelId="{3A3A99BE-CF02-4EBF-8085-5361ED92D191}" srcId="{A540A1D4-2890-4690-A788-432971664B90}" destId="{4419451E-9D36-4B87-96C2-8E0C5848C4D7}" srcOrd="0" destOrd="0" parTransId="{5865BFC3-05D2-4E6A-83BE-57F0946FA007}" sibTransId="{5B136494-A6EB-45B9-B59F-295EC4D3A92D}"/>
    <dgm:cxn modelId="{A685E1BE-5235-4AD5-A5CE-7C35D8F35324}" type="presOf" srcId="{5B136494-A6EB-45B9-B59F-295EC4D3A92D}" destId="{4CDCDA3A-7B28-4B2D-9685-943CBFAA07B4}" srcOrd="0" destOrd="0" presId="urn:microsoft.com/office/officeart/2005/8/layout/cycle7"/>
    <dgm:cxn modelId="{F37FE1D0-16FF-4687-BF71-96C66B79180C}" srcId="{A540A1D4-2890-4690-A788-432971664B90}" destId="{14A89C9E-FAB2-4CF5-89B9-B21A5D605D07}" srcOrd="1" destOrd="0" parTransId="{FEB673DB-84B3-43E8-A3A3-AC46A031BB64}" sibTransId="{21D0CAE1-AC1C-4E51-9F2B-A3A0E42D0625}"/>
    <dgm:cxn modelId="{6796A79A-2083-4BB5-B0CC-D4A50DB29B72}" type="presParOf" srcId="{F8498C9C-E0F0-4DD1-85A8-940D02BA034E}" destId="{9FB2A82B-BABE-4739-8EA0-944496439400}" srcOrd="0" destOrd="0" presId="urn:microsoft.com/office/officeart/2005/8/layout/cycle7"/>
    <dgm:cxn modelId="{B9804CC7-FD60-4DD5-B40B-62F55CC33FD2}" type="presParOf" srcId="{F8498C9C-E0F0-4DD1-85A8-940D02BA034E}" destId="{4CDCDA3A-7B28-4B2D-9685-943CBFAA07B4}" srcOrd="1" destOrd="0" presId="urn:microsoft.com/office/officeart/2005/8/layout/cycle7"/>
    <dgm:cxn modelId="{9B419B8D-B672-4D9A-AE85-41EFEC0F152C}" type="presParOf" srcId="{4CDCDA3A-7B28-4B2D-9685-943CBFAA07B4}" destId="{C4F705DB-16BD-47B4-B0C9-2484AFEC5B3D}" srcOrd="0" destOrd="0" presId="urn:microsoft.com/office/officeart/2005/8/layout/cycle7"/>
    <dgm:cxn modelId="{827E5FC1-821A-40AF-AFE8-FB0AF61BA6B9}" type="presParOf" srcId="{F8498C9C-E0F0-4DD1-85A8-940D02BA034E}" destId="{50DDC56D-726A-4F37-9C28-822779C22943}" srcOrd="2" destOrd="0" presId="urn:microsoft.com/office/officeart/2005/8/layout/cycle7"/>
    <dgm:cxn modelId="{9C9C22D1-49B6-4528-A4BA-41E7991577C3}" type="presParOf" srcId="{F8498C9C-E0F0-4DD1-85A8-940D02BA034E}" destId="{8204C6C2-AA2F-410E-97D2-C60FAAC0CA0B}" srcOrd="3" destOrd="0" presId="urn:microsoft.com/office/officeart/2005/8/layout/cycle7"/>
    <dgm:cxn modelId="{2A2CAAA8-7AB1-4048-B92A-1319DFC293D7}" type="presParOf" srcId="{8204C6C2-AA2F-410E-97D2-C60FAAC0CA0B}" destId="{656FCD9D-1A3E-48AA-9625-FBCC4C581432}" srcOrd="0" destOrd="0" presId="urn:microsoft.com/office/officeart/2005/8/layout/cycle7"/>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B2A82B-BABE-4739-8EA0-944496439400}">
      <dsp:nvSpPr>
        <dsp:cNvPr id="0" name=""/>
        <dsp:cNvSpPr/>
      </dsp:nvSpPr>
      <dsp:spPr>
        <a:xfrm>
          <a:off x="4130761" y="1008"/>
          <a:ext cx="2254076" cy="11270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Fase Sustantiva</a:t>
          </a:r>
        </a:p>
      </dsp:txBody>
      <dsp:txXfrm>
        <a:off x="4163771" y="34018"/>
        <a:ext cx="2188056" cy="1061018"/>
      </dsp:txXfrm>
    </dsp:sp>
    <dsp:sp modelId="{4CDCDA3A-7B28-4B2D-9685-943CBFAA07B4}">
      <dsp:nvSpPr>
        <dsp:cNvPr id="0" name=""/>
        <dsp:cNvSpPr/>
      </dsp:nvSpPr>
      <dsp:spPr>
        <a:xfrm rot="3600000">
          <a:off x="5601314" y="1978437"/>
          <a:ext cx="1173356" cy="3944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AR" sz="1600" kern="1200"/>
        </a:p>
      </dsp:txBody>
      <dsp:txXfrm>
        <a:off x="5719653" y="2057330"/>
        <a:ext cx="936678" cy="236677"/>
      </dsp:txXfrm>
    </dsp:sp>
    <dsp:sp modelId="{28471670-0D4C-4257-A21A-461A68985F31}">
      <dsp:nvSpPr>
        <dsp:cNvPr id="0" name=""/>
        <dsp:cNvSpPr/>
      </dsp:nvSpPr>
      <dsp:spPr>
        <a:xfrm>
          <a:off x="5991147" y="3223291"/>
          <a:ext cx="2254076" cy="11270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Fase Externa</a:t>
          </a:r>
        </a:p>
      </dsp:txBody>
      <dsp:txXfrm>
        <a:off x="6024157" y="3256301"/>
        <a:ext cx="2188056" cy="1061018"/>
      </dsp:txXfrm>
    </dsp:sp>
    <dsp:sp modelId="{304EBB95-B6A3-41EB-B63F-4E590D96FE3B}">
      <dsp:nvSpPr>
        <dsp:cNvPr id="0" name=""/>
        <dsp:cNvSpPr/>
      </dsp:nvSpPr>
      <dsp:spPr>
        <a:xfrm rot="10800000">
          <a:off x="4671121" y="3589579"/>
          <a:ext cx="1173356" cy="3944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AR" sz="1600" kern="1200"/>
        </a:p>
      </dsp:txBody>
      <dsp:txXfrm rot="10800000">
        <a:off x="4789460" y="3668472"/>
        <a:ext cx="936678" cy="236677"/>
      </dsp:txXfrm>
    </dsp:sp>
    <dsp:sp modelId="{50DDC56D-726A-4F37-9C28-822779C22943}">
      <dsp:nvSpPr>
        <dsp:cNvPr id="0" name=""/>
        <dsp:cNvSpPr/>
      </dsp:nvSpPr>
      <dsp:spPr>
        <a:xfrm>
          <a:off x="2270375" y="3223291"/>
          <a:ext cx="2254076" cy="1127038"/>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0490" tIns="110490" rIns="110490" bIns="110490" numCol="1" spcCol="1270" anchor="ctr" anchorCtr="0">
          <a:noAutofit/>
        </a:bodyPr>
        <a:lstStyle/>
        <a:p>
          <a:pPr marL="0" lvl="0" indent="0" algn="ctr" defTabSz="1289050">
            <a:lnSpc>
              <a:spcPct val="90000"/>
            </a:lnSpc>
            <a:spcBef>
              <a:spcPct val="0"/>
            </a:spcBef>
            <a:spcAft>
              <a:spcPct val="35000"/>
            </a:spcAft>
            <a:buNone/>
          </a:pPr>
          <a:r>
            <a:rPr lang="es-AR" sz="2900" kern="1200" dirty="0"/>
            <a:t>Fase Estructural</a:t>
          </a:r>
        </a:p>
      </dsp:txBody>
      <dsp:txXfrm>
        <a:off x="2303385" y="3256301"/>
        <a:ext cx="2188056" cy="1061018"/>
      </dsp:txXfrm>
    </dsp:sp>
    <dsp:sp modelId="{8204C6C2-AA2F-410E-97D2-C60FAAC0CA0B}">
      <dsp:nvSpPr>
        <dsp:cNvPr id="0" name=""/>
        <dsp:cNvSpPr/>
      </dsp:nvSpPr>
      <dsp:spPr>
        <a:xfrm rot="18000000">
          <a:off x="3740928" y="1978437"/>
          <a:ext cx="1173356" cy="394463"/>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711200">
            <a:lnSpc>
              <a:spcPct val="90000"/>
            </a:lnSpc>
            <a:spcBef>
              <a:spcPct val="0"/>
            </a:spcBef>
            <a:spcAft>
              <a:spcPct val="35000"/>
            </a:spcAft>
            <a:buNone/>
          </a:pPr>
          <a:endParaRPr lang="es-AR" sz="1600" kern="1200"/>
        </a:p>
      </dsp:txBody>
      <dsp:txXfrm>
        <a:off x="3859267" y="2057330"/>
        <a:ext cx="936678" cy="23667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FB2A82B-BABE-4739-8EA0-944496439400}">
      <dsp:nvSpPr>
        <dsp:cNvPr id="0" name=""/>
        <dsp:cNvSpPr/>
      </dsp:nvSpPr>
      <dsp:spPr>
        <a:xfrm>
          <a:off x="3943350" y="3745"/>
          <a:ext cx="2628899" cy="1314449"/>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AR" sz="3400" kern="1200" dirty="0"/>
            <a:t>Fase Sustantiva</a:t>
          </a:r>
        </a:p>
      </dsp:txBody>
      <dsp:txXfrm>
        <a:off x="3981849" y="42244"/>
        <a:ext cx="2551901" cy="1237451"/>
      </dsp:txXfrm>
    </dsp:sp>
    <dsp:sp modelId="{4CDCDA3A-7B28-4B2D-9685-943CBFAA07B4}">
      <dsp:nvSpPr>
        <dsp:cNvPr id="0" name=""/>
        <dsp:cNvSpPr/>
      </dsp:nvSpPr>
      <dsp:spPr>
        <a:xfrm rot="5400000">
          <a:off x="4571821" y="1945640"/>
          <a:ext cx="1371957" cy="46005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AR" sz="1900" kern="1200"/>
        </a:p>
      </dsp:txBody>
      <dsp:txXfrm>
        <a:off x="4709838" y="2037651"/>
        <a:ext cx="1095923" cy="276035"/>
      </dsp:txXfrm>
    </dsp:sp>
    <dsp:sp modelId="{50DDC56D-726A-4F37-9C28-822779C22943}">
      <dsp:nvSpPr>
        <dsp:cNvPr id="0" name=""/>
        <dsp:cNvSpPr/>
      </dsp:nvSpPr>
      <dsp:spPr>
        <a:xfrm>
          <a:off x="3943350" y="3033142"/>
          <a:ext cx="2628899" cy="1314449"/>
        </a:xfrm>
        <a:prstGeom prst="roundRect">
          <a:avLst>
            <a:gd name="adj" fmla="val 10000"/>
          </a:avLst>
        </a:prstGeom>
        <a:solidFill>
          <a:schemeClr val="bg2"/>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9540" tIns="129540" rIns="129540" bIns="129540" numCol="1" spcCol="1270" anchor="ctr" anchorCtr="0">
          <a:noAutofit/>
        </a:bodyPr>
        <a:lstStyle/>
        <a:p>
          <a:pPr marL="0" lvl="0" indent="0" algn="ctr" defTabSz="1511300">
            <a:lnSpc>
              <a:spcPct val="90000"/>
            </a:lnSpc>
            <a:spcBef>
              <a:spcPct val="0"/>
            </a:spcBef>
            <a:spcAft>
              <a:spcPct val="35000"/>
            </a:spcAft>
            <a:buNone/>
          </a:pPr>
          <a:r>
            <a:rPr lang="es-AR" sz="3400" b="1" kern="1200" dirty="0">
              <a:solidFill>
                <a:srgbClr val="FF0000"/>
              </a:solidFill>
            </a:rPr>
            <a:t>Fase Estructural</a:t>
          </a:r>
        </a:p>
      </dsp:txBody>
      <dsp:txXfrm>
        <a:off x="3981849" y="3071641"/>
        <a:ext cx="2551901" cy="1237451"/>
      </dsp:txXfrm>
    </dsp:sp>
    <dsp:sp modelId="{8204C6C2-AA2F-410E-97D2-C60FAAC0CA0B}">
      <dsp:nvSpPr>
        <dsp:cNvPr id="0" name=""/>
        <dsp:cNvSpPr/>
      </dsp:nvSpPr>
      <dsp:spPr>
        <a:xfrm rot="16200000">
          <a:off x="4571821" y="1945640"/>
          <a:ext cx="1371957" cy="460057"/>
        </a:xfrm>
        <a:prstGeom prst="leftRightArrow">
          <a:avLst>
            <a:gd name="adj1" fmla="val 60000"/>
            <a:gd name="adj2" fmla="val 50000"/>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txBody>
        <a:bodyPr spcFirstLastPara="0" vert="horz" wrap="square" lIns="0" tIns="0" rIns="0" bIns="0" numCol="1" spcCol="1270" anchor="ctr" anchorCtr="0">
          <a:noAutofit/>
        </a:bodyPr>
        <a:lstStyle/>
        <a:p>
          <a:pPr marL="0" lvl="0" indent="0" algn="ctr" defTabSz="844550">
            <a:lnSpc>
              <a:spcPct val="90000"/>
            </a:lnSpc>
            <a:spcBef>
              <a:spcPct val="0"/>
            </a:spcBef>
            <a:spcAft>
              <a:spcPct val="35000"/>
            </a:spcAft>
            <a:buNone/>
          </a:pPr>
          <a:endParaRPr lang="es-AR" sz="1900" kern="1200"/>
        </a:p>
      </dsp:txBody>
      <dsp:txXfrm>
        <a:off x="4709838" y="2037651"/>
        <a:ext cx="1095923" cy="276035"/>
      </dsp:txXfrm>
    </dsp:sp>
  </dsp:spTree>
</dsp:drawing>
</file>

<file path=ppt/diagrams/layout1.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layout2.xml><?xml version="1.0" encoding="utf-8"?>
<dgm:layoutDef xmlns:dgm="http://schemas.openxmlformats.org/drawingml/2006/diagram" xmlns:a="http://schemas.openxmlformats.org/drawingml/2006/main" uniqueId="urn:microsoft.com/office/officeart/2005/8/layout/cycle7">
  <dgm:title val=""/>
  <dgm:desc val=""/>
  <dgm:catLst>
    <dgm:cat type="cycle" pri="6000"/>
  </dgm:catLst>
  <dgm:sampData>
    <dgm:dataModel>
      <dgm:ptLst>
        <dgm:pt modelId="0" type="doc"/>
        <dgm:pt modelId="1">
          <dgm:prSet phldr="1"/>
        </dgm:pt>
        <dgm:pt modelId="2">
          <dgm:prSet phldr="1"/>
        </dgm:pt>
        <dgm:pt modelId="3">
          <dgm:prSet phldr="1"/>
        </dgm:pt>
      </dgm:ptLst>
      <dgm:cxnLst>
        <dgm:cxn modelId="6" srcId="0" destId="1" srcOrd="0" destOrd="0"/>
        <dgm:cxn modelId="7" srcId="0" destId="2" srcOrd="1" destOrd="0"/>
        <dgm:cxn modelId="8" srcId="0" destId="3" srcOrd="2" destOrd="0"/>
      </dgm:cxnLst>
      <dgm:bg/>
      <dgm:whole/>
    </dgm:dataModel>
  </dgm:sampData>
  <dgm:styleData>
    <dgm:dataModel>
      <dgm:ptLst>
        <dgm:pt modelId="0" type="doc"/>
        <dgm:pt modelId="1"/>
        <dgm:pt modelId="2"/>
        <dgm:pt modelId="3"/>
      </dgm:ptLst>
      <dgm:cxnLst>
        <dgm:cxn modelId="4" srcId="0" destId="1" srcOrd="0" destOrd="0"/>
        <dgm:cxn modelId="5" srcId="0" destId="2" srcOrd="1" destOrd="0"/>
        <dgm:cxn modelId="6" srcId="0" destId="3" srcOrd="2"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Name0">
    <dgm:varLst>
      <dgm:dir/>
      <dgm:resizeHandles val="exact"/>
    </dgm:varLst>
    <dgm:choose name="Name1">
      <dgm:if name="Name2" func="var" arg="dir" op="equ" val="norm">
        <dgm:alg type="cycle">
          <dgm:param type="stAng" val="0"/>
          <dgm:param type="spanAng" val="360"/>
        </dgm:alg>
      </dgm:if>
      <dgm:else name="Name3">
        <dgm:alg type="cycle">
          <dgm:param type="stAng" val="0"/>
          <dgm:param type="spanAng" val="-360"/>
        </dgm:alg>
      </dgm:else>
    </dgm:choose>
    <dgm:shape xmlns:r="http://schemas.openxmlformats.org/officeDocument/2006/relationships" r:blip="">
      <dgm:adjLst/>
    </dgm:shape>
    <dgm:presOf/>
    <dgm:constrLst>
      <dgm:constr type="diam" refType="w"/>
      <dgm:constr type="w" for="ch" ptType="node" refType="w"/>
      <dgm:constr type="primFontSz" for="ch" ptType="node" op="equ" val="65"/>
      <dgm:constr type="w" for="ch" forName="sibTrans" refType="w" refFor="ch" refPtType="node" op="equ" fact="0.35"/>
      <dgm:constr type="connDist" for="ch" forName="sibTrans" op="equ"/>
      <dgm:constr type="primFontSz" for="des" forName="connectorText" op="equ" val="55"/>
      <dgm:constr type="primFontSz" for="des" forName="connectorText" refType="primFontSz" refFor="ch" refPtType="node" op="lte" fact="0.8"/>
      <dgm:constr type="sibSp" refType="w" refFor="ch" refPtType="node" op="equ" fact="0.65"/>
    </dgm:constrLst>
    <dgm:ruleLst/>
    <dgm:forEach name="nodesForEach" axis="ch" ptType="node">
      <dgm:layoutNode name="node">
        <dgm:varLst>
          <dgm:bulletEnabled val="1"/>
        </dgm:varLst>
        <dgm:alg type="tx"/>
        <dgm:shape xmlns:r="http://schemas.openxmlformats.org/officeDocument/2006/relationships" type="roundRect" r:blip="">
          <dgm:adjLst>
            <dgm:adj idx="1" val="0.1"/>
          </dgm:adjLst>
        </dgm:shape>
        <dgm:presOf axis="desOrSelf" ptType="node"/>
        <dgm:constrLst>
          <dgm:constr type="h" refType="w" fact="0.5"/>
          <dgm:constr type="tMarg" refType="primFontSz" fact="0.3"/>
          <dgm:constr type="bMarg" refType="primFontSz" fact="0.3"/>
          <dgm:constr type="lMarg" refType="primFontSz" fact="0.3"/>
          <dgm:constr type="rMarg" refType="primFontSz" fact="0.3"/>
        </dgm:constrLst>
        <dgm:ruleLst>
          <dgm:rule type="primFontSz" val="5" fact="NaN" max="NaN"/>
        </dgm:ruleLst>
      </dgm:layoutNode>
      <dgm:choose name="Name4">
        <dgm:if name="Name5" axis="par ch" ptType="doc node" func="cnt" op="gt" val="1">
          <dgm:forEach name="sibTransForEach" axis="followSib" ptType="sibTrans" hideLastTrans="0" cnt="1">
            <dgm:layoutNode name="sibTrans">
              <dgm:choose name="Name6">
                <dgm:if name="Name7" axis="par ch" ptType="doc node" func="posEven" op="equ" val="1">
                  <dgm:alg type="conn">
                    <dgm:param type="begPts" val="radial"/>
                    <dgm:param type="endPts" val="radial"/>
                    <dgm:param type="begSty" val="arr"/>
                    <dgm:param type="endSty" val="arr"/>
                  </dgm:alg>
                </dgm:if>
                <dgm:else name="Name8">
                  <dgm:alg type="conn">
                    <dgm:param type="begPts" val="auto"/>
                    <dgm:param type="endPts" val="auto"/>
                    <dgm:param type="begSty" val="arr"/>
                    <dgm:param type="endSty" val="arr"/>
                  </dgm:alg>
                </dgm:else>
              </dgm:choose>
              <dgm:shape xmlns:r="http://schemas.openxmlformats.org/officeDocument/2006/relationships" type="conn" r:blip="">
                <dgm:adjLst/>
              </dgm:shape>
              <dgm:presOf axis="self"/>
              <dgm:constrLst>
                <dgm:constr type="h" refType="w" fact="0.5"/>
                <dgm:constr type="connDist"/>
                <dgm:constr type="begPad" refType="connDist" fact="0.1"/>
                <dgm:constr type="endPad" refType="connDist" fact="0.1"/>
              </dgm:constrLst>
              <dgm:ruleLst/>
              <dgm:layoutNode name="connectorText">
                <dgm:alg type="tx">
                  <dgm:param type="autoTxRot" val="grav"/>
                </dgm:alg>
                <dgm:shape xmlns:r="http://schemas.openxmlformats.org/officeDocument/2006/relationships" type="conn" r:blip="" hideGeom="1">
                  <dgm:adjLst/>
                </dgm:shape>
                <dgm:presOf axis="self"/>
                <dgm:constrLst>
                  <dgm:constr type="lMarg"/>
                  <dgm:constr type="rMarg"/>
                  <dgm:constr type="tMarg"/>
                  <dgm:constr type="bMarg"/>
                </dgm:constrLst>
                <dgm:ruleLst>
                  <dgm:rule type="primFontSz" val="5" fact="NaN" max="NaN"/>
                </dgm:ruleLst>
              </dgm:layoutNode>
            </dgm:layoutNode>
          </dgm:forEach>
        </dgm:if>
        <dgm:else name="Name9"/>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s-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3B5E4CE-9D12-412D-872C-0E4098ACAF11}" type="datetimeFigureOut">
              <a:rPr lang="es-AR" smtClean="0"/>
              <a:t>14/11/2025</a:t>
            </a:fld>
            <a:endParaRPr lang="es-AR"/>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AR"/>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AR"/>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1D98BD3-67FD-417A-9AF9-32392348CD2B}" type="slidenum">
              <a:rPr lang="es-AR" smtClean="0"/>
              <a:t>‹Nº›</a:t>
            </a:fld>
            <a:endParaRPr lang="es-AR"/>
          </a:p>
        </p:txBody>
      </p:sp>
    </p:spTree>
    <p:extLst>
      <p:ext uri="{BB962C8B-B14F-4D97-AF65-F5344CB8AC3E}">
        <p14:creationId xmlns:p14="http://schemas.microsoft.com/office/powerpoint/2010/main" val="10289604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3</a:t>
            </a:fld>
            <a:endParaRPr lang="es-AR"/>
          </a:p>
        </p:txBody>
      </p:sp>
    </p:spTree>
    <p:extLst>
      <p:ext uri="{BB962C8B-B14F-4D97-AF65-F5344CB8AC3E}">
        <p14:creationId xmlns:p14="http://schemas.microsoft.com/office/powerpoint/2010/main" val="374071768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6</a:t>
            </a:fld>
            <a:endParaRPr lang="es-AR"/>
          </a:p>
        </p:txBody>
      </p:sp>
    </p:spTree>
    <p:extLst>
      <p:ext uri="{BB962C8B-B14F-4D97-AF65-F5344CB8AC3E}">
        <p14:creationId xmlns:p14="http://schemas.microsoft.com/office/powerpoint/2010/main" val="10304226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1016DC-9BE7-8C37-64EB-2A4FDCAB7F3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4734BFAC-71E4-A357-48E0-B59546F0D9D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246B87B3-D2C3-D808-E91B-990BEA12A75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AE362DE0-726F-4CEC-90D2-B5048999CF41}"/>
              </a:ext>
            </a:extLst>
          </p:cNvPr>
          <p:cNvSpPr>
            <a:spLocks noGrp="1"/>
          </p:cNvSpPr>
          <p:nvPr>
            <p:ph type="sldNum" sz="quarter" idx="5"/>
          </p:nvPr>
        </p:nvSpPr>
        <p:spPr/>
        <p:txBody>
          <a:bodyPr/>
          <a:lstStyle/>
          <a:p>
            <a:fld id="{C1D98BD3-67FD-417A-9AF9-32392348CD2B}" type="slidenum">
              <a:rPr lang="es-AR" smtClean="0"/>
              <a:t>7</a:t>
            </a:fld>
            <a:endParaRPr lang="es-AR"/>
          </a:p>
        </p:txBody>
      </p:sp>
    </p:spTree>
    <p:extLst>
      <p:ext uri="{BB962C8B-B14F-4D97-AF65-F5344CB8AC3E}">
        <p14:creationId xmlns:p14="http://schemas.microsoft.com/office/powerpoint/2010/main" val="3707559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86CC84-9EF0-19C4-ECA3-E5530A63C1E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31AD2B1-1E1A-4EEC-57A5-6409F426A0F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2F1F28-0A70-8FBD-A173-8542D5BDFC5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0ED1995-3B65-8FAC-07EF-3F6317A04463}"/>
              </a:ext>
            </a:extLst>
          </p:cNvPr>
          <p:cNvSpPr>
            <a:spLocks noGrp="1"/>
          </p:cNvSpPr>
          <p:nvPr>
            <p:ph type="sldNum" sz="quarter" idx="5"/>
          </p:nvPr>
        </p:nvSpPr>
        <p:spPr/>
        <p:txBody>
          <a:bodyPr/>
          <a:lstStyle/>
          <a:p>
            <a:fld id="{C1D98BD3-67FD-417A-9AF9-32392348CD2B}" type="slidenum">
              <a:rPr lang="es-AR" smtClean="0"/>
              <a:t>8</a:t>
            </a:fld>
            <a:endParaRPr lang="es-AR"/>
          </a:p>
        </p:txBody>
      </p:sp>
    </p:spTree>
    <p:extLst>
      <p:ext uri="{BB962C8B-B14F-4D97-AF65-F5344CB8AC3E}">
        <p14:creationId xmlns:p14="http://schemas.microsoft.com/office/powerpoint/2010/main" val="416027760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885C81-B493-5391-37B6-81044148C28F}"/>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FEE22E90-D736-8919-A796-A0B0791C81A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87BBF922-A048-7026-9548-C334FFB61F32}"/>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183DD79-2B1E-66C8-B1E4-B28CB86AC6EA}"/>
              </a:ext>
            </a:extLst>
          </p:cNvPr>
          <p:cNvSpPr>
            <a:spLocks noGrp="1"/>
          </p:cNvSpPr>
          <p:nvPr>
            <p:ph type="sldNum" sz="quarter" idx="5"/>
          </p:nvPr>
        </p:nvSpPr>
        <p:spPr/>
        <p:txBody>
          <a:bodyPr/>
          <a:lstStyle/>
          <a:p>
            <a:fld id="{C1D98BD3-67FD-417A-9AF9-32392348CD2B}" type="slidenum">
              <a:rPr lang="es-AR" smtClean="0"/>
              <a:t>9</a:t>
            </a:fld>
            <a:endParaRPr lang="es-AR"/>
          </a:p>
        </p:txBody>
      </p:sp>
    </p:spTree>
    <p:extLst>
      <p:ext uri="{BB962C8B-B14F-4D97-AF65-F5344CB8AC3E}">
        <p14:creationId xmlns:p14="http://schemas.microsoft.com/office/powerpoint/2010/main" val="370180726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12</a:t>
            </a:fld>
            <a:endParaRPr lang="es-AR"/>
          </a:p>
        </p:txBody>
      </p:sp>
    </p:spTree>
    <p:extLst>
      <p:ext uri="{BB962C8B-B14F-4D97-AF65-F5344CB8AC3E}">
        <p14:creationId xmlns:p14="http://schemas.microsoft.com/office/powerpoint/2010/main" val="7174244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78DF81B-1151-AD4B-5530-7E5C4E50FD84}"/>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536F5643-B4FE-5DA4-9DBF-6EE40CC6E87A}"/>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B509F624-CAB2-4F91-BD5A-86F361BD903F}"/>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227DB2D-9975-7A88-F95C-596F1FE00D25}"/>
              </a:ext>
            </a:extLst>
          </p:cNvPr>
          <p:cNvSpPr>
            <a:spLocks noGrp="1"/>
          </p:cNvSpPr>
          <p:nvPr>
            <p:ph type="sldNum" sz="quarter" idx="5"/>
          </p:nvPr>
        </p:nvSpPr>
        <p:spPr/>
        <p:txBody>
          <a:bodyPr/>
          <a:lstStyle/>
          <a:p>
            <a:fld id="{C1D98BD3-67FD-417A-9AF9-32392348CD2B}" type="slidenum">
              <a:rPr lang="es-AR" smtClean="0"/>
              <a:t>16</a:t>
            </a:fld>
            <a:endParaRPr lang="es-AR"/>
          </a:p>
        </p:txBody>
      </p:sp>
    </p:spTree>
    <p:extLst>
      <p:ext uri="{BB962C8B-B14F-4D97-AF65-F5344CB8AC3E}">
        <p14:creationId xmlns:p14="http://schemas.microsoft.com/office/powerpoint/2010/main" val="29479380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17</a:t>
            </a:fld>
            <a:endParaRPr lang="es-AR"/>
          </a:p>
        </p:txBody>
      </p:sp>
    </p:spTree>
    <p:extLst>
      <p:ext uri="{BB962C8B-B14F-4D97-AF65-F5344CB8AC3E}">
        <p14:creationId xmlns:p14="http://schemas.microsoft.com/office/powerpoint/2010/main" val="11348964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23</a:t>
            </a:fld>
            <a:endParaRPr lang="es-AR"/>
          </a:p>
        </p:txBody>
      </p:sp>
    </p:spTree>
    <p:extLst>
      <p:ext uri="{BB962C8B-B14F-4D97-AF65-F5344CB8AC3E}">
        <p14:creationId xmlns:p14="http://schemas.microsoft.com/office/powerpoint/2010/main" val="39204546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E04B39-6C35-269B-BAAB-BE816409CD30}"/>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84524A1B-F27F-AF13-3173-FDCEF769B57D}"/>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9C4812C-3887-154B-41D7-B45AA7E4E471}"/>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665BB510-03BF-63F7-8095-D77BB7F3ADD3}"/>
              </a:ext>
            </a:extLst>
          </p:cNvPr>
          <p:cNvSpPr>
            <a:spLocks noGrp="1"/>
          </p:cNvSpPr>
          <p:nvPr>
            <p:ph type="sldNum" sz="quarter" idx="5"/>
          </p:nvPr>
        </p:nvSpPr>
        <p:spPr/>
        <p:txBody>
          <a:bodyPr/>
          <a:lstStyle/>
          <a:p>
            <a:fld id="{C1D98BD3-67FD-417A-9AF9-32392348CD2B}" type="slidenum">
              <a:rPr lang="es-AR" smtClean="0"/>
              <a:t>24</a:t>
            </a:fld>
            <a:endParaRPr lang="es-AR"/>
          </a:p>
        </p:txBody>
      </p:sp>
    </p:spTree>
    <p:extLst>
      <p:ext uri="{BB962C8B-B14F-4D97-AF65-F5344CB8AC3E}">
        <p14:creationId xmlns:p14="http://schemas.microsoft.com/office/powerpoint/2010/main" val="36691886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FB2C5B-10A4-8B9E-7202-F3C07069454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31506CAF-80D8-169D-946C-7186091054A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5919B91B-5A65-EFD3-4EBB-0220BE0EFBE0}"/>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38256EEF-5563-C09D-3A6E-03644F52122C}"/>
              </a:ext>
            </a:extLst>
          </p:cNvPr>
          <p:cNvSpPr>
            <a:spLocks noGrp="1"/>
          </p:cNvSpPr>
          <p:nvPr>
            <p:ph type="sldNum" sz="quarter" idx="5"/>
          </p:nvPr>
        </p:nvSpPr>
        <p:spPr/>
        <p:txBody>
          <a:bodyPr/>
          <a:lstStyle/>
          <a:p>
            <a:fld id="{C1D98BD3-67FD-417A-9AF9-32392348CD2B}" type="slidenum">
              <a:rPr lang="es-AR" smtClean="0"/>
              <a:t>25</a:t>
            </a:fld>
            <a:endParaRPr lang="es-AR"/>
          </a:p>
        </p:txBody>
      </p:sp>
    </p:spTree>
    <p:extLst>
      <p:ext uri="{BB962C8B-B14F-4D97-AF65-F5344CB8AC3E}">
        <p14:creationId xmlns:p14="http://schemas.microsoft.com/office/powerpoint/2010/main" val="115233144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26</a:t>
            </a:fld>
            <a:endParaRPr lang="es-AR"/>
          </a:p>
        </p:txBody>
      </p:sp>
    </p:spTree>
    <p:extLst>
      <p:ext uri="{BB962C8B-B14F-4D97-AF65-F5344CB8AC3E}">
        <p14:creationId xmlns:p14="http://schemas.microsoft.com/office/powerpoint/2010/main" val="25848649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DD80A9-C9EF-B14B-BB00-D0057FD2F138}"/>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1849EA11-DA83-5469-67AE-0FD31C50AF8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96240F51-13FF-9C59-F545-27CA8679963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D4AE295-86AB-745E-2388-C523115D36E2}"/>
              </a:ext>
            </a:extLst>
          </p:cNvPr>
          <p:cNvSpPr>
            <a:spLocks noGrp="1"/>
          </p:cNvSpPr>
          <p:nvPr>
            <p:ph type="sldNum" sz="quarter" idx="5"/>
          </p:nvPr>
        </p:nvSpPr>
        <p:spPr/>
        <p:txBody>
          <a:bodyPr/>
          <a:lstStyle/>
          <a:p>
            <a:fld id="{C1D98BD3-67FD-417A-9AF9-32392348CD2B}" type="slidenum">
              <a:rPr lang="es-AR" smtClean="0"/>
              <a:t>27</a:t>
            </a:fld>
            <a:endParaRPr lang="es-AR"/>
          </a:p>
        </p:txBody>
      </p:sp>
    </p:spTree>
    <p:extLst>
      <p:ext uri="{BB962C8B-B14F-4D97-AF65-F5344CB8AC3E}">
        <p14:creationId xmlns:p14="http://schemas.microsoft.com/office/powerpoint/2010/main" val="291435114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29</a:t>
            </a:fld>
            <a:endParaRPr lang="es-AR"/>
          </a:p>
        </p:txBody>
      </p:sp>
    </p:spTree>
    <p:extLst>
      <p:ext uri="{BB962C8B-B14F-4D97-AF65-F5344CB8AC3E}">
        <p14:creationId xmlns:p14="http://schemas.microsoft.com/office/powerpoint/2010/main" val="31597673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F67848-9D9D-0622-D50E-D99BD330CDE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4910E59-0F10-BE68-2586-CAF5F6C9A33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600C5E1D-E290-BC6F-3A7D-4752BC142A6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FBB5DD74-7096-7070-912C-6B0981B74880}"/>
              </a:ext>
            </a:extLst>
          </p:cNvPr>
          <p:cNvSpPr>
            <a:spLocks noGrp="1"/>
          </p:cNvSpPr>
          <p:nvPr>
            <p:ph type="sldNum" sz="quarter" idx="5"/>
          </p:nvPr>
        </p:nvSpPr>
        <p:spPr/>
        <p:txBody>
          <a:bodyPr/>
          <a:lstStyle/>
          <a:p>
            <a:fld id="{C1D98BD3-67FD-417A-9AF9-32392348CD2B}" type="slidenum">
              <a:rPr lang="es-AR" smtClean="0"/>
              <a:t>30</a:t>
            </a:fld>
            <a:endParaRPr lang="es-AR"/>
          </a:p>
        </p:txBody>
      </p:sp>
    </p:spTree>
    <p:extLst>
      <p:ext uri="{BB962C8B-B14F-4D97-AF65-F5344CB8AC3E}">
        <p14:creationId xmlns:p14="http://schemas.microsoft.com/office/powerpoint/2010/main" val="185604267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37</a:t>
            </a:fld>
            <a:endParaRPr lang="es-AR"/>
          </a:p>
        </p:txBody>
      </p:sp>
    </p:spTree>
    <p:extLst>
      <p:ext uri="{BB962C8B-B14F-4D97-AF65-F5344CB8AC3E}">
        <p14:creationId xmlns:p14="http://schemas.microsoft.com/office/powerpoint/2010/main" val="204151672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ADAFC5-65D4-B3D4-2766-FF7D685456D3}"/>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6B6FE98D-5DB6-04C3-EE7B-D33FEFCF76C9}"/>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CD705258-96E2-BE8A-F00D-7005B1710EC3}"/>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0A533253-83C8-7948-926E-4CE1EB92A78F}"/>
              </a:ext>
            </a:extLst>
          </p:cNvPr>
          <p:cNvSpPr>
            <a:spLocks noGrp="1"/>
          </p:cNvSpPr>
          <p:nvPr>
            <p:ph type="sldNum" sz="quarter" idx="5"/>
          </p:nvPr>
        </p:nvSpPr>
        <p:spPr/>
        <p:txBody>
          <a:bodyPr/>
          <a:lstStyle/>
          <a:p>
            <a:fld id="{C1D98BD3-67FD-417A-9AF9-32392348CD2B}" type="slidenum">
              <a:rPr lang="es-AR" smtClean="0"/>
              <a:t>38</a:t>
            </a:fld>
            <a:endParaRPr lang="es-AR"/>
          </a:p>
        </p:txBody>
      </p:sp>
    </p:spTree>
    <p:extLst>
      <p:ext uri="{BB962C8B-B14F-4D97-AF65-F5344CB8AC3E}">
        <p14:creationId xmlns:p14="http://schemas.microsoft.com/office/powerpoint/2010/main" val="341895172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071481-52A4-CD91-08A1-57AFFDBD8E5D}"/>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9065ADA5-76B8-12A3-B6F7-C8E9EECF9037}"/>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A807FD4C-BAD3-4754-1E57-C5EAC28AB0E9}"/>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8725C496-E44F-4545-6904-DE2ED6166F47}"/>
              </a:ext>
            </a:extLst>
          </p:cNvPr>
          <p:cNvSpPr>
            <a:spLocks noGrp="1"/>
          </p:cNvSpPr>
          <p:nvPr>
            <p:ph type="sldNum" sz="quarter" idx="5"/>
          </p:nvPr>
        </p:nvSpPr>
        <p:spPr/>
        <p:txBody>
          <a:bodyPr/>
          <a:lstStyle/>
          <a:p>
            <a:fld id="{C1D98BD3-67FD-417A-9AF9-32392348CD2B}" type="slidenum">
              <a:rPr lang="es-AR" smtClean="0"/>
              <a:t>39</a:t>
            </a:fld>
            <a:endParaRPr lang="es-AR"/>
          </a:p>
        </p:txBody>
      </p:sp>
    </p:spTree>
    <p:extLst>
      <p:ext uri="{BB962C8B-B14F-4D97-AF65-F5344CB8AC3E}">
        <p14:creationId xmlns:p14="http://schemas.microsoft.com/office/powerpoint/2010/main" val="3373508629"/>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396D20-8A54-7986-2DD6-56E6F2D89301}"/>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2B8145ED-D258-7F50-F41C-64C0F8D1C87C}"/>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073041C5-8156-09FD-441C-88F41DBAC44B}"/>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D987E134-9023-0EC9-2FB2-29E110DCC090}"/>
              </a:ext>
            </a:extLst>
          </p:cNvPr>
          <p:cNvSpPr>
            <a:spLocks noGrp="1"/>
          </p:cNvSpPr>
          <p:nvPr>
            <p:ph type="sldNum" sz="quarter" idx="5"/>
          </p:nvPr>
        </p:nvSpPr>
        <p:spPr/>
        <p:txBody>
          <a:bodyPr/>
          <a:lstStyle/>
          <a:p>
            <a:fld id="{C1D98BD3-67FD-417A-9AF9-32392348CD2B}" type="slidenum">
              <a:rPr lang="es-AR" smtClean="0"/>
              <a:t>41</a:t>
            </a:fld>
            <a:endParaRPr lang="es-AR"/>
          </a:p>
        </p:txBody>
      </p:sp>
    </p:spTree>
    <p:extLst>
      <p:ext uri="{BB962C8B-B14F-4D97-AF65-F5344CB8AC3E}">
        <p14:creationId xmlns:p14="http://schemas.microsoft.com/office/powerpoint/2010/main" val="2002812832"/>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1019A9-3769-DD4B-F4A7-34BD523FAD07}"/>
            </a:ext>
          </a:extLst>
        </p:cNvPr>
        <p:cNvGrpSpPr/>
        <p:nvPr/>
      </p:nvGrpSpPr>
      <p:grpSpPr>
        <a:xfrm>
          <a:off x="0" y="0"/>
          <a:ext cx="0" cy="0"/>
          <a:chOff x="0" y="0"/>
          <a:chExt cx="0" cy="0"/>
        </a:xfrm>
      </p:grpSpPr>
      <p:sp>
        <p:nvSpPr>
          <p:cNvPr id="2" name="Marcador de imagen de diapositiva 1">
            <a:extLst>
              <a:ext uri="{FF2B5EF4-FFF2-40B4-BE49-F238E27FC236}">
                <a16:creationId xmlns:a16="http://schemas.microsoft.com/office/drawing/2014/main" id="{B297F0B3-E86E-70EB-8F3F-7579F91AEDD2}"/>
              </a:ext>
            </a:extLst>
          </p:cNvPr>
          <p:cNvSpPr>
            <a:spLocks noGrp="1" noRot="1" noChangeAspect="1"/>
          </p:cNvSpPr>
          <p:nvPr>
            <p:ph type="sldImg"/>
          </p:nvPr>
        </p:nvSpPr>
        <p:spPr/>
      </p:sp>
      <p:sp>
        <p:nvSpPr>
          <p:cNvPr id="3" name="Marcador de notas 2">
            <a:extLst>
              <a:ext uri="{FF2B5EF4-FFF2-40B4-BE49-F238E27FC236}">
                <a16:creationId xmlns:a16="http://schemas.microsoft.com/office/drawing/2014/main" id="{DAA41169-44EF-5A93-D02D-03DC016E0F45}"/>
              </a:ext>
            </a:extLst>
          </p:cNvPr>
          <p:cNvSpPr>
            <a:spLocks noGrp="1"/>
          </p:cNvSpPr>
          <p:nvPr>
            <p:ph type="body" idx="1"/>
          </p:nvPr>
        </p:nvSpPr>
        <p:spPr/>
        <p:txBody>
          <a:bodyPr/>
          <a:lstStyle/>
          <a:p>
            <a:endParaRPr lang="es-AR" dirty="0"/>
          </a:p>
        </p:txBody>
      </p:sp>
      <p:sp>
        <p:nvSpPr>
          <p:cNvPr id="4" name="Marcador de número de diapositiva 3">
            <a:extLst>
              <a:ext uri="{FF2B5EF4-FFF2-40B4-BE49-F238E27FC236}">
                <a16:creationId xmlns:a16="http://schemas.microsoft.com/office/drawing/2014/main" id="{766238AE-1065-3693-3C15-DDB7D7FDB47C}"/>
              </a:ext>
            </a:extLst>
          </p:cNvPr>
          <p:cNvSpPr>
            <a:spLocks noGrp="1"/>
          </p:cNvSpPr>
          <p:nvPr>
            <p:ph type="sldNum" sz="quarter" idx="5"/>
          </p:nvPr>
        </p:nvSpPr>
        <p:spPr/>
        <p:txBody>
          <a:bodyPr/>
          <a:lstStyle/>
          <a:p>
            <a:fld id="{C1D98BD3-67FD-417A-9AF9-32392348CD2B}" type="slidenum">
              <a:rPr lang="es-AR" smtClean="0"/>
              <a:t>42</a:t>
            </a:fld>
            <a:endParaRPr lang="es-AR"/>
          </a:p>
        </p:txBody>
      </p:sp>
    </p:spTree>
    <p:extLst>
      <p:ext uri="{BB962C8B-B14F-4D97-AF65-F5344CB8AC3E}">
        <p14:creationId xmlns:p14="http://schemas.microsoft.com/office/powerpoint/2010/main" val="52571790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43</a:t>
            </a:fld>
            <a:endParaRPr lang="es-AR"/>
          </a:p>
        </p:txBody>
      </p:sp>
    </p:spTree>
    <p:extLst>
      <p:ext uri="{BB962C8B-B14F-4D97-AF65-F5344CB8AC3E}">
        <p14:creationId xmlns:p14="http://schemas.microsoft.com/office/powerpoint/2010/main" val="21409616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Marcador de imagen de diapositiva 1"/>
          <p:cNvSpPr>
            <a:spLocks noGrp="1" noRot="1" noChangeAspect="1"/>
          </p:cNvSpPr>
          <p:nvPr>
            <p:ph type="sldImg"/>
          </p:nvPr>
        </p:nvSpPr>
        <p:spPr/>
      </p:sp>
      <p:sp>
        <p:nvSpPr>
          <p:cNvPr id="3" name="Marcador de notas 2"/>
          <p:cNvSpPr>
            <a:spLocks noGrp="1"/>
          </p:cNvSpPr>
          <p:nvPr>
            <p:ph type="body" idx="1"/>
          </p:nvPr>
        </p:nvSpPr>
        <p:spPr/>
        <p:txBody>
          <a:bodyPr/>
          <a:lstStyle/>
          <a:p>
            <a:endParaRPr lang="es-AR" dirty="0"/>
          </a:p>
        </p:txBody>
      </p:sp>
      <p:sp>
        <p:nvSpPr>
          <p:cNvPr id="4" name="Marcador de número de diapositiva 3"/>
          <p:cNvSpPr>
            <a:spLocks noGrp="1"/>
          </p:cNvSpPr>
          <p:nvPr>
            <p:ph type="sldNum" sz="quarter" idx="5"/>
          </p:nvPr>
        </p:nvSpPr>
        <p:spPr/>
        <p:txBody>
          <a:bodyPr/>
          <a:lstStyle/>
          <a:p>
            <a:fld id="{C1D98BD3-67FD-417A-9AF9-32392348CD2B}" type="slidenum">
              <a:rPr lang="es-AR" smtClean="0"/>
              <a:t>47</a:t>
            </a:fld>
            <a:endParaRPr lang="es-AR"/>
          </a:p>
        </p:txBody>
      </p:sp>
    </p:spTree>
    <p:extLst>
      <p:ext uri="{BB962C8B-B14F-4D97-AF65-F5344CB8AC3E}">
        <p14:creationId xmlns:p14="http://schemas.microsoft.com/office/powerpoint/2010/main" val="39814488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6BBCA1C-5B19-DE37-E5ED-99CFE7E48ED4}"/>
              </a:ext>
            </a:extLst>
          </p:cNvPr>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endParaRPr lang="es-AR"/>
          </a:p>
        </p:txBody>
      </p:sp>
      <p:sp>
        <p:nvSpPr>
          <p:cNvPr id="3" name="Subtítulo 2">
            <a:extLst>
              <a:ext uri="{FF2B5EF4-FFF2-40B4-BE49-F238E27FC236}">
                <a16:creationId xmlns:a16="http://schemas.microsoft.com/office/drawing/2014/main" id="{1422A503-5052-641C-038B-1A3968F207A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modificar el estilo de subtítulo del patrón</a:t>
            </a:r>
            <a:endParaRPr lang="es-AR"/>
          </a:p>
        </p:txBody>
      </p:sp>
      <p:sp>
        <p:nvSpPr>
          <p:cNvPr id="4" name="Marcador de fecha 3">
            <a:extLst>
              <a:ext uri="{FF2B5EF4-FFF2-40B4-BE49-F238E27FC236}">
                <a16:creationId xmlns:a16="http://schemas.microsoft.com/office/drawing/2014/main" id="{96228D17-C960-0D11-F85B-A3E6528E0706}"/>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21CAFBAD-1CD1-26CC-4DB2-4E1ED09CA974}"/>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D101F5F9-27B4-B0DF-B4CE-EFDE6B586BAC}"/>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21224689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E2E125-3E73-DD83-7378-24A9D8D45DD2}"/>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ECBAC992-766F-B5DD-927A-BDE60BBFC342}"/>
              </a:ext>
            </a:extLst>
          </p:cNvPr>
          <p:cNvSpPr>
            <a:spLocks noGrp="1"/>
          </p:cNvSpPr>
          <p:nvPr>
            <p:ph idx="1"/>
          </p:nvPr>
        </p:nvSpPr>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3C04AA8B-66B5-9F3F-2B75-2D7500133D75}"/>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528557F9-491D-1D40-4C70-80C759958316}"/>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F255DB64-1477-7879-A204-BA8F3698E9F8}"/>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29716961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558A631-C051-20B2-C7A1-C66CFC0A085E}"/>
              </a:ext>
            </a:extLst>
          </p:cNvPr>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6211D05D-5B34-B9D5-1DC8-FF18EACAD095}"/>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s-ES"/>
              <a:t>Haga clic para modificar los estilos de texto del patrón</a:t>
            </a:r>
          </a:p>
        </p:txBody>
      </p:sp>
      <p:sp>
        <p:nvSpPr>
          <p:cNvPr id="4" name="Marcador de fecha 3">
            <a:extLst>
              <a:ext uri="{FF2B5EF4-FFF2-40B4-BE49-F238E27FC236}">
                <a16:creationId xmlns:a16="http://schemas.microsoft.com/office/drawing/2014/main" id="{A2B429AE-926B-1E79-EAD1-562B423D1134}"/>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F215ED3B-1A73-CBC5-723E-BD53429B421D}"/>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B22D8D44-5EC5-1602-2943-3A1265B77541}"/>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15723345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5E2E56E-FC89-70A6-71A7-A0303317123F}"/>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3D917FBD-06AF-5677-7754-61D8F93ECB71}"/>
              </a:ext>
            </a:extLst>
          </p:cNvPr>
          <p:cNvSpPr>
            <a:spLocks noGrp="1"/>
          </p:cNvSpPr>
          <p:nvPr>
            <p:ph sz="half" idx="1"/>
          </p:nvPr>
        </p:nvSpPr>
        <p:spPr>
          <a:xfrm>
            <a:off x="838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contenido 3">
            <a:extLst>
              <a:ext uri="{FF2B5EF4-FFF2-40B4-BE49-F238E27FC236}">
                <a16:creationId xmlns:a16="http://schemas.microsoft.com/office/drawing/2014/main" id="{0EE7B5C1-B8D2-411D-ACC0-97AEAF1B29E5}"/>
              </a:ext>
            </a:extLst>
          </p:cNvPr>
          <p:cNvSpPr>
            <a:spLocks noGrp="1"/>
          </p:cNvSpPr>
          <p:nvPr>
            <p:ph sz="half" idx="2"/>
          </p:nvPr>
        </p:nvSpPr>
        <p:spPr>
          <a:xfrm>
            <a:off x="6172200" y="1825625"/>
            <a:ext cx="5181600" cy="435133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fecha 4">
            <a:extLst>
              <a:ext uri="{FF2B5EF4-FFF2-40B4-BE49-F238E27FC236}">
                <a16:creationId xmlns:a16="http://schemas.microsoft.com/office/drawing/2014/main" id="{785F5AD2-8E59-88E1-B854-C0B7741E685F}"/>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6" name="Marcador de pie de página 5">
            <a:extLst>
              <a:ext uri="{FF2B5EF4-FFF2-40B4-BE49-F238E27FC236}">
                <a16:creationId xmlns:a16="http://schemas.microsoft.com/office/drawing/2014/main" id="{5CC50E9D-5119-E09F-109A-8B8435D29A0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560683F9-0442-0C33-DA9C-06E0655BC19D}"/>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35887905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F6C599-8BD4-306B-B589-C9D33AA60FE2}"/>
              </a:ext>
            </a:extLst>
          </p:cNvPr>
          <p:cNvSpPr>
            <a:spLocks noGrp="1"/>
          </p:cNvSpPr>
          <p:nvPr>
            <p:ph type="title"/>
          </p:nvPr>
        </p:nvSpPr>
        <p:spPr>
          <a:xfrm>
            <a:off x="839788" y="365125"/>
            <a:ext cx="10515600" cy="1325563"/>
          </a:xfrm>
        </p:spPr>
        <p:txBody>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D31A1FCD-EF3D-30D9-25FC-FAC00EECC73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4" name="Marcador de contenido 3">
            <a:extLst>
              <a:ext uri="{FF2B5EF4-FFF2-40B4-BE49-F238E27FC236}">
                <a16:creationId xmlns:a16="http://schemas.microsoft.com/office/drawing/2014/main" id="{54064353-5580-4FEF-D710-E8FB8909B8D0}"/>
              </a:ext>
            </a:extLst>
          </p:cNvPr>
          <p:cNvSpPr>
            <a:spLocks noGrp="1"/>
          </p:cNvSpPr>
          <p:nvPr>
            <p:ph sz="half" idx="2"/>
          </p:nvPr>
        </p:nvSpPr>
        <p:spPr>
          <a:xfrm>
            <a:off x="839788" y="2505075"/>
            <a:ext cx="5157787"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5" name="Marcador de texto 4">
            <a:extLst>
              <a:ext uri="{FF2B5EF4-FFF2-40B4-BE49-F238E27FC236}">
                <a16:creationId xmlns:a16="http://schemas.microsoft.com/office/drawing/2014/main" id="{300858DC-F855-789B-83C2-E0897DDA018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Haga clic para modificar los estilos de texto del patrón</a:t>
            </a:r>
          </a:p>
        </p:txBody>
      </p:sp>
      <p:sp>
        <p:nvSpPr>
          <p:cNvPr id="6" name="Marcador de contenido 5">
            <a:extLst>
              <a:ext uri="{FF2B5EF4-FFF2-40B4-BE49-F238E27FC236}">
                <a16:creationId xmlns:a16="http://schemas.microsoft.com/office/drawing/2014/main" id="{130ADA4E-8A76-3017-780C-951B36196CFA}"/>
              </a:ext>
            </a:extLst>
          </p:cNvPr>
          <p:cNvSpPr>
            <a:spLocks noGrp="1"/>
          </p:cNvSpPr>
          <p:nvPr>
            <p:ph sz="quarter" idx="4"/>
          </p:nvPr>
        </p:nvSpPr>
        <p:spPr>
          <a:xfrm>
            <a:off x="6172200" y="2505075"/>
            <a:ext cx="5183188" cy="3684588"/>
          </a:xfrm>
        </p:spPr>
        <p:txBody>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7" name="Marcador de fecha 6">
            <a:extLst>
              <a:ext uri="{FF2B5EF4-FFF2-40B4-BE49-F238E27FC236}">
                <a16:creationId xmlns:a16="http://schemas.microsoft.com/office/drawing/2014/main" id="{2A0C1D47-99A6-2C32-5B6E-08DAC7B1F708}"/>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8" name="Marcador de pie de página 7">
            <a:extLst>
              <a:ext uri="{FF2B5EF4-FFF2-40B4-BE49-F238E27FC236}">
                <a16:creationId xmlns:a16="http://schemas.microsoft.com/office/drawing/2014/main" id="{B977C53B-76A6-EBE0-B681-390CA79DA8DC}"/>
              </a:ext>
            </a:extLst>
          </p:cNvPr>
          <p:cNvSpPr>
            <a:spLocks noGrp="1"/>
          </p:cNvSpPr>
          <p:nvPr>
            <p:ph type="ftr" sz="quarter" idx="11"/>
          </p:nvPr>
        </p:nvSpPr>
        <p:spPr/>
        <p:txBody>
          <a:bodyPr/>
          <a:lstStyle/>
          <a:p>
            <a:endParaRPr lang="es-AR"/>
          </a:p>
        </p:txBody>
      </p:sp>
      <p:sp>
        <p:nvSpPr>
          <p:cNvPr id="9" name="Marcador de número de diapositiva 8">
            <a:extLst>
              <a:ext uri="{FF2B5EF4-FFF2-40B4-BE49-F238E27FC236}">
                <a16:creationId xmlns:a16="http://schemas.microsoft.com/office/drawing/2014/main" id="{30006DD9-6117-277F-E7FF-1E192A74BF81}"/>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380522260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0500B6B-A5C9-356B-B67F-46B0BC08F736}"/>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fecha 2">
            <a:extLst>
              <a:ext uri="{FF2B5EF4-FFF2-40B4-BE49-F238E27FC236}">
                <a16:creationId xmlns:a16="http://schemas.microsoft.com/office/drawing/2014/main" id="{92EA92EC-4F5D-7B38-B540-3B0799A07124}"/>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4" name="Marcador de pie de página 3">
            <a:extLst>
              <a:ext uri="{FF2B5EF4-FFF2-40B4-BE49-F238E27FC236}">
                <a16:creationId xmlns:a16="http://schemas.microsoft.com/office/drawing/2014/main" id="{E5C25619-6FF9-447B-A519-7B399AC58604}"/>
              </a:ext>
            </a:extLst>
          </p:cNvPr>
          <p:cNvSpPr>
            <a:spLocks noGrp="1"/>
          </p:cNvSpPr>
          <p:nvPr>
            <p:ph type="ftr" sz="quarter" idx="11"/>
          </p:nvPr>
        </p:nvSpPr>
        <p:spPr/>
        <p:txBody>
          <a:bodyPr/>
          <a:lstStyle/>
          <a:p>
            <a:endParaRPr lang="es-AR"/>
          </a:p>
        </p:txBody>
      </p:sp>
      <p:sp>
        <p:nvSpPr>
          <p:cNvPr id="5" name="Marcador de número de diapositiva 4">
            <a:extLst>
              <a:ext uri="{FF2B5EF4-FFF2-40B4-BE49-F238E27FC236}">
                <a16:creationId xmlns:a16="http://schemas.microsoft.com/office/drawing/2014/main" id="{67789F3F-3969-1667-92FD-0AAD299EF295}"/>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24137082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a:extLst>
              <a:ext uri="{FF2B5EF4-FFF2-40B4-BE49-F238E27FC236}">
                <a16:creationId xmlns:a16="http://schemas.microsoft.com/office/drawing/2014/main" id="{157A8D63-5D86-8D62-5AA8-41D34D17023A}"/>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3" name="Marcador de pie de página 2">
            <a:extLst>
              <a:ext uri="{FF2B5EF4-FFF2-40B4-BE49-F238E27FC236}">
                <a16:creationId xmlns:a16="http://schemas.microsoft.com/office/drawing/2014/main" id="{9A248D97-3149-C776-2C6B-470BF0484151}"/>
              </a:ext>
            </a:extLst>
          </p:cNvPr>
          <p:cNvSpPr>
            <a:spLocks noGrp="1"/>
          </p:cNvSpPr>
          <p:nvPr>
            <p:ph type="ftr" sz="quarter" idx="11"/>
          </p:nvPr>
        </p:nvSpPr>
        <p:spPr/>
        <p:txBody>
          <a:bodyPr/>
          <a:lstStyle/>
          <a:p>
            <a:endParaRPr lang="es-AR"/>
          </a:p>
        </p:txBody>
      </p:sp>
      <p:sp>
        <p:nvSpPr>
          <p:cNvPr id="4" name="Marcador de número de diapositiva 3">
            <a:extLst>
              <a:ext uri="{FF2B5EF4-FFF2-40B4-BE49-F238E27FC236}">
                <a16:creationId xmlns:a16="http://schemas.microsoft.com/office/drawing/2014/main" id="{D4A1A174-A167-0AEA-4F8D-A8A346005A17}"/>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292463348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9A540A-6433-F869-024C-933DB8B51822}"/>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contenido 2">
            <a:extLst>
              <a:ext uri="{FF2B5EF4-FFF2-40B4-BE49-F238E27FC236}">
                <a16:creationId xmlns:a16="http://schemas.microsoft.com/office/drawing/2014/main" id="{151E2F0B-7BB7-9C03-4493-01495661344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texto 3">
            <a:extLst>
              <a:ext uri="{FF2B5EF4-FFF2-40B4-BE49-F238E27FC236}">
                <a16:creationId xmlns:a16="http://schemas.microsoft.com/office/drawing/2014/main" id="{29EEFE5E-C9A3-0F24-B0CD-76AAEFF7C41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B715F85A-849B-E5D8-3EC0-5BAACC8BC28D}"/>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6" name="Marcador de pie de página 5">
            <a:extLst>
              <a:ext uri="{FF2B5EF4-FFF2-40B4-BE49-F238E27FC236}">
                <a16:creationId xmlns:a16="http://schemas.microsoft.com/office/drawing/2014/main" id="{E89840A1-6265-8C99-1F17-58710D21464E}"/>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229F06BD-8DD9-B304-C389-ABAECCB9F803}"/>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123939605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E067C44-BDAF-CBAD-D550-DA125E725534}"/>
              </a:ext>
            </a:extLst>
          </p:cNvPr>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endParaRPr lang="es-AR"/>
          </a:p>
        </p:txBody>
      </p:sp>
      <p:sp>
        <p:nvSpPr>
          <p:cNvPr id="3" name="Marcador de posición de imagen 2">
            <a:extLst>
              <a:ext uri="{FF2B5EF4-FFF2-40B4-BE49-F238E27FC236}">
                <a16:creationId xmlns:a16="http://schemas.microsoft.com/office/drawing/2014/main" id="{285CD922-F649-C996-571F-20AE05EED1C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AR"/>
          </a:p>
        </p:txBody>
      </p:sp>
      <p:sp>
        <p:nvSpPr>
          <p:cNvPr id="4" name="Marcador de texto 3">
            <a:extLst>
              <a:ext uri="{FF2B5EF4-FFF2-40B4-BE49-F238E27FC236}">
                <a16:creationId xmlns:a16="http://schemas.microsoft.com/office/drawing/2014/main" id="{E0540235-3706-7E68-A9AC-148FF344CB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Haga clic para modificar los estilos de texto del patrón</a:t>
            </a:r>
          </a:p>
        </p:txBody>
      </p:sp>
      <p:sp>
        <p:nvSpPr>
          <p:cNvPr id="5" name="Marcador de fecha 4">
            <a:extLst>
              <a:ext uri="{FF2B5EF4-FFF2-40B4-BE49-F238E27FC236}">
                <a16:creationId xmlns:a16="http://schemas.microsoft.com/office/drawing/2014/main" id="{7F7662C0-4C73-823E-8BF7-FCE7117D6825}"/>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6" name="Marcador de pie de página 5">
            <a:extLst>
              <a:ext uri="{FF2B5EF4-FFF2-40B4-BE49-F238E27FC236}">
                <a16:creationId xmlns:a16="http://schemas.microsoft.com/office/drawing/2014/main" id="{D68D1C3B-4D53-FBAF-D175-BC81284274B2}"/>
              </a:ext>
            </a:extLst>
          </p:cNvPr>
          <p:cNvSpPr>
            <a:spLocks noGrp="1"/>
          </p:cNvSpPr>
          <p:nvPr>
            <p:ph type="ftr" sz="quarter" idx="11"/>
          </p:nvPr>
        </p:nvSpPr>
        <p:spPr/>
        <p:txBody>
          <a:bodyPr/>
          <a:lstStyle/>
          <a:p>
            <a:endParaRPr lang="es-AR"/>
          </a:p>
        </p:txBody>
      </p:sp>
      <p:sp>
        <p:nvSpPr>
          <p:cNvPr id="7" name="Marcador de número de diapositiva 6">
            <a:extLst>
              <a:ext uri="{FF2B5EF4-FFF2-40B4-BE49-F238E27FC236}">
                <a16:creationId xmlns:a16="http://schemas.microsoft.com/office/drawing/2014/main" id="{6C7DB657-DFA8-30D3-1C8A-A0777268D273}"/>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34942134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816966B-E2F4-4BA0-44DA-A89B15DEE3C5}"/>
              </a:ext>
            </a:extLst>
          </p:cNvPr>
          <p:cNvSpPr>
            <a:spLocks noGrp="1"/>
          </p:cNvSpPr>
          <p:nvPr>
            <p:ph type="title"/>
          </p:nvPr>
        </p:nvSpPr>
        <p:spPr/>
        <p:txBody>
          <a:bodyPr/>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5B7E43AD-98BF-09A8-34DC-415FF5CF599D}"/>
              </a:ext>
            </a:extLst>
          </p:cNvPr>
          <p:cNvSpPr>
            <a:spLocks noGrp="1"/>
          </p:cNvSpPr>
          <p:nvPr>
            <p:ph type="body" orient="vert" idx="1"/>
          </p:nvPr>
        </p:nvSpPr>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061EC0CA-565C-6DE8-B3BD-1F30E345C77D}"/>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0DF774E6-1FDD-C808-449A-3E8ECD31CAF3}"/>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533E410A-7FAC-1A22-5E73-08B6FDBFC1C9}"/>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37747727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a:extLst>
              <a:ext uri="{FF2B5EF4-FFF2-40B4-BE49-F238E27FC236}">
                <a16:creationId xmlns:a16="http://schemas.microsoft.com/office/drawing/2014/main" id="{36E4EB8B-33D8-150E-AC5D-8398319213B0}"/>
              </a:ext>
            </a:extLst>
          </p:cNvPr>
          <p:cNvSpPr>
            <a:spLocks noGrp="1"/>
          </p:cNvSpPr>
          <p:nvPr>
            <p:ph type="title" orient="vert"/>
          </p:nvPr>
        </p:nvSpPr>
        <p:spPr>
          <a:xfrm>
            <a:off x="8724900" y="365125"/>
            <a:ext cx="2628900" cy="5811838"/>
          </a:xfrm>
        </p:spPr>
        <p:txBody>
          <a:bodyPr vert="eaVert"/>
          <a:lstStyle/>
          <a:p>
            <a:r>
              <a:rPr lang="es-ES"/>
              <a:t>Haga clic para modificar el estilo de título del patrón</a:t>
            </a:r>
            <a:endParaRPr lang="es-AR"/>
          </a:p>
        </p:txBody>
      </p:sp>
      <p:sp>
        <p:nvSpPr>
          <p:cNvPr id="3" name="Marcador de texto vertical 2">
            <a:extLst>
              <a:ext uri="{FF2B5EF4-FFF2-40B4-BE49-F238E27FC236}">
                <a16:creationId xmlns:a16="http://schemas.microsoft.com/office/drawing/2014/main" id="{1BFBD207-7F37-E97F-676D-9939231F0397}"/>
              </a:ext>
            </a:extLst>
          </p:cNvPr>
          <p:cNvSpPr>
            <a:spLocks noGrp="1"/>
          </p:cNvSpPr>
          <p:nvPr>
            <p:ph type="body" orient="vert" idx="1"/>
          </p:nvPr>
        </p:nvSpPr>
        <p:spPr>
          <a:xfrm>
            <a:off x="838200" y="365125"/>
            <a:ext cx="7734300" cy="5811838"/>
          </a:xfrm>
        </p:spPr>
        <p:txBody>
          <a:bodyPr vert="eaVert"/>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F3B19168-64F6-CCF5-6E74-623C52016F6C}"/>
              </a:ext>
            </a:extLst>
          </p:cNvPr>
          <p:cNvSpPr>
            <a:spLocks noGrp="1"/>
          </p:cNvSpPr>
          <p:nvPr>
            <p:ph type="dt" sz="half" idx="10"/>
          </p:nvPr>
        </p:nvSpPr>
        <p:spPr/>
        <p:txBody>
          <a:body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87153374-73B5-5C5F-CE58-F4F009E71ACF}"/>
              </a:ext>
            </a:extLst>
          </p:cNvPr>
          <p:cNvSpPr>
            <a:spLocks noGrp="1"/>
          </p:cNvSpPr>
          <p:nvPr>
            <p:ph type="ftr" sz="quarter" idx="11"/>
          </p:nvPr>
        </p:nvSpPr>
        <p:spPr/>
        <p:txBody>
          <a:bodyPr/>
          <a:lstStyle/>
          <a:p>
            <a:endParaRPr lang="es-AR"/>
          </a:p>
        </p:txBody>
      </p:sp>
      <p:sp>
        <p:nvSpPr>
          <p:cNvPr id="6" name="Marcador de número de diapositiva 5">
            <a:extLst>
              <a:ext uri="{FF2B5EF4-FFF2-40B4-BE49-F238E27FC236}">
                <a16:creationId xmlns:a16="http://schemas.microsoft.com/office/drawing/2014/main" id="{9C11A494-899C-2A82-C9EF-7C8FF465DBA7}"/>
              </a:ext>
            </a:extLst>
          </p:cNvPr>
          <p:cNvSpPr>
            <a:spLocks noGrp="1"/>
          </p:cNvSpPr>
          <p:nvPr>
            <p:ph type="sldNum" sz="quarter" idx="12"/>
          </p:nvPr>
        </p:nvSpPr>
        <p:spPr/>
        <p:txBody>
          <a:bodyPr/>
          <a:lstStyle/>
          <a:p>
            <a:fld id="{B6901C1D-B653-449E-B93B-68F3D8AB43D4}" type="slidenum">
              <a:rPr lang="es-AR" smtClean="0"/>
              <a:t>‹Nº›</a:t>
            </a:fld>
            <a:endParaRPr lang="es-AR"/>
          </a:p>
        </p:txBody>
      </p:sp>
    </p:spTree>
    <p:extLst>
      <p:ext uri="{BB962C8B-B14F-4D97-AF65-F5344CB8AC3E}">
        <p14:creationId xmlns:p14="http://schemas.microsoft.com/office/powerpoint/2010/main" val="144936987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título 1">
            <a:extLst>
              <a:ext uri="{FF2B5EF4-FFF2-40B4-BE49-F238E27FC236}">
                <a16:creationId xmlns:a16="http://schemas.microsoft.com/office/drawing/2014/main" id="{B680FE5A-A8CB-E412-68ED-F166551332C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endParaRPr lang="es-AR"/>
          </a:p>
        </p:txBody>
      </p:sp>
      <p:sp>
        <p:nvSpPr>
          <p:cNvPr id="3" name="Marcador de texto 2">
            <a:extLst>
              <a:ext uri="{FF2B5EF4-FFF2-40B4-BE49-F238E27FC236}">
                <a16:creationId xmlns:a16="http://schemas.microsoft.com/office/drawing/2014/main" id="{9D0698DD-B713-FFDD-D2D1-CE7DB78282FA}"/>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AR"/>
          </a:p>
        </p:txBody>
      </p:sp>
      <p:sp>
        <p:nvSpPr>
          <p:cNvPr id="4" name="Marcador de fecha 3">
            <a:extLst>
              <a:ext uri="{FF2B5EF4-FFF2-40B4-BE49-F238E27FC236}">
                <a16:creationId xmlns:a16="http://schemas.microsoft.com/office/drawing/2014/main" id="{23C00B29-EE59-4EA9-2255-4745A39C17A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6EDAF9B-4986-41EA-8D57-884EDB902D71}" type="datetimeFigureOut">
              <a:rPr lang="es-AR" smtClean="0"/>
              <a:t>14/11/2025</a:t>
            </a:fld>
            <a:endParaRPr lang="es-AR"/>
          </a:p>
        </p:txBody>
      </p:sp>
      <p:sp>
        <p:nvSpPr>
          <p:cNvPr id="5" name="Marcador de pie de página 4">
            <a:extLst>
              <a:ext uri="{FF2B5EF4-FFF2-40B4-BE49-F238E27FC236}">
                <a16:creationId xmlns:a16="http://schemas.microsoft.com/office/drawing/2014/main" id="{26701398-3A98-1551-1C19-DBBA1FA8997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s-AR"/>
          </a:p>
        </p:txBody>
      </p:sp>
      <p:sp>
        <p:nvSpPr>
          <p:cNvPr id="6" name="Marcador de número de diapositiva 5">
            <a:extLst>
              <a:ext uri="{FF2B5EF4-FFF2-40B4-BE49-F238E27FC236}">
                <a16:creationId xmlns:a16="http://schemas.microsoft.com/office/drawing/2014/main" id="{65264EBF-FD0D-5F2B-856F-74AC65123B0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6901C1D-B653-449E-B93B-68F3D8AB43D4}" type="slidenum">
              <a:rPr lang="es-AR" smtClean="0"/>
              <a:t>‹Nº›</a:t>
            </a:fld>
            <a:endParaRPr lang="es-AR"/>
          </a:p>
        </p:txBody>
      </p:sp>
    </p:spTree>
    <p:extLst>
      <p:ext uri="{BB962C8B-B14F-4D97-AF65-F5344CB8AC3E}">
        <p14:creationId xmlns:p14="http://schemas.microsoft.com/office/powerpoint/2010/main" val="5825831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5.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3.png"/><Relationship Id="rId4" Type="http://schemas.openxmlformats.org/officeDocument/2006/relationships/image" Target="../media/image4.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7.wmf"/></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27.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10.wmf"/><Relationship Id="rId2" Type="http://schemas.openxmlformats.org/officeDocument/2006/relationships/oleObject" Target="../embeddings/oleObject2.bin"/><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microsoft.com/office/2007/relationships/hdphoto" Target="../media/hdphoto1.wdp"/><Relationship Id="rId4" Type="http://schemas.openxmlformats.org/officeDocument/2006/relationships/image" Target="../media/image14.png"/></Relationships>
</file>

<file path=ppt/slides/_rels/slide4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4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E704F8D-31A5-8891-D719-DBB397FFBB61}"/>
              </a:ext>
            </a:extLst>
          </p:cNvPr>
          <p:cNvSpPr>
            <a:spLocks noGrp="1"/>
          </p:cNvSpPr>
          <p:nvPr>
            <p:ph type="ctrTitle"/>
          </p:nvPr>
        </p:nvSpPr>
        <p:spPr/>
        <p:txBody>
          <a:bodyPr/>
          <a:lstStyle/>
          <a:p>
            <a:r>
              <a:rPr lang="es-AR" dirty="0"/>
              <a:t>Introducción al Análisis Factorial</a:t>
            </a:r>
          </a:p>
        </p:txBody>
      </p:sp>
      <p:sp>
        <p:nvSpPr>
          <p:cNvPr id="3" name="Subtítulo 2">
            <a:extLst>
              <a:ext uri="{FF2B5EF4-FFF2-40B4-BE49-F238E27FC236}">
                <a16:creationId xmlns:a16="http://schemas.microsoft.com/office/drawing/2014/main" id="{5FD2052E-25D7-9AAB-C8A5-E95289CF3660}"/>
              </a:ext>
            </a:extLst>
          </p:cNvPr>
          <p:cNvSpPr>
            <a:spLocks noGrp="1"/>
          </p:cNvSpPr>
          <p:nvPr>
            <p:ph type="subTitle" idx="1"/>
          </p:nvPr>
        </p:nvSpPr>
        <p:spPr/>
        <p:txBody>
          <a:bodyPr/>
          <a:lstStyle/>
          <a:p>
            <a:r>
              <a:rPr lang="es-AR" dirty="0"/>
              <a:t>Dr. Pablo Ezequiel Flores Kanter</a:t>
            </a:r>
          </a:p>
        </p:txBody>
      </p:sp>
    </p:spTree>
    <p:extLst>
      <p:ext uri="{BB962C8B-B14F-4D97-AF65-F5344CB8AC3E}">
        <p14:creationId xmlns:p14="http://schemas.microsoft.com/office/powerpoint/2010/main" val="189959952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715F939-28E9-0FDB-F1CE-A1C88B069AAF}"/>
              </a:ext>
            </a:extLst>
          </p:cNvPr>
          <p:cNvSpPr>
            <a:spLocks noGrp="1"/>
          </p:cNvSpPr>
          <p:nvPr>
            <p:ph type="title"/>
          </p:nvPr>
        </p:nvSpPr>
        <p:spPr/>
        <p:txBody>
          <a:bodyPr/>
          <a:lstStyle/>
          <a:p>
            <a:r>
              <a:rPr lang="es-AR" dirty="0"/>
              <a:t>Finalidad del Análisis Factorial</a:t>
            </a:r>
          </a:p>
        </p:txBody>
      </p:sp>
      <p:sp>
        <p:nvSpPr>
          <p:cNvPr id="3" name="Marcador de texto 2">
            <a:extLst>
              <a:ext uri="{FF2B5EF4-FFF2-40B4-BE49-F238E27FC236}">
                <a16:creationId xmlns:a16="http://schemas.microsoft.com/office/drawing/2014/main" id="{264272E2-B05B-8AC2-398E-385412C153D9}"/>
              </a:ext>
            </a:extLst>
          </p:cNvPr>
          <p:cNvSpPr>
            <a:spLocks noGrp="1"/>
          </p:cNvSpPr>
          <p:nvPr>
            <p:ph type="body" idx="1"/>
          </p:nvPr>
        </p:nvSpPr>
        <p:spPr/>
        <p:txBody>
          <a:bodyPr/>
          <a:lstStyle/>
          <a:p>
            <a:endParaRPr lang="es-AR" dirty="0"/>
          </a:p>
        </p:txBody>
      </p:sp>
    </p:spTree>
    <p:extLst>
      <p:ext uri="{BB962C8B-B14F-4D97-AF65-F5344CB8AC3E}">
        <p14:creationId xmlns:p14="http://schemas.microsoft.com/office/powerpoint/2010/main" val="580112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0F5ACC8-EE28-8E94-C805-C471253DF250}"/>
              </a:ext>
            </a:extLst>
          </p:cNvPr>
          <p:cNvSpPr>
            <a:spLocks noGrp="1"/>
          </p:cNvSpPr>
          <p:nvPr>
            <p:ph type="title"/>
          </p:nvPr>
        </p:nvSpPr>
        <p:spPr/>
        <p:txBody>
          <a:bodyPr>
            <a:normAutofit/>
          </a:bodyPr>
          <a:lstStyle/>
          <a:p>
            <a:r>
              <a:rPr lang="es-AR" dirty="0"/>
              <a:t>Técnicas para Reducir la Dimensionalidad de un Conjunto de Variables</a:t>
            </a:r>
          </a:p>
        </p:txBody>
      </p:sp>
      <p:sp>
        <p:nvSpPr>
          <p:cNvPr id="3" name="Marcador de contenido 2">
            <a:extLst>
              <a:ext uri="{FF2B5EF4-FFF2-40B4-BE49-F238E27FC236}">
                <a16:creationId xmlns:a16="http://schemas.microsoft.com/office/drawing/2014/main" id="{27E5FBD4-AB4C-34DC-D7B4-F31D00E89398}"/>
              </a:ext>
            </a:extLst>
          </p:cNvPr>
          <p:cNvSpPr>
            <a:spLocks noGrp="1"/>
          </p:cNvSpPr>
          <p:nvPr>
            <p:ph idx="1"/>
          </p:nvPr>
        </p:nvSpPr>
        <p:spPr/>
        <p:txBody>
          <a:bodyPr/>
          <a:lstStyle/>
          <a:p>
            <a:pPr>
              <a:buFont typeface="Wingdings" panose="05000000000000000000" pitchFamily="2" charset="2"/>
              <a:buChar char="ü"/>
            </a:pPr>
            <a:endParaRPr lang="es-AR" dirty="0"/>
          </a:p>
          <a:p>
            <a:pPr>
              <a:buFont typeface="Wingdings" panose="05000000000000000000" pitchFamily="2" charset="2"/>
              <a:buChar char="ü"/>
            </a:pPr>
            <a:r>
              <a:rPr lang="es-AR" dirty="0"/>
              <a:t>Análisis de Componentes Principales (PCA)</a:t>
            </a:r>
          </a:p>
          <a:p>
            <a:pPr>
              <a:buFont typeface="Wingdings" panose="05000000000000000000" pitchFamily="2" charset="2"/>
              <a:buChar char="ü"/>
            </a:pPr>
            <a:r>
              <a:rPr lang="es-AR" dirty="0"/>
              <a:t>Análisis Factorial (FA) y Análisis Psicométrico mediante Redes (</a:t>
            </a:r>
            <a:r>
              <a:rPr lang="es-AR" dirty="0" err="1"/>
              <a:t>PsychoNetrics</a:t>
            </a:r>
            <a:r>
              <a:rPr lang="es-AR" dirty="0"/>
              <a:t>)</a:t>
            </a:r>
          </a:p>
          <a:p>
            <a:endParaRPr lang="es-AR" dirty="0"/>
          </a:p>
          <a:p>
            <a:r>
              <a:rPr lang="es-AR" dirty="0"/>
              <a:t>Distintos abordajes para la </a:t>
            </a:r>
            <a:r>
              <a:rPr lang="es-AR" sz="3000" b="1" dirty="0">
                <a:solidFill>
                  <a:srgbClr val="0070C0"/>
                </a:solidFill>
              </a:rPr>
              <a:t>reducción de la dimensionalidad </a:t>
            </a:r>
            <a:r>
              <a:rPr lang="es-AR" dirty="0"/>
              <a:t>de un conjunto de datos.</a:t>
            </a:r>
          </a:p>
        </p:txBody>
      </p:sp>
    </p:spTree>
    <p:extLst>
      <p:ext uri="{BB962C8B-B14F-4D97-AF65-F5344CB8AC3E}">
        <p14:creationId xmlns:p14="http://schemas.microsoft.com/office/powerpoint/2010/main" val="234594122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A74D53-B278-AEE0-409C-D08B8A28C985}"/>
              </a:ext>
            </a:extLst>
          </p:cNvPr>
          <p:cNvSpPr>
            <a:spLocks noGrp="1"/>
          </p:cNvSpPr>
          <p:nvPr>
            <p:ph type="title"/>
          </p:nvPr>
        </p:nvSpPr>
        <p:spPr/>
        <p:txBody>
          <a:bodyPr/>
          <a:lstStyle/>
          <a:p>
            <a:r>
              <a:rPr lang="es-AR" dirty="0"/>
              <a:t>Reducción de la Dimensionalidad</a:t>
            </a:r>
          </a:p>
        </p:txBody>
      </p:sp>
      <p:sp>
        <p:nvSpPr>
          <p:cNvPr id="3" name="Marcador de contenido 2">
            <a:extLst>
              <a:ext uri="{FF2B5EF4-FFF2-40B4-BE49-F238E27FC236}">
                <a16:creationId xmlns:a16="http://schemas.microsoft.com/office/drawing/2014/main" id="{49A02E0F-5E29-BBA0-0D55-3069EED155B5}"/>
              </a:ext>
            </a:extLst>
          </p:cNvPr>
          <p:cNvSpPr>
            <a:spLocks noGrp="1"/>
          </p:cNvSpPr>
          <p:nvPr>
            <p:ph idx="1"/>
          </p:nvPr>
        </p:nvSpPr>
        <p:spPr/>
        <p:txBody>
          <a:bodyPr>
            <a:normAutofit/>
          </a:bodyPr>
          <a:lstStyle/>
          <a:p>
            <a:r>
              <a:rPr lang="es-AR" dirty="0"/>
              <a:t>Varias ventajas estadística entre los que se encuentra: </a:t>
            </a:r>
          </a:p>
          <a:p>
            <a:pPr>
              <a:buFont typeface="Wingdings" panose="05000000000000000000" pitchFamily="2" charset="2"/>
              <a:buChar char="ü"/>
            </a:pPr>
            <a:r>
              <a:rPr lang="es-AR" dirty="0"/>
              <a:t>Testeo de modelos más parsimoniosos (más fácil de interpretar).</a:t>
            </a:r>
          </a:p>
          <a:p>
            <a:pPr>
              <a:buFont typeface="Wingdings" panose="05000000000000000000" pitchFamily="2" charset="2"/>
              <a:buChar char="ü"/>
            </a:pPr>
            <a:r>
              <a:rPr lang="es-AR" dirty="0"/>
              <a:t>Evitar problemas de multicolinealidad. </a:t>
            </a:r>
          </a:p>
          <a:p>
            <a:pPr>
              <a:buFont typeface="Wingdings" panose="05000000000000000000" pitchFamily="2" charset="2"/>
              <a:buChar char="ü"/>
            </a:pPr>
            <a:r>
              <a:rPr lang="es-AR" dirty="0"/>
              <a:t>También permiten generar puntajes que solo incluyan lo que es común en un conjunto de variables.</a:t>
            </a:r>
          </a:p>
          <a:p>
            <a:pPr marL="0" indent="0">
              <a:buNone/>
            </a:pPr>
            <a:endParaRPr lang="es-AR" dirty="0"/>
          </a:p>
          <a:p>
            <a:pPr marL="0" indent="0" algn="ctr">
              <a:buNone/>
            </a:pPr>
            <a:r>
              <a:rPr lang="es-AR" dirty="0"/>
              <a:t> </a:t>
            </a:r>
          </a:p>
        </p:txBody>
      </p:sp>
    </p:spTree>
    <p:extLst>
      <p:ext uri="{BB962C8B-B14F-4D97-AF65-F5344CB8AC3E}">
        <p14:creationId xmlns:p14="http://schemas.microsoft.com/office/powerpoint/2010/main" val="398786933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C4E4E9B-2A7F-248B-C88B-41CE198A281B}"/>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6FC9362D-F234-24E3-1680-5EEA25EBDF9F}"/>
              </a:ext>
            </a:extLst>
          </p:cNvPr>
          <p:cNvSpPr>
            <a:spLocks noGrp="1"/>
          </p:cNvSpPr>
          <p:nvPr>
            <p:ph idx="1"/>
          </p:nvPr>
        </p:nvSpPr>
        <p:spPr/>
        <p:txBody>
          <a:bodyPr/>
          <a:lstStyle/>
          <a:p>
            <a:pPr marL="0" indent="0">
              <a:buNone/>
            </a:pPr>
            <a:endParaRPr lang="es-AR" dirty="0"/>
          </a:p>
          <a:p>
            <a:pPr marL="0" indent="0" algn="ctr">
              <a:buNone/>
            </a:pPr>
            <a:r>
              <a:rPr lang="es-AR" dirty="0"/>
              <a:t>¿Cómo convertir un conjunto de datos de dimensionalidad = 2 en una sola dimensión? </a:t>
            </a:r>
          </a:p>
          <a:p>
            <a:pPr marL="0" indent="0" algn="ctr">
              <a:buNone/>
            </a:pPr>
            <a:r>
              <a:rPr lang="es-AR" dirty="0"/>
              <a:t>¿Cómo generar un puntaje común a partir de dos variables?</a:t>
            </a:r>
          </a:p>
          <a:p>
            <a:endParaRPr lang="es-AR" dirty="0"/>
          </a:p>
        </p:txBody>
      </p:sp>
    </p:spTree>
    <p:extLst>
      <p:ext uri="{BB962C8B-B14F-4D97-AF65-F5344CB8AC3E}">
        <p14:creationId xmlns:p14="http://schemas.microsoft.com/office/powerpoint/2010/main" val="29703787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7F867C-712D-3E66-1D84-400F80EFF22E}"/>
              </a:ext>
            </a:extLst>
          </p:cNvPr>
          <p:cNvSpPr>
            <a:spLocks noGrp="1"/>
          </p:cNvSpPr>
          <p:nvPr>
            <p:ph type="title"/>
          </p:nvPr>
        </p:nvSpPr>
        <p:spPr/>
        <p:txBody>
          <a:bodyPr/>
          <a:lstStyle/>
          <a:p>
            <a:endParaRPr lang="es-AR"/>
          </a:p>
        </p:txBody>
      </p:sp>
      <p:sp>
        <p:nvSpPr>
          <p:cNvPr id="29" name="Rectángulo 28">
            <a:extLst>
              <a:ext uri="{FF2B5EF4-FFF2-40B4-BE49-F238E27FC236}">
                <a16:creationId xmlns:a16="http://schemas.microsoft.com/office/drawing/2014/main" id="{5E38A919-862F-40C9-45F1-F09D32565C24}"/>
              </a:ext>
            </a:extLst>
          </p:cNvPr>
          <p:cNvSpPr/>
          <p:nvPr/>
        </p:nvSpPr>
        <p:spPr>
          <a:xfrm>
            <a:off x="17105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Diastólica</a:t>
            </a:r>
          </a:p>
        </p:txBody>
      </p:sp>
      <p:sp>
        <p:nvSpPr>
          <p:cNvPr id="30" name="Rectángulo 29">
            <a:extLst>
              <a:ext uri="{FF2B5EF4-FFF2-40B4-BE49-F238E27FC236}">
                <a16:creationId xmlns:a16="http://schemas.microsoft.com/office/drawing/2014/main" id="{B7B3991D-830B-B69B-6427-E7FC4AA3BD42}"/>
              </a:ext>
            </a:extLst>
          </p:cNvPr>
          <p:cNvSpPr/>
          <p:nvPr/>
        </p:nvSpPr>
        <p:spPr>
          <a:xfrm>
            <a:off x="37679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Sistólica</a:t>
            </a:r>
          </a:p>
        </p:txBody>
      </p:sp>
      <p:sp>
        <p:nvSpPr>
          <p:cNvPr id="31" name="Elipse 30">
            <a:extLst>
              <a:ext uri="{FF2B5EF4-FFF2-40B4-BE49-F238E27FC236}">
                <a16:creationId xmlns:a16="http://schemas.microsoft.com/office/drawing/2014/main" id="{507A1BBB-520F-B3EA-783D-67BBF2B8679E}"/>
              </a:ext>
            </a:extLst>
          </p:cNvPr>
          <p:cNvSpPr/>
          <p:nvPr/>
        </p:nvSpPr>
        <p:spPr>
          <a:xfrm>
            <a:off x="2745582" y="2400294"/>
            <a:ext cx="1457325" cy="118586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AR" dirty="0">
                <a:solidFill>
                  <a:schemeClr val="tx1"/>
                </a:solidFill>
              </a:rPr>
              <a:t>PS</a:t>
            </a:r>
          </a:p>
        </p:txBody>
      </p:sp>
      <p:cxnSp>
        <p:nvCxnSpPr>
          <p:cNvPr id="32" name="Conector recto de flecha 31">
            <a:extLst>
              <a:ext uri="{FF2B5EF4-FFF2-40B4-BE49-F238E27FC236}">
                <a16:creationId xmlns:a16="http://schemas.microsoft.com/office/drawing/2014/main" id="{62617955-11C6-28BB-6305-C6A4DC5C852E}"/>
              </a:ext>
            </a:extLst>
          </p:cNvPr>
          <p:cNvCxnSpPr>
            <a:cxnSpLocks/>
            <a:stCxn id="29" idx="0"/>
            <a:endCxn id="31" idx="4"/>
          </p:cNvCxnSpPr>
          <p:nvPr/>
        </p:nvCxnSpPr>
        <p:spPr>
          <a:xfrm flipV="1">
            <a:off x="2439195" y="3586157"/>
            <a:ext cx="10350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Conector recto de flecha 32">
            <a:extLst>
              <a:ext uri="{FF2B5EF4-FFF2-40B4-BE49-F238E27FC236}">
                <a16:creationId xmlns:a16="http://schemas.microsoft.com/office/drawing/2014/main" id="{B36BA3D8-80E9-2826-A976-8CA0655104AD}"/>
              </a:ext>
            </a:extLst>
          </p:cNvPr>
          <p:cNvCxnSpPr>
            <a:cxnSpLocks/>
            <a:stCxn id="30" idx="0"/>
            <a:endCxn id="31" idx="4"/>
          </p:cNvCxnSpPr>
          <p:nvPr/>
        </p:nvCxnSpPr>
        <p:spPr>
          <a:xfrm flipH="1" flipV="1">
            <a:off x="3474245" y="3586157"/>
            <a:ext cx="10223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4" name="Conector: curvado 33">
            <a:extLst>
              <a:ext uri="{FF2B5EF4-FFF2-40B4-BE49-F238E27FC236}">
                <a16:creationId xmlns:a16="http://schemas.microsoft.com/office/drawing/2014/main" id="{D2CA8A16-55B3-9240-14A5-41DEBDEC3AFD}"/>
              </a:ext>
            </a:extLst>
          </p:cNvPr>
          <p:cNvCxnSpPr>
            <a:stCxn id="29" idx="2"/>
            <a:endCxn id="30" idx="2"/>
          </p:cNvCxnSpPr>
          <p:nvPr/>
        </p:nvCxnSpPr>
        <p:spPr>
          <a:xfrm rot="16200000" flipH="1">
            <a:off x="3467895" y="4167177"/>
            <a:ext cx="12700" cy="2057400"/>
          </a:xfrm>
          <a:prstGeom prst="curvedConnector3">
            <a:avLst>
              <a:gd name="adj1" fmla="val 4500008"/>
            </a:avLst>
          </a:prstGeom>
          <a:ln w="57150">
            <a:headEnd type="triangle"/>
            <a:tailEnd type="triangle"/>
          </a:ln>
        </p:spPr>
        <p:style>
          <a:lnRef idx="2">
            <a:schemeClr val="dk1"/>
          </a:lnRef>
          <a:fillRef idx="0">
            <a:schemeClr val="dk1"/>
          </a:fillRef>
          <a:effectRef idx="1">
            <a:schemeClr val="dk1"/>
          </a:effectRef>
          <a:fontRef idx="minor">
            <a:schemeClr val="tx1"/>
          </a:fontRef>
        </p:style>
      </p:cxnSp>
      <p:pic>
        <p:nvPicPr>
          <p:cNvPr id="1026" name="Picture 2" descr="Systolic Vs Diastolic BP - MEDizzy">
            <a:extLst>
              <a:ext uri="{FF2B5EF4-FFF2-40B4-BE49-F238E27FC236}">
                <a16:creationId xmlns:a16="http://schemas.microsoft.com/office/drawing/2014/main" id="{29DA9286-1B93-2910-8ECF-4F5FDC30C16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37324" y="0"/>
            <a:ext cx="5603875" cy="6858000"/>
          </a:xfrm>
          <a:prstGeom prst="rect">
            <a:avLst/>
          </a:prstGeom>
          <a:noFill/>
          <a:extLst>
            <a:ext uri="{909E8E84-426E-40DD-AFC4-6F175D3DCCD1}">
              <a14:hiddenFill xmlns:a14="http://schemas.microsoft.com/office/drawing/2010/main">
                <a:solidFill>
                  <a:srgbClr val="FFFFFF"/>
                </a:solidFill>
              </a14:hiddenFill>
            </a:ext>
          </a:extLst>
        </p:spPr>
      </p:pic>
      <p:sp>
        <p:nvSpPr>
          <p:cNvPr id="5" name="Marcador de contenido 4">
            <a:extLst>
              <a:ext uri="{FF2B5EF4-FFF2-40B4-BE49-F238E27FC236}">
                <a16:creationId xmlns:a16="http://schemas.microsoft.com/office/drawing/2014/main" id="{BA345A63-908F-8E92-0C30-B9C984BA7500}"/>
              </a:ext>
            </a:extLst>
          </p:cNvPr>
          <p:cNvSpPr>
            <a:spLocks noGrp="1"/>
          </p:cNvSpPr>
          <p:nvPr>
            <p:ph idx="1"/>
          </p:nvPr>
        </p:nvSpPr>
        <p:spPr/>
        <p:txBody>
          <a:bodyPr/>
          <a:lstStyle/>
          <a:p>
            <a:endParaRPr lang="es-AR"/>
          </a:p>
        </p:txBody>
      </p:sp>
    </p:spTree>
    <p:extLst>
      <p:ext uri="{BB962C8B-B14F-4D97-AF65-F5344CB8AC3E}">
        <p14:creationId xmlns:p14="http://schemas.microsoft.com/office/powerpoint/2010/main" val="168915602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017242-FDC4-D191-F7EC-8664EE38ECF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61AB8338-5D58-FFF1-3C59-D0A11628E0B2}"/>
              </a:ext>
            </a:extLst>
          </p:cNvPr>
          <p:cNvSpPr>
            <a:spLocks noGrp="1"/>
          </p:cNvSpPr>
          <p:nvPr>
            <p:ph type="title"/>
          </p:nvPr>
        </p:nvSpPr>
        <p:spPr/>
        <p:txBody>
          <a:bodyPr>
            <a:normAutofit/>
          </a:bodyPr>
          <a:lstStyle/>
          <a:p>
            <a:r>
              <a:rPr lang="es-AR" dirty="0"/>
              <a:t>¿Cómo convertir un conjunto de datos de dimensionalidad = 2 en una sola dimensión? </a:t>
            </a:r>
          </a:p>
        </p:txBody>
      </p:sp>
      <p:sp>
        <p:nvSpPr>
          <p:cNvPr id="3" name="Marcador de contenido 2">
            <a:extLst>
              <a:ext uri="{FF2B5EF4-FFF2-40B4-BE49-F238E27FC236}">
                <a16:creationId xmlns:a16="http://schemas.microsoft.com/office/drawing/2014/main" id="{A02AD7B4-0356-62ED-6F51-8BE7983A0B6D}"/>
              </a:ext>
            </a:extLst>
          </p:cNvPr>
          <p:cNvSpPr>
            <a:spLocks noGrp="1"/>
          </p:cNvSpPr>
          <p:nvPr>
            <p:ph idx="1"/>
          </p:nvPr>
        </p:nvSpPr>
        <p:spPr>
          <a:xfrm>
            <a:off x="5815012" y="1825625"/>
            <a:ext cx="5538787" cy="4351338"/>
          </a:xfrm>
        </p:spPr>
        <p:txBody>
          <a:bodyPr/>
          <a:lstStyle/>
          <a:p>
            <a:endParaRPr lang="es-AR" dirty="0"/>
          </a:p>
          <a:p>
            <a:endParaRPr lang="es-AR" dirty="0"/>
          </a:p>
          <a:p>
            <a:r>
              <a:rPr lang="es-AR" dirty="0"/>
              <a:t>Promedio: </a:t>
            </a:r>
          </a:p>
          <a:p>
            <a:pPr marL="0" indent="0">
              <a:buNone/>
            </a:pPr>
            <a:r>
              <a:rPr lang="es-AR" dirty="0"/>
              <a:t>BP = P.D + P.S / 2</a:t>
            </a:r>
          </a:p>
          <a:p>
            <a:pPr marL="0" indent="0">
              <a:buNone/>
            </a:pPr>
            <a:r>
              <a:rPr lang="es-AR" dirty="0"/>
              <a:t>BP = .5 * P.D + .5 * P.S</a:t>
            </a:r>
          </a:p>
        </p:txBody>
      </p:sp>
      <p:sp>
        <p:nvSpPr>
          <p:cNvPr id="29" name="Rectángulo 28">
            <a:extLst>
              <a:ext uri="{FF2B5EF4-FFF2-40B4-BE49-F238E27FC236}">
                <a16:creationId xmlns:a16="http://schemas.microsoft.com/office/drawing/2014/main" id="{9C7D09F5-2A71-7152-EFBF-119FCA3FE8B5}"/>
              </a:ext>
            </a:extLst>
          </p:cNvPr>
          <p:cNvSpPr/>
          <p:nvPr/>
        </p:nvSpPr>
        <p:spPr>
          <a:xfrm>
            <a:off x="17105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Diastólica</a:t>
            </a:r>
          </a:p>
        </p:txBody>
      </p:sp>
      <p:sp>
        <p:nvSpPr>
          <p:cNvPr id="30" name="Rectángulo 29">
            <a:extLst>
              <a:ext uri="{FF2B5EF4-FFF2-40B4-BE49-F238E27FC236}">
                <a16:creationId xmlns:a16="http://schemas.microsoft.com/office/drawing/2014/main" id="{E29562F4-D6F3-4E49-690F-873E41A8A8EF}"/>
              </a:ext>
            </a:extLst>
          </p:cNvPr>
          <p:cNvSpPr/>
          <p:nvPr/>
        </p:nvSpPr>
        <p:spPr>
          <a:xfrm>
            <a:off x="37679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Sistólica</a:t>
            </a:r>
          </a:p>
        </p:txBody>
      </p:sp>
      <p:sp>
        <p:nvSpPr>
          <p:cNvPr id="31" name="Elipse 30">
            <a:extLst>
              <a:ext uri="{FF2B5EF4-FFF2-40B4-BE49-F238E27FC236}">
                <a16:creationId xmlns:a16="http://schemas.microsoft.com/office/drawing/2014/main" id="{F820C983-6546-8083-7A19-1311B3FA95FC}"/>
              </a:ext>
            </a:extLst>
          </p:cNvPr>
          <p:cNvSpPr/>
          <p:nvPr/>
        </p:nvSpPr>
        <p:spPr>
          <a:xfrm>
            <a:off x="2745582" y="2400294"/>
            <a:ext cx="1457325" cy="118586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AR" dirty="0">
                <a:solidFill>
                  <a:schemeClr val="tx1"/>
                </a:solidFill>
              </a:rPr>
              <a:t>PS</a:t>
            </a:r>
          </a:p>
        </p:txBody>
      </p:sp>
      <p:cxnSp>
        <p:nvCxnSpPr>
          <p:cNvPr id="32" name="Conector recto de flecha 31">
            <a:extLst>
              <a:ext uri="{FF2B5EF4-FFF2-40B4-BE49-F238E27FC236}">
                <a16:creationId xmlns:a16="http://schemas.microsoft.com/office/drawing/2014/main" id="{C13B99DE-F386-D7AE-D5EB-0E209EA7A859}"/>
              </a:ext>
            </a:extLst>
          </p:cNvPr>
          <p:cNvCxnSpPr>
            <a:cxnSpLocks/>
            <a:stCxn id="29" idx="0"/>
            <a:endCxn id="31" idx="4"/>
          </p:cNvCxnSpPr>
          <p:nvPr/>
        </p:nvCxnSpPr>
        <p:spPr>
          <a:xfrm flipV="1">
            <a:off x="2439195" y="3586157"/>
            <a:ext cx="10350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Conector recto de flecha 32">
            <a:extLst>
              <a:ext uri="{FF2B5EF4-FFF2-40B4-BE49-F238E27FC236}">
                <a16:creationId xmlns:a16="http://schemas.microsoft.com/office/drawing/2014/main" id="{F4374130-D4A0-DE52-C905-39C5089718DB}"/>
              </a:ext>
            </a:extLst>
          </p:cNvPr>
          <p:cNvCxnSpPr>
            <a:cxnSpLocks/>
            <a:stCxn id="30" idx="0"/>
            <a:endCxn id="31" idx="4"/>
          </p:cNvCxnSpPr>
          <p:nvPr/>
        </p:nvCxnSpPr>
        <p:spPr>
          <a:xfrm flipH="1" flipV="1">
            <a:off x="3474245" y="3586157"/>
            <a:ext cx="10223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4" name="Conector: curvado 33">
            <a:extLst>
              <a:ext uri="{FF2B5EF4-FFF2-40B4-BE49-F238E27FC236}">
                <a16:creationId xmlns:a16="http://schemas.microsoft.com/office/drawing/2014/main" id="{C68D6B3C-6D69-8C70-D1FE-6F48447D988D}"/>
              </a:ext>
            </a:extLst>
          </p:cNvPr>
          <p:cNvCxnSpPr>
            <a:stCxn id="29" idx="2"/>
            <a:endCxn id="30" idx="2"/>
          </p:cNvCxnSpPr>
          <p:nvPr/>
        </p:nvCxnSpPr>
        <p:spPr>
          <a:xfrm rot="16200000" flipH="1">
            <a:off x="3467895" y="4167177"/>
            <a:ext cx="12700" cy="2057400"/>
          </a:xfrm>
          <a:prstGeom prst="curvedConnector3">
            <a:avLst>
              <a:gd name="adj1" fmla="val 4500008"/>
            </a:avLst>
          </a:prstGeom>
          <a:ln w="57150">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186679076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33FF88-A9A1-03CC-24F8-B89067BC5A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C6C79A8-937A-82A4-8B88-EE43E65311FC}"/>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DADCA2E5-30D6-4937-AC52-F9FEEAA0950A}"/>
              </a:ext>
            </a:extLst>
          </p:cNvPr>
          <p:cNvSpPr>
            <a:spLocks noGrp="1"/>
          </p:cNvSpPr>
          <p:nvPr>
            <p:ph idx="1"/>
          </p:nvPr>
        </p:nvSpPr>
        <p:spPr>
          <a:xfrm>
            <a:off x="5815012" y="1825624"/>
            <a:ext cx="5538787" cy="4776787"/>
          </a:xfrm>
        </p:spPr>
        <p:txBody>
          <a:bodyPr>
            <a:normAutofit/>
          </a:bodyPr>
          <a:lstStyle/>
          <a:p>
            <a:pPr marL="0" indent="0">
              <a:buNone/>
            </a:pPr>
            <a:r>
              <a:rPr lang="es-AR" dirty="0"/>
              <a:t>¿Cómo generar un puntaje compuesto que pondere o de mayor peso a las variables que otorgan más información (expresado en la varianza de las respectivas variables)? </a:t>
            </a:r>
          </a:p>
          <a:p>
            <a:pPr marL="0" indent="0">
              <a:buNone/>
            </a:pPr>
            <a:r>
              <a:rPr lang="es-AR" b="1" dirty="0"/>
              <a:t>PCA</a:t>
            </a:r>
            <a:r>
              <a:rPr lang="es-AR" dirty="0"/>
              <a:t> permite encontrar esos pesos para cada uno de los componentes, en función de las variables que lo componen (modelo formativo). </a:t>
            </a:r>
          </a:p>
        </p:txBody>
      </p:sp>
      <p:sp>
        <p:nvSpPr>
          <p:cNvPr id="29" name="Rectángulo 28">
            <a:extLst>
              <a:ext uri="{FF2B5EF4-FFF2-40B4-BE49-F238E27FC236}">
                <a16:creationId xmlns:a16="http://schemas.microsoft.com/office/drawing/2014/main" id="{0F5C50A2-B569-702E-51B1-FEEF523134C1}"/>
              </a:ext>
            </a:extLst>
          </p:cNvPr>
          <p:cNvSpPr/>
          <p:nvPr/>
        </p:nvSpPr>
        <p:spPr>
          <a:xfrm>
            <a:off x="17105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Diastólica</a:t>
            </a:r>
          </a:p>
        </p:txBody>
      </p:sp>
      <p:sp>
        <p:nvSpPr>
          <p:cNvPr id="30" name="Rectángulo 29">
            <a:extLst>
              <a:ext uri="{FF2B5EF4-FFF2-40B4-BE49-F238E27FC236}">
                <a16:creationId xmlns:a16="http://schemas.microsoft.com/office/drawing/2014/main" id="{ED97F2FB-6B6B-D090-23AF-359E2F0757D9}"/>
              </a:ext>
            </a:extLst>
          </p:cNvPr>
          <p:cNvSpPr/>
          <p:nvPr/>
        </p:nvSpPr>
        <p:spPr>
          <a:xfrm>
            <a:off x="37679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Sistólica</a:t>
            </a:r>
          </a:p>
        </p:txBody>
      </p:sp>
      <p:sp>
        <p:nvSpPr>
          <p:cNvPr id="31" name="Elipse 30">
            <a:extLst>
              <a:ext uri="{FF2B5EF4-FFF2-40B4-BE49-F238E27FC236}">
                <a16:creationId xmlns:a16="http://schemas.microsoft.com/office/drawing/2014/main" id="{17B3E72B-66C2-3569-F775-5BAC7FDCB567}"/>
              </a:ext>
            </a:extLst>
          </p:cNvPr>
          <p:cNvSpPr/>
          <p:nvPr/>
        </p:nvSpPr>
        <p:spPr>
          <a:xfrm>
            <a:off x="2745582" y="2400294"/>
            <a:ext cx="1457325" cy="118586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AR" dirty="0">
                <a:solidFill>
                  <a:schemeClr val="tx1"/>
                </a:solidFill>
              </a:rPr>
              <a:t>PS</a:t>
            </a:r>
          </a:p>
        </p:txBody>
      </p:sp>
      <p:cxnSp>
        <p:nvCxnSpPr>
          <p:cNvPr id="32" name="Conector recto de flecha 31">
            <a:extLst>
              <a:ext uri="{FF2B5EF4-FFF2-40B4-BE49-F238E27FC236}">
                <a16:creationId xmlns:a16="http://schemas.microsoft.com/office/drawing/2014/main" id="{BEB28348-B9B6-4E24-F192-E59DB9DA21AE}"/>
              </a:ext>
            </a:extLst>
          </p:cNvPr>
          <p:cNvCxnSpPr>
            <a:cxnSpLocks/>
            <a:stCxn id="29" idx="0"/>
            <a:endCxn id="31" idx="4"/>
          </p:cNvCxnSpPr>
          <p:nvPr/>
        </p:nvCxnSpPr>
        <p:spPr>
          <a:xfrm flipV="1">
            <a:off x="2439195" y="3586157"/>
            <a:ext cx="10350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3" name="Conector recto de flecha 32">
            <a:extLst>
              <a:ext uri="{FF2B5EF4-FFF2-40B4-BE49-F238E27FC236}">
                <a16:creationId xmlns:a16="http://schemas.microsoft.com/office/drawing/2014/main" id="{AD425A9D-2AD2-4223-3130-6AA5E861A6D1}"/>
              </a:ext>
            </a:extLst>
          </p:cNvPr>
          <p:cNvCxnSpPr>
            <a:cxnSpLocks/>
            <a:stCxn id="30" idx="0"/>
            <a:endCxn id="31" idx="4"/>
          </p:cNvCxnSpPr>
          <p:nvPr/>
        </p:nvCxnSpPr>
        <p:spPr>
          <a:xfrm flipH="1" flipV="1">
            <a:off x="3474245" y="3586157"/>
            <a:ext cx="10223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34" name="Conector: curvado 33">
            <a:extLst>
              <a:ext uri="{FF2B5EF4-FFF2-40B4-BE49-F238E27FC236}">
                <a16:creationId xmlns:a16="http://schemas.microsoft.com/office/drawing/2014/main" id="{A19BEE5F-FB13-5CAC-3F0A-7631B7AB9D35}"/>
              </a:ext>
            </a:extLst>
          </p:cNvPr>
          <p:cNvCxnSpPr>
            <a:stCxn id="29" idx="2"/>
            <a:endCxn id="30" idx="2"/>
          </p:cNvCxnSpPr>
          <p:nvPr/>
        </p:nvCxnSpPr>
        <p:spPr>
          <a:xfrm rot="16200000" flipH="1">
            <a:off x="3467895" y="4167177"/>
            <a:ext cx="12700" cy="2057400"/>
          </a:xfrm>
          <a:prstGeom prst="curvedConnector3">
            <a:avLst>
              <a:gd name="adj1" fmla="val 4500008"/>
            </a:avLst>
          </a:prstGeom>
          <a:ln w="57150">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27264438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F929D7-F76D-A3DD-59DF-774E74B01B0B}"/>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8258684D-D7BF-7A27-0185-A6709F9A5444}"/>
              </a:ext>
            </a:extLst>
          </p:cNvPr>
          <p:cNvSpPr>
            <a:spLocks noGrp="1"/>
          </p:cNvSpPr>
          <p:nvPr>
            <p:ph type="title"/>
          </p:nvPr>
        </p:nvSpPr>
        <p:spPr/>
        <p:txBody>
          <a:bodyPr/>
          <a:lstStyle/>
          <a:p>
            <a:endParaRPr lang="es-AR"/>
          </a:p>
        </p:txBody>
      </p:sp>
      <p:pic>
        <p:nvPicPr>
          <p:cNvPr id="7" name="Imagen 6">
            <a:extLst>
              <a:ext uri="{FF2B5EF4-FFF2-40B4-BE49-F238E27FC236}">
                <a16:creationId xmlns:a16="http://schemas.microsoft.com/office/drawing/2014/main" id="{23FE3972-B106-6732-C51B-40391BACE83F}"/>
              </a:ext>
            </a:extLst>
          </p:cNvPr>
          <p:cNvPicPr>
            <a:picLocks noChangeAspect="1"/>
          </p:cNvPicPr>
          <p:nvPr/>
        </p:nvPicPr>
        <p:blipFill>
          <a:blip r:embed="rId3"/>
          <a:stretch>
            <a:fillRect/>
          </a:stretch>
        </p:blipFill>
        <p:spPr>
          <a:xfrm>
            <a:off x="5874775" y="1633535"/>
            <a:ext cx="5421408" cy="4395787"/>
          </a:xfrm>
          <a:prstGeom prst="rect">
            <a:avLst/>
          </a:prstGeom>
        </p:spPr>
      </p:pic>
      <p:pic>
        <p:nvPicPr>
          <p:cNvPr id="8" name="Imagen 7">
            <a:extLst>
              <a:ext uri="{FF2B5EF4-FFF2-40B4-BE49-F238E27FC236}">
                <a16:creationId xmlns:a16="http://schemas.microsoft.com/office/drawing/2014/main" id="{C71FBBD7-01B7-961C-7433-7AEDC49FE154}"/>
              </a:ext>
            </a:extLst>
          </p:cNvPr>
          <p:cNvPicPr>
            <a:picLocks noChangeAspect="1"/>
          </p:cNvPicPr>
          <p:nvPr/>
        </p:nvPicPr>
        <p:blipFill>
          <a:blip r:embed="rId4"/>
          <a:stretch>
            <a:fillRect/>
          </a:stretch>
        </p:blipFill>
        <p:spPr>
          <a:xfrm>
            <a:off x="6493667" y="6072187"/>
            <a:ext cx="4181475" cy="1152525"/>
          </a:xfrm>
          <a:prstGeom prst="rect">
            <a:avLst/>
          </a:prstGeom>
        </p:spPr>
      </p:pic>
      <p:sp>
        <p:nvSpPr>
          <p:cNvPr id="15" name="Rectángulo 14">
            <a:extLst>
              <a:ext uri="{FF2B5EF4-FFF2-40B4-BE49-F238E27FC236}">
                <a16:creationId xmlns:a16="http://schemas.microsoft.com/office/drawing/2014/main" id="{465962C2-87B1-27A0-7D70-399107C9E6DE}"/>
              </a:ext>
            </a:extLst>
          </p:cNvPr>
          <p:cNvSpPr/>
          <p:nvPr/>
        </p:nvSpPr>
        <p:spPr>
          <a:xfrm>
            <a:off x="17105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Diastólica</a:t>
            </a:r>
          </a:p>
        </p:txBody>
      </p:sp>
      <p:sp>
        <p:nvSpPr>
          <p:cNvPr id="16" name="Rectángulo 15">
            <a:extLst>
              <a:ext uri="{FF2B5EF4-FFF2-40B4-BE49-F238E27FC236}">
                <a16:creationId xmlns:a16="http://schemas.microsoft.com/office/drawing/2014/main" id="{3BAFA79C-356B-273F-3D7C-A87A99681229}"/>
              </a:ext>
            </a:extLst>
          </p:cNvPr>
          <p:cNvSpPr/>
          <p:nvPr/>
        </p:nvSpPr>
        <p:spPr>
          <a:xfrm>
            <a:off x="3767932" y="4467214"/>
            <a:ext cx="1457325" cy="728663"/>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s-AR" dirty="0">
                <a:solidFill>
                  <a:schemeClr val="tx1"/>
                </a:solidFill>
              </a:rPr>
              <a:t>P. Sistólica</a:t>
            </a:r>
          </a:p>
        </p:txBody>
      </p:sp>
      <p:sp>
        <p:nvSpPr>
          <p:cNvPr id="17" name="Elipse 16">
            <a:extLst>
              <a:ext uri="{FF2B5EF4-FFF2-40B4-BE49-F238E27FC236}">
                <a16:creationId xmlns:a16="http://schemas.microsoft.com/office/drawing/2014/main" id="{DE818CE0-A117-D19B-CE79-5AFE2353DF1D}"/>
              </a:ext>
            </a:extLst>
          </p:cNvPr>
          <p:cNvSpPr/>
          <p:nvPr/>
        </p:nvSpPr>
        <p:spPr>
          <a:xfrm>
            <a:off x="2745582" y="2400294"/>
            <a:ext cx="1457325" cy="1185863"/>
          </a:xfrm>
          <a:prstGeom prst="ellipse">
            <a:avLst/>
          </a:prstGeom>
        </p:spPr>
        <p:style>
          <a:lnRef idx="2">
            <a:schemeClr val="dk1"/>
          </a:lnRef>
          <a:fillRef idx="1">
            <a:schemeClr val="lt1"/>
          </a:fillRef>
          <a:effectRef idx="0">
            <a:schemeClr val="dk1"/>
          </a:effectRef>
          <a:fontRef idx="minor">
            <a:schemeClr val="dk1"/>
          </a:fontRef>
        </p:style>
        <p:txBody>
          <a:bodyPr rtlCol="0" anchor="ctr"/>
          <a:lstStyle/>
          <a:p>
            <a:pPr algn="ctr"/>
            <a:r>
              <a:rPr lang="es-AR" dirty="0">
                <a:solidFill>
                  <a:schemeClr val="tx1"/>
                </a:solidFill>
              </a:rPr>
              <a:t>PS</a:t>
            </a:r>
          </a:p>
        </p:txBody>
      </p:sp>
      <p:cxnSp>
        <p:nvCxnSpPr>
          <p:cNvPr id="18" name="Conector recto de flecha 17">
            <a:extLst>
              <a:ext uri="{FF2B5EF4-FFF2-40B4-BE49-F238E27FC236}">
                <a16:creationId xmlns:a16="http://schemas.microsoft.com/office/drawing/2014/main" id="{DF84F781-FDD4-B2EC-FF2F-13E993611199}"/>
              </a:ext>
            </a:extLst>
          </p:cNvPr>
          <p:cNvCxnSpPr>
            <a:cxnSpLocks/>
            <a:stCxn id="15" idx="0"/>
            <a:endCxn id="17" idx="4"/>
          </p:cNvCxnSpPr>
          <p:nvPr/>
        </p:nvCxnSpPr>
        <p:spPr>
          <a:xfrm flipV="1">
            <a:off x="2439195" y="3586157"/>
            <a:ext cx="10350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19" name="Conector recto de flecha 18">
            <a:extLst>
              <a:ext uri="{FF2B5EF4-FFF2-40B4-BE49-F238E27FC236}">
                <a16:creationId xmlns:a16="http://schemas.microsoft.com/office/drawing/2014/main" id="{2B858B12-32F9-290C-7777-CE402D80A9A7}"/>
              </a:ext>
            </a:extLst>
          </p:cNvPr>
          <p:cNvCxnSpPr>
            <a:cxnSpLocks/>
            <a:stCxn id="16" idx="0"/>
            <a:endCxn id="17" idx="4"/>
          </p:cNvCxnSpPr>
          <p:nvPr/>
        </p:nvCxnSpPr>
        <p:spPr>
          <a:xfrm flipH="1" flipV="1">
            <a:off x="3474245" y="3586157"/>
            <a:ext cx="1022350" cy="881057"/>
          </a:xfrm>
          <a:prstGeom prst="straightConnector1">
            <a:avLst/>
          </a:prstGeom>
          <a:ln w="57150">
            <a:solidFill>
              <a:schemeClr val="tx1"/>
            </a:solidFill>
            <a:headEnd type="none" w="med" len="med"/>
            <a:tailEnd type="triangle" w="med" len="med"/>
          </a:ln>
        </p:spPr>
        <p:style>
          <a:lnRef idx="2">
            <a:schemeClr val="dk1"/>
          </a:lnRef>
          <a:fillRef idx="0">
            <a:schemeClr val="dk1"/>
          </a:fillRef>
          <a:effectRef idx="1">
            <a:schemeClr val="dk1"/>
          </a:effectRef>
          <a:fontRef idx="minor">
            <a:schemeClr val="tx1"/>
          </a:fontRef>
        </p:style>
      </p:cxnSp>
      <p:cxnSp>
        <p:nvCxnSpPr>
          <p:cNvPr id="20" name="Conector: curvado 19">
            <a:extLst>
              <a:ext uri="{FF2B5EF4-FFF2-40B4-BE49-F238E27FC236}">
                <a16:creationId xmlns:a16="http://schemas.microsoft.com/office/drawing/2014/main" id="{70605F2A-0E0E-B6DD-6351-74C6CB9F71D3}"/>
              </a:ext>
            </a:extLst>
          </p:cNvPr>
          <p:cNvCxnSpPr>
            <a:stCxn id="15" idx="2"/>
            <a:endCxn id="16" idx="2"/>
          </p:cNvCxnSpPr>
          <p:nvPr/>
        </p:nvCxnSpPr>
        <p:spPr>
          <a:xfrm rot="16200000" flipH="1">
            <a:off x="3467895" y="4167177"/>
            <a:ext cx="12700" cy="2057400"/>
          </a:xfrm>
          <a:prstGeom prst="curvedConnector3">
            <a:avLst>
              <a:gd name="adj1" fmla="val 4500008"/>
            </a:avLst>
          </a:prstGeom>
          <a:ln w="57150">
            <a:headEnd type="triangle"/>
            <a:tailEnd type="triangle"/>
          </a:ln>
        </p:spPr>
        <p:style>
          <a:lnRef idx="2">
            <a:schemeClr val="dk1"/>
          </a:lnRef>
          <a:fillRef idx="0">
            <a:schemeClr val="dk1"/>
          </a:fillRef>
          <a:effectRef idx="1">
            <a:schemeClr val="dk1"/>
          </a:effectRef>
          <a:fontRef idx="minor">
            <a:schemeClr val="tx1"/>
          </a:fontRef>
        </p:style>
      </p:cxnSp>
    </p:spTree>
    <p:extLst>
      <p:ext uri="{BB962C8B-B14F-4D97-AF65-F5344CB8AC3E}">
        <p14:creationId xmlns:p14="http://schemas.microsoft.com/office/powerpoint/2010/main" val="40707916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 calcmode="lin" valueType="num">
                                      <p:cBhvr additive="base">
                                        <p:cTn id="7" dur="500" fill="hold"/>
                                        <p:tgtEl>
                                          <p:spTgt spid="8"/>
                                        </p:tgtEl>
                                        <p:attrNameLst>
                                          <p:attrName>ppt_x</p:attrName>
                                        </p:attrNameLst>
                                      </p:cBhvr>
                                      <p:tavLst>
                                        <p:tav tm="0">
                                          <p:val>
                                            <p:strVal val="#ppt_x"/>
                                          </p:val>
                                        </p:tav>
                                        <p:tav tm="100000">
                                          <p:val>
                                            <p:strVal val="#ppt_x"/>
                                          </p:val>
                                        </p:tav>
                                      </p:tavLst>
                                    </p:anim>
                                    <p:anim calcmode="lin" valueType="num">
                                      <p:cBhvr additive="base">
                                        <p:cTn id="8" dur="500" fill="hold"/>
                                        <p:tgtEl>
                                          <p:spTgt spid="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458E0B-A2E8-1BAF-25D4-9C9038B739FF}"/>
              </a:ext>
            </a:extLst>
          </p:cNvPr>
          <p:cNvSpPr>
            <a:spLocks noGrp="1"/>
          </p:cNvSpPr>
          <p:nvPr>
            <p:ph type="title"/>
          </p:nvPr>
        </p:nvSpPr>
        <p:spPr/>
        <p:txBody>
          <a:bodyPr/>
          <a:lstStyle/>
          <a:p>
            <a:r>
              <a:rPr lang="es-AR" dirty="0"/>
              <a:t>El Análisis de Componentes Principales (PCA)</a:t>
            </a:r>
          </a:p>
        </p:txBody>
      </p:sp>
      <p:sp>
        <p:nvSpPr>
          <p:cNvPr id="3" name="Marcador de contenido 2">
            <a:extLst>
              <a:ext uri="{FF2B5EF4-FFF2-40B4-BE49-F238E27FC236}">
                <a16:creationId xmlns:a16="http://schemas.microsoft.com/office/drawing/2014/main" id="{7EE473DB-1FCD-8499-6AF0-19114F3BD730}"/>
              </a:ext>
            </a:extLst>
          </p:cNvPr>
          <p:cNvSpPr>
            <a:spLocks noGrp="1"/>
          </p:cNvSpPr>
          <p:nvPr>
            <p:ph idx="1"/>
          </p:nvPr>
        </p:nvSpPr>
        <p:spPr/>
        <p:txBody>
          <a:bodyPr>
            <a:normAutofit lnSpcReduction="10000"/>
          </a:bodyPr>
          <a:lstStyle/>
          <a:p>
            <a:r>
              <a:rPr lang="es-ES" dirty="0"/>
              <a:t>Este método explica el máximo porcentaje de varianza observada en cada variable a partir de un número menor de componentes que resuma esa información.</a:t>
            </a:r>
          </a:p>
          <a:p>
            <a:r>
              <a:rPr lang="es-ES" dirty="0"/>
              <a:t>Reproducir el máximo de varianza de cada variable observada con el mínimo número de compuestos. </a:t>
            </a:r>
            <a:r>
              <a:rPr lang="es-ES" sz="3000" b="1" dirty="0">
                <a:solidFill>
                  <a:srgbClr val="0070C0"/>
                </a:solidFill>
              </a:rPr>
              <a:t>No distingue entre varianza común y varianza no común</a:t>
            </a:r>
            <a:r>
              <a:rPr lang="es-ES" dirty="0"/>
              <a:t>.</a:t>
            </a:r>
          </a:p>
          <a:p>
            <a:r>
              <a:rPr lang="es-ES" dirty="0"/>
              <a:t>Una variable única, en el caso de no tener correlación con el resto de las variables, puede representarse a partir de un único componente. </a:t>
            </a:r>
          </a:p>
          <a:p>
            <a:r>
              <a:rPr lang="es-ES" sz="3000" b="1" dirty="0">
                <a:solidFill>
                  <a:srgbClr val="0070C0"/>
                </a:solidFill>
              </a:rPr>
              <a:t>No parte de un modelo de medición explícito</a:t>
            </a:r>
            <a:r>
              <a:rPr lang="es-ES" dirty="0"/>
              <a:t>.</a:t>
            </a:r>
          </a:p>
          <a:p>
            <a:endParaRPr lang="es-ES" dirty="0"/>
          </a:p>
        </p:txBody>
      </p:sp>
    </p:spTree>
    <p:extLst>
      <p:ext uri="{BB962C8B-B14F-4D97-AF65-F5344CB8AC3E}">
        <p14:creationId xmlns:p14="http://schemas.microsoft.com/office/powerpoint/2010/main" val="26264495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5B3BA6-9ED8-6834-E564-61CF7A0FD6BB}"/>
              </a:ext>
            </a:extLst>
          </p:cNvPr>
          <p:cNvSpPr>
            <a:spLocks noGrp="1"/>
          </p:cNvSpPr>
          <p:nvPr>
            <p:ph type="title"/>
          </p:nvPr>
        </p:nvSpPr>
        <p:spPr/>
        <p:txBody>
          <a:bodyPr/>
          <a:lstStyle/>
          <a:p>
            <a:r>
              <a:rPr lang="es-AR" dirty="0"/>
              <a:t>Diferencia con el Análisis Factorial (AF)</a:t>
            </a:r>
          </a:p>
        </p:txBody>
      </p:sp>
      <p:sp>
        <p:nvSpPr>
          <p:cNvPr id="3" name="Marcador de contenido 2">
            <a:extLst>
              <a:ext uri="{FF2B5EF4-FFF2-40B4-BE49-F238E27FC236}">
                <a16:creationId xmlns:a16="http://schemas.microsoft.com/office/drawing/2014/main" id="{1860E5BC-B67F-2E79-7D7F-C0788A7A050A}"/>
              </a:ext>
            </a:extLst>
          </p:cNvPr>
          <p:cNvSpPr>
            <a:spLocks noGrp="1"/>
          </p:cNvSpPr>
          <p:nvPr>
            <p:ph idx="1"/>
          </p:nvPr>
        </p:nvSpPr>
        <p:spPr/>
        <p:txBody>
          <a:bodyPr/>
          <a:lstStyle/>
          <a:p>
            <a:endParaRPr lang="es-AR"/>
          </a:p>
        </p:txBody>
      </p:sp>
    </p:spTree>
    <p:extLst>
      <p:ext uri="{BB962C8B-B14F-4D97-AF65-F5344CB8AC3E}">
        <p14:creationId xmlns:p14="http://schemas.microsoft.com/office/powerpoint/2010/main" val="19157355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CuadroTexto 7">
            <a:extLst>
              <a:ext uri="{FF2B5EF4-FFF2-40B4-BE49-F238E27FC236}">
                <a16:creationId xmlns:a16="http://schemas.microsoft.com/office/drawing/2014/main" id="{A1144AF9-2FEB-4561-8F3B-612D7E197C54}"/>
              </a:ext>
            </a:extLst>
          </p:cNvPr>
          <p:cNvSpPr txBox="1"/>
          <p:nvPr/>
        </p:nvSpPr>
        <p:spPr>
          <a:xfrm>
            <a:off x="653469" y="6308209"/>
            <a:ext cx="8468985" cy="369332"/>
          </a:xfrm>
          <a:prstGeom prst="rect">
            <a:avLst/>
          </a:prstGeom>
          <a:noFill/>
        </p:spPr>
        <p:txBody>
          <a:bodyPr wrap="none" rtlCol="0">
            <a:spAutoFit/>
          </a:bodyPr>
          <a:lstStyle/>
          <a:p>
            <a:r>
              <a:rPr lang="es-AR" dirty="0">
                <a:latin typeface="ArialUnicodeMS"/>
              </a:rPr>
              <a:t>Bollen &amp; Lennox, 1991; Lloret-Segura et al., 2014; </a:t>
            </a:r>
            <a:r>
              <a:rPr lang="es-AR" sz="1800" b="0" i="0" u="none" strike="noStrike" baseline="0" dirty="0" err="1">
                <a:latin typeface="ArialUnicodeMS"/>
              </a:rPr>
              <a:t>Sarnacchiaro</a:t>
            </a:r>
            <a:r>
              <a:rPr lang="es-AR" sz="1800" b="0" i="0" u="none" strike="noStrike" baseline="0" dirty="0">
                <a:latin typeface="ArialUnicodeMS"/>
              </a:rPr>
              <a:t> &amp; </a:t>
            </a:r>
            <a:r>
              <a:rPr lang="es-AR" sz="1800" b="0" i="0" u="none" strike="noStrike" baseline="0" dirty="0" err="1">
                <a:latin typeface="ArialUnicodeMS"/>
              </a:rPr>
              <a:t>Boccia</a:t>
            </a:r>
            <a:r>
              <a:rPr lang="es-AR" dirty="0">
                <a:latin typeface="ArialUnicodeMS"/>
              </a:rPr>
              <a:t>, </a:t>
            </a:r>
            <a:r>
              <a:rPr lang="es-AR" sz="1800" b="0" i="0" u="none" strike="noStrike" baseline="0" dirty="0">
                <a:latin typeface="ArialUnicodeMS"/>
              </a:rPr>
              <a:t>2017</a:t>
            </a:r>
            <a:endParaRPr lang="es-AR" dirty="0"/>
          </a:p>
        </p:txBody>
      </p:sp>
      <p:sp>
        <p:nvSpPr>
          <p:cNvPr id="3" name="CuadroTexto 2">
            <a:extLst>
              <a:ext uri="{FF2B5EF4-FFF2-40B4-BE49-F238E27FC236}">
                <a16:creationId xmlns:a16="http://schemas.microsoft.com/office/drawing/2014/main" id="{1DF9E8E8-4C6C-B9FA-7732-4759AA5749F4}"/>
              </a:ext>
            </a:extLst>
          </p:cNvPr>
          <p:cNvSpPr txBox="1"/>
          <p:nvPr/>
        </p:nvSpPr>
        <p:spPr>
          <a:xfrm>
            <a:off x="299846" y="1887204"/>
            <a:ext cx="720069" cy="646331"/>
          </a:xfrm>
          <a:prstGeom prst="rect">
            <a:avLst/>
          </a:prstGeom>
          <a:noFill/>
        </p:spPr>
        <p:txBody>
          <a:bodyPr wrap="none" rtlCol="0">
            <a:spAutoFit/>
          </a:bodyPr>
          <a:lstStyle/>
          <a:p>
            <a:r>
              <a:rPr lang="es-AR" sz="3600" b="1" dirty="0"/>
              <a:t>AF</a:t>
            </a:r>
          </a:p>
        </p:txBody>
      </p:sp>
      <p:pic>
        <p:nvPicPr>
          <p:cNvPr id="5" name="Imagen 4">
            <a:extLst>
              <a:ext uri="{FF2B5EF4-FFF2-40B4-BE49-F238E27FC236}">
                <a16:creationId xmlns:a16="http://schemas.microsoft.com/office/drawing/2014/main" id="{531E434C-2F81-0D79-8028-29701026232D}"/>
              </a:ext>
            </a:extLst>
          </p:cNvPr>
          <p:cNvPicPr>
            <a:picLocks noChangeAspect="1"/>
          </p:cNvPicPr>
          <p:nvPr/>
        </p:nvPicPr>
        <p:blipFill>
          <a:blip r:embed="rId3"/>
          <a:stretch>
            <a:fillRect/>
          </a:stretch>
        </p:blipFill>
        <p:spPr>
          <a:xfrm>
            <a:off x="6359446" y="611593"/>
            <a:ext cx="4635272" cy="3843884"/>
          </a:xfrm>
          <a:prstGeom prst="rect">
            <a:avLst/>
          </a:prstGeom>
        </p:spPr>
      </p:pic>
      <p:pic>
        <p:nvPicPr>
          <p:cNvPr id="6" name="Imagen 5">
            <a:extLst>
              <a:ext uri="{FF2B5EF4-FFF2-40B4-BE49-F238E27FC236}">
                <a16:creationId xmlns:a16="http://schemas.microsoft.com/office/drawing/2014/main" id="{54C4AB79-61D6-6149-2A57-8493EDA89B83}"/>
              </a:ext>
            </a:extLst>
          </p:cNvPr>
          <p:cNvPicPr>
            <a:picLocks noChangeAspect="1"/>
          </p:cNvPicPr>
          <p:nvPr/>
        </p:nvPicPr>
        <p:blipFill>
          <a:blip r:embed="rId4"/>
          <a:stretch>
            <a:fillRect/>
          </a:stretch>
        </p:blipFill>
        <p:spPr>
          <a:xfrm>
            <a:off x="1602095" y="809403"/>
            <a:ext cx="3956403" cy="3717513"/>
          </a:xfrm>
          <a:prstGeom prst="rect">
            <a:avLst/>
          </a:prstGeom>
        </p:spPr>
      </p:pic>
      <p:pic>
        <p:nvPicPr>
          <p:cNvPr id="14" name="Imagen 13">
            <a:extLst>
              <a:ext uri="{FF2B5EF4-FFF2-40B4-BE49-F238E27FC236}">
                <a16:creationId xmlns:a16="http://schemas.microsoft.com/office/drawing/2014/main" id="{0EE2CD29-5C57-D4AC-9934-8A20182F9D3A}"/>
              </a:ext>
            </a:extLst>
          </p:cNvPr>
          <p:cNvPicPr>
            <a:picLocks noChangeAspect="1"/>
          </p:cNvPicPr>
          <p:nvPr/>
        </p:nvPicPr>
        <p:blipFill>
          <a:blip r:embed="rId5"/>
          <a:stretch>
            <a:fillRect/>
          </a:stretch>
        </p:blipFill>
        <p:spPr>
          <a:xfrm>
            <a:off x="1241908" y="4560252"/>
            <a:ext cx="4676775" cy="1047750"/>
          </a:xfrm>
          <a:prstGeom prst="rect">
            <a:avLst/>
          </a:prstGeom>
        </p:spPr>
      </p:pic>
      <p:sp>
        <p:nvSpPr>
          <p:cNvPr id="4" name="CuadroTexto 3">
            <a:extLst>
              <a:ext uri="{FF2B5EF4-FFF2-40B4-BE49-F238E27FC236}">
                <a16:creationId xmlns:a16="http://schemas.microsoft.com/office/drawing/2014/main" id="{9F5BA56F-1421-35AA-2F1D-72C3B0D528AA}"/>
              </a:ext>
            </a:extLst>
          </p:cNvPr>
          <p:cNvSpPr txBox="1"/>
          <p:nvPr/>
        </p:nvSpPr>
        <p:spPr>
          <a:xfrm>
            <a:off x="10820066" y="1888464"/>
            <a:ext cx="1072088" cy="646331"/>
          </a:xfrm>
          <a:prstGeom prst="rect">
            <a:avLst/>
          </a:prstGeom>
          <a:noFill/>
        </p:spPr>
        <p:txBody>
          <a:bodyPr wrap="none" rtlCol="0">
            <a:spAutoFit/>
          </a:bodyPr>
          <a:lstStyle/>
          <a:p>
            <a:r>
              <a:rPr lang="es-AR" sz="3600" b="1" dirty="0"/>
              <a:t>PCA</a:t>
            </a:r>
          </a:p>
        </p:txBody>
      </p:sp>
    </p:spTree>
    <p:extLst>
      <p:ext uri="{BB962C8B-B14F-4D97-AF65-F5344CB8AC3E}">
        <p14:creationId xmlns:p14="http://schemas.microsoft.com/office/powerpoint/2010/main" val="20225387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barn(inVertical)">
                                      <p:cBhvr>
                                        <p:cTn id="7" dur="500"/>
                                        <p:tgtEl>
                                          <p:spTgt spid="6"/>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barn(inVertical)">
                                      <p:cBhvr>
                                        <p:cTn id="10" dur="500"/>
                                        <p:tgtEl>
                                          <p:spTgt spid="3"/>
                                        </p:tgtEl>
                                      </p:cBhvr>
                                    </p:animEffect>
                                  </p:childTnLst>
                                </p:cTn>
                              </p:par>
                            </p:childTnLst>
                          </p:cTn>
                        </p:par>
                      </p:childTnLst>
                    </p:cTn>
                  </p:par>
                  <p:par>
                    <p:cTn id="11" fill="hold">
                      <p:stCondLst>
                        <p:cond delay="indefinite"/>
                      </p:stCondLst>
                      <p:childTnLst>
                        <p:par>
                          <p:cTn id="12" fill="hold">
                            <p:stCondLst>
                              <p:cond delay="0"/>
                            </p:stCondLst>
                            <p:childTnLst>
                              <p:par>
                                <p:cTn id="13" presetID="2" presetClass="entr" presetSubtype="4"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anim calcmode="lin" valueType="num">
                                      <p:cBhvr additive="base">
                                        <p:cTn id="15" dur="500" fill="hold"/>
                                        <p:tgtEl>
                                          <p:spTgt spid="14"/>
                                        </p:tgtEl>
                                        <p:attrNameLst>
                                          <p:attrName>ppt_x</p:attrName>
                                        </p:attrNameLst>
                                      </p:cBhvr>
                                      <p:tavLst>
                                        <p:tav tm="0">
                                          <p:val>
                                            <p:strVal val="#ppt_x"/>
                                          </p:val>
                                        </p:tav>
                                        <p:tav tm="100000">
                                          <p:val>
                                            <p:strVal val="#ppt_x"/>
                                          </p:val>
                                        </p:tav>
                                      </p:tavLst>
                                    </p:anim>
                                    <p:anim calcmode="lin" valueType="num">
                                      <p:cBhvr additive="base">
                                        <p:cTn id="16" dur="500" fill="hold"/>
                                        <p:tgtEl>
                                          <p:spTgt spid="1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CBF6B5-FA3E-F2A5-5CF9-C25008C39021}"/>
              </a:ext>
            </a:extLst>
          </p:cNvPr>
          <p:cNvSpPr>
            <a:spLocks noGrp="1"/>
          </p:cNvSpPr>
          <p:nvPr>
            <p:ph type="title"/>
          </p:nvPr>
        </p:nvSpPr>
        <p:spPr/>
        <p:txBody>
          <a:bodyPr/>
          <a:lstStyle/>
          <a:p>
            <a:r>
              <a:rPr lang="es-AR" dirty="0"/>
              <a:t>El Análisis Factorial</a:t>
            </a:r>
          </a:p>
        </p:txBody>
      </p:sp>
      <p:sp>
        <p:nvSpPr>
          <p:cNvPr id="3" name="Marcador de contenido 2">
            <a:extLst>
              <a:ext uri="{FF2B5EF4-FFF2-40B4-BE49-F238E27FC236}">
                <a16:creationId xmlns:a16="http://schemas.microsoft.com/office/drawing/2014/main" id="{13884C6A-7DCA-DEBE-F8E5-8F08E44A80D3}"/>
              </a:ext>
            </a:extLst>
          </p:cNvPr>
          <p:cNvSpPr>
            <a:spLocks noGrp="1"/>
          </p:cNvSpPr>
          <p:nvPr>
            <p:ph idx="1"/>
          </p:nvPr>
        </p:nvSpPr>
        <p:spPr>
          <a:xfrm>
            <a:off x="838200" y="1825624"/>
            <a:ext cx="10515600" cy="4841393"/>
          </a:xfrm>
        </p:spPr>
        <p:txBody>
          <a:bodyPr>
            <a:normAutofit fontScale="85000" lnSpcReduction="10000"/>
          </a:bodyPr>
          <a:lstStyle/>
          <a:p>
            <a:r>
              <a:rPr lang="es-ES" dirty="0"/>
              <a:t>Identificar el número y composición de los factores comunes (variables latentes) necesarios para </a:t>
            </a:r>
            <a:r>
              <a:rPr lang="es-ES" sz="3200" b="1" dirty="0">
                <a:solidFill>
                  <a:srgbClr val="0070C0"/>
                </a:solidFill>
              </a:rPr>
              <a:t>explicar la varianza común (correlaciones/covarianzas) del conjunto de variables </a:t>
            </a:r>
            <a:r>
              <a:rPr lang="es-ES" dirty="0"/>
              <a:t>(ítems) analizadas.</a:t>
            </a:r>
          </a:p>
          <a:p>
            <a:r>
              <a:rPr lang="es-ES" dirty="0"/>
              <a:t>Se estima la parte de la varianza de cada ítem explicada por el factor común subyacente a un conjunto de ítems, precisamente a partir de la </a:t>
            </a:r>
            <a:r>
              <a:rPr lang="es-ES" i="1" dirty="0"/>
              <a:t>varianza común </a:t>
            </a:r>
            <a:r>
              <a:rPr lang="es-ES" dirty="0"/>
              <a:t>entre ese ítem y el resto de ítems que miden ese mismo factor (a esta parte de la varianza del ítem se le denomina comunalidad). </a:t>
            </a:r>
          </a:p>
          <a:p>
            <a:r>
              <a:rPr lang="es-ES" sz="3200" b="1" dirty="0">
                <a:solidFill>
                  <a:srgbClr val="0070C0"/>
                </a:solidFill>
              </a:rPr>
              <a:t>El resto de varianza del ítem es varianza no común (denominada unicidad o residuo), no contribuye a la medida de los factores comunes</a:t>
            </a:r>
            <a:r>
              <a:rPr lang="es-ES" dirty="0"/>
              <a:t>, y consecuentemente no se incluye en el proceso de identificación y estimación de los factores comunes. </a:t>
            </a:r>
          </a:p>
          <a:p>
            <a:r>
              <a:rPr lang="es-ES" dirty="0"/>
              <a:t>En este caso un ítem sin relación con el resto no contribuirá a la dimensionalidad del modelo (por no tener nada de común con el resto).</a:t>
            </a:r>
          </a:p>
        </p:txBody>
      </p:sp>
    </p:spTree>
    <p:extLst>
      <p:ext uri="{BB962C8B-B14F-4D97-AF65-F5344CB8AC3E}">
        <p14:creationId xmlns:p14="http://schemas.microsoft.com/office/powerpoint/2010/main" val="40764106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DEA9BB-315C-161A-AF2A-F7614A1633B8}"/>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65C6986-7D01-18A3-AA42-F4C80FB8D3BF}"/>
              </a:ext>
            </a:extLst>
          </p:cNvPr>
          <p:cNvSpPr>
            <a:spLocks noGrp="1"/>
          </p:cNvSpPr>
          <p:nvPr>
            <p:ph type="title"/>
          </p:nvPr>
        </p:nvSpPr>
        <p:spPr/>
        <p:txBody>
          <a:bodyPr/>
          <a:lstStyle/>
          <a:p>
            <a:r>
              <a:rPr lang="es-AR" dirty="0"/>
              <a:t>El Análisis Factorial</a:t>
            </a:r>
          </a:p>
        </p:txBody>
      </p:sp>
      <p:sp>
        <p:nvSpPr>
          <p:cNvPr id="3" name="Marcador de contenido 2">
            <a:extLst>
              <a:ext uri="{FF2B5EF4-FFF2-40B4-BE49-F238E27FC236}">
                <a16:creationId xmlns:a16="http://schemas.microsoft.com/office/drawing/2014/main" id="{4EDB5892-BF83-1632-9B46-0E03F5444CD8}"/>
              </a:ext>
            </a:extLst>
          </p:cNvPr>
          <p:cNvSpPr>
            <a:spLocks noGrp="1"/>
          </p:cNvSpPr>
          <p:nvPr>
            <p:ph idx="1"/>
          </p:nvPr>
        </p:nvSpPr>
        <p:spPr>
          <a:xfrm>
            <a:off x="838200" y="1825624"/>
            <a:ext cx="10515600" cy="4841393"/>
          </a:xfrm>
        </p:spPr>
        <p:txBody>
          <a:bodyPr>
            <a:normAutofit/>
          </a:bodyPr>
          <a:lstStyle/>
          <a:p>
            <a:r>
              <a:rPr lang="es-AR" sz="3000" b="1" dirty="0">
                <a:solidFill>
                  <a:srgbClr val="0070C0"/>
                </a:solidFill>
              </a:rPr>
              <a:t>Parte de un Modelo de Medición Explícito</a:t>
            </a:r>
            <a:r>
              <a:rPr lang="es-AR" dirty="0"/>
              <a:t>: Cada variable observada o ítem que se analiza está cuidadosamente seleccionado (construcción de test) para que refleje alguna característica del factor (constructo) que se pretende medir con él. </a:t>
            </a:r>
          </a:p>
          <a:p>
            <a:r>
              <a:rPr lang="es-ES" dirty="0"/>
              <a:t>Bajo el AF se asume que las medidas (puntajes en los respectivos ítems) son “reflectivas” o manifestaciones de ciertos constructos subyacentes (preespecificados en la construcción del test).</a:t>
            </a:r>
            <a:endParaRPr lang="es-AR" dirty="0"/>
          </a:p>
        </p:txBody>
      </p:sp>
    </p:spTree>
    <p:extLst>
      <p:ext uri="{BB962C8B-B14F-4D97-AF65-F5344CB8AC3E}">
        <p14:creationId xmlns:p14="http://schemas.microsoft.com/office/powerpoint/2010/main" val="62429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2BE6D88-BC35-2448-29F2-60F2DED693E1}"/>
              </a:ext>
            </a:extLst>
          </p:cNvPr>
          <p:cNvSpPr>
            <a:spLocks noGrp="1"/>
          </p:cNvSpPr>
          <p:nvPr>
            <p:ph type="title"/>
          </p:nvPr>
        </p:nvSpPr>
        <p:spPr/>
        <p:txBody>
          <a:bodyPr/>
          <a:lstStyle/>
          <a:p>
            <a:r>
              <a:rPr lang="es-AR" dirty="0"/>
              <a:t>PCA vs AF (Objetivos de Análisis Distintos)</a:t>
            </a:r>
          </a:p>
        </p:txBody>
      </p:sp>
      <p:graphicFrame>
        <p:nvGraphicFramePr>
          <p:cNvPr id="4" name="Marcador de contenido 3">
            <a:extLst>
              <a:ext uri="{FF2B5EF4-FFF2-40B4-BE49-F238E27FC236}">
                <a16:creationId xmlns:a16="http://schemas.microsoft.com/office/drawing/2014/main" id="{0E4BD7B7-D831-223D-259E-D13ECD79C962}"/>
              </a:ext>
            </a:extLst>
          </p:cNvPr>
          <p:cNvGraphicFramePr>
            <a:graphicFrameLocks noGrp="1"/>
          </p:cNvGraphicFramePr>
          <p:nvPr>
            <p:ph idx="1"/>
            <p:extLst>
              <p:ext uri="{D42A27DB-BD31-4B8C-83A1-F6EECF244321}">
                <p14:modId xmlns:p14="http://schemas.microsoft.com/office/powerpoint/2010/main" val="1886908950"/>
              </p:ext>
            </p:extLst>
          </p:nvPr>
        </p:nvGraphicFramePr>
        <p:xfrm>
          <a:off x="838200" y="1825625"/>
          <a:ext cx="10515600" cy="4389120"/>
        </p:xfrm>
        <a:graphic>
          <a:graphicData uri="http://schemas.openxmlformats.org/drawingml/2006/table">
            <a:tbl>
              <a:tblPr firstRow="1" bandRow="1">
                <a:tableStyleId>{5C22544A-7EE6-4342-B048-85BDC9FD1C3A}</a:tableStyleId>
              </a:tblPr>
              <a:tblGrid>
                <a:gridCol w="5257800">
                  <a:extLst>
                    <a:ext uri="{9D8B030D-6E8A-4147-A177-3AD203B41FA5}">
                      <a16:colId xmlns:a16="http://schemas.microsoft.com/office/drawing/2014/main" val="2390989448"/>
                    </a:ext>
                  </a:extLst>
                </a:gridCol>
                <a:gridCol w="5257800">
                  <a:extLst>
                    <a:ext uri="{9D8B030D-6E8A-4147-A177-3AD203B41FA5}">
                      <a16:colId xmlns:a16="http://schemas.microsoft.com/office/drawing/2014/main" val="2339772035"/>
                    </a:ext>
                  </a:extLst>
                </a:gridCol>
              </a:tblGrid>
              <a:tr h="370840">
                <a:tc>
                  <a:txBody>
                    <a:bodyPr/>
                    <a:lstStyle/>
                    <a:p>
                      <a:pPr algn="ctr"/>
                      <a:r>
                        <a:rPr lang="es-AR" sz="2400" dirty="0"/>
                        <a:t>PCA</a:t>
                      </a:r>
                    </a:p>
                  </a:txBody>
                  <a:tcPr/>
                </a:tc>
                <a:tc>
                  <a:txBody>
                    <a:bodyPr/>
                    <a:lstStyle/>
                    <a:p>
                      <a:pPr algn="ctr"/>
                      <a:r>
                        <a:rPr lang="es-AR" sz="2400" dirty="0"/>
                        <a:t>AF</a:t>
                      </a:r>
                    </a:p>
                  </a:txBody>
                  <a:tcPr/>
                </a:tc>
                <a:extLst>
                  <a:ext uri="{0D108BD9-81ED-4DB2-BD59-A6C34878D82A}">
                    <a16:rowId xmlns:a16="http://schemas.microsoft.com/office/drawing/2014/main" val="2016721415"/>
                  </a:ext>
                </a:extLst>
              </a:tr>
              <a:tr h="370840">
                <a:tc>
                  <a:txBody>
                    <a:bodyPr/>
                    <a:lstStyle/>
                    <a:p>
                      <a:r>
                        <a:rPr lang="es-AR" sz="2400" dirty="0"/>
                        <a:t>Explicar el máximo porcentaje de varianza con la menor cantidad de componentes.</a:t>
                      </a:r>
                    </a:p>
                  </a:txBody>
                  <a:tcPr/>
                </a:tc>
                <a:tc>
                  <a:txBody>
                    <a:bodyPr/>
                    <a:lstStyle/>
                    <a:p>
                      <a:r>
                        <a:rPr lang="es-AR" sz="2400" dirty="0"/>
                        <a:t>Estimar varianza común y el residuo (unicidad). La dimensionalidad se determina por la varianza común. </a:t>
                      </a:r>
                    </a:p>
                  </a:txBody>
                  <a:tcPr/>
                </a:tc>
                <a:extLst>
                  <a:ext uri="{0D108BD9-81ED-4DB2-BD59-A6C34878D82A}">
                    <a16:rowId xmlns:a16="http://schemas.microsoft.com/office/drawing/2014/main" val="4200782732"/>
                  </a:ext>
                </a:extLst>
              </a:tr>
              <a:tr h="370840">
                <a:tc>
                  <a:txBody>
                    <a:bodyPr/>
                    <a:lstStyle/>
                    <a:p>
                      <a:r>
                        <a:rPr lang="es-AR" sz="2400" dirty="0"/>
                        <a:t>Una variable única, sin relación con el resto de las variables, puede quedar representada como un componente único. </a:t>
                      </a:r>
                    </a:p>
                  </a:txBody>
                  <a:tcPr/>
                </a:tc>
                <a:tc>
                  <a:txBody>
                    <a:bodyPr/>
                    <a:lstStyle/>
                    <a:p>
                      <a:r>
                        <a:rPr lang="es-AR" sz="2400" dirty="0"/>
                        <a:t>Una variable única, sin relación con el resto de las variables, </a:t>
                      </a:r>
                      <a:r>
                        <a:rPr lang="es-ES" sz="2400" dirty="0"/>
                        <a:t>no contribuye a la medida de los factores comunes, y por tanto carece de importancia en el modelo.</a:t>
                      </a:r>
                      <a:endParaRPr lang="es-AR" sz="2400" dirty="0"/>
                    </a:p>
                  </a:txBody>
                  <a:tcPr/>
                </a:tc>
                <a:extLst>
                  <a:ext uri="{0D108BD9-81ED-4DB2-BD59-A6C34878D82A}">
                    <a16:rowId xmlns:a16="http://schemas.microsoft.com/office/drawing/2014/main" val="4142390431"/>
                  </a:ext>
                </a:extLst>
              </a:tr>
              <a:tr h="370840">
                <a:tc>
                  <a:txBody>
                    <a:bodyPr/>
                    <a:lstStyle/>
                    <a:p>
                      <a:r>
                        <a:rPr lang="es-AR" sz="2400" dirty="0"/>
                        <a:t>No parte de un modelo de medición explícito.</a:t>
                      </a:r>
                    </a:p>
                  </a:txBody>
                  <a:tcPr/>
                </a:tc>
                <a:tc>
                  <a:txBody>
                    <a:bodyPr/>
                    <a:lstStyle/>
                    <a:p>
                      <a:r>
                        <a:rPr lang="es-AR" sz="2400" dirty="0"/>
                        <a:t>Parte de un modelo de medición explícito.</a:t>
                      </a:r>
                    </a:p>
                  </a:txBody>
                  <a:tcPr/>
                </a:tc>
                <a:extLst>
                  <a:ext uri="{0D108BD9-81ED-4DB2-BD59-A6C34878D82A}">
                    <a16:rowId xmlns:a16="http://schemas.microsoft.com/office/drawing/2014/main" val="1557163438"/>
                  </a:ext>
                </a:extLst>
              </a:tr>
            </a:tbl>
          </a:graphicData>
        </a:graphic>
      </p:graphicFrame>
    </p:spTree>
    <p:extLst>
      <p:ext uri="{BB962C8B-B14F-4D97-AF65-F5344CB8AC3E}">
        <p14:creationId xmlns:p14="http://schemas.microsoft.com/office/powerpoint/2010/main" val="62927509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D5595B-88BF-9833-B336-F231F214CECC}"/>
            </a:ext>
          </a:extLst>
        </p:cNvPr>
        <p:cNvGrpSpPr/>
        <p:nvPr/>
      </p:nvGrpSpPr>
      <p:grpSpPr>
        <a:xfrm>
          <a:off x="0" y="0"/>
          <a:ext cx="0" cy="0"/>
          <a:chOff x="0" y="0"/>
          <a:chExt cx="0" cy="0"/>
        </a:xfrm>
      </p:grpSpPr>
      <p:sp>
        <p:nvSpPr>
          <p:cNvPr id="3" name="CuadroTexto 2">
            <a:extLst>
              <a:ext uri="{FF2B5EF4-FFF2-40B4-BE49-F238E27FC236}">
                <a16:creationId xmlns:a16="http://schemas.microsoft.com/office/drawing/2014/main" id="{08369148-B76B-E021-C963-16446BF46E36}"/>
              </a:ext>
            </a:extLst>
          </p:cNvPr>
          <p:cNvSpPr txBox="1"/>
          <p:nvPr/>
        </p:nvSpPr>
        <p:spPr>
          <a:xfrm>
            <a:off x="299846" y="1887204"/>
            <a:ext cx="720069" cy="646331"/>
          </a:xfrm>
          <a:prstGeom prst="rect">
            <a:avLst/>
          </a:prstGeom>
          <a:noFill/>
        </p:spPr>
        <p:txBody>
          <a:bodyPr wrap="none" rtlCol="0">
            <a:spAutoFit/>
          </a:bodyPr>
          <a:lstStyle/>
          <a:p>
            <a:r>
              <a:rPr lang="es-AR" sz="3600" b="1" dirty="0"/>
              <a:t>AF</a:t>
            </a:r>
          </a:p>
        </p:txBody>
      </p:sp>
      <p:pic>
        <p:nvPicPr>
          <p:cNvPr id="5" name="Imagen 4">
            <a:extLst>
              <a:ext uri="{FF2B5EF4-FFF2-40B4-BE49-F238E27FC236}">
                <a16:creationId xmlns:a16="http://schemas.microsoft.com/office/drawing/2014/main" id="{788F79F8-DFFE-CCED-93D7-6E7F27A251F0}"/>
              </a:ext>
            </a:extLst>
          </p:cNvPr>
          <p:cNvPicPr>
            <a:picLocks noChangeAspect="1"/>
          </p:cNvPicPr>
          <p:nvPr/>
        </p:nvPicPr>
        <p:blipFill>
          <a:blip r:embed="rId3"/>
          <a:stretch>
            <a:fillRect/>
          </a:stretch>
        </p:blipFill>
        <p:spPr>
          <a:xfrm>
            <a:off x="6359446" y="611593"/>
            <a:ext cx="4635272" cy="3843884"/>
          </a:xfrm>
          <a:prstGeom prst="rect">
            <a:avLst/>
          </a:prstGeom>
        </p:spPr>
      </p:pic>
      <p:pic>
        <p:nvPicPr>
          <p:cNvPr id="6" name="Imagen 5">
            <a:extLst>
              <a:ext uri="{FF2B5EF4-FFF2-40B4-BE49-F238E27FC236}">
                <a16:creationId xmlns:a16="http://schemas.microsoft.com/office/drawing/2014/main" id="{FF8BE75A-4D99-059F-83F6-4597EB0610F0}"/>
              </a:ext>
            </a:extLst>
          </p:cNvPr>
          <p:cNvPicPr>
            <a:picLocks noChangeAspect="1"/>
          </p:cNvPicPr>
          <p:nvPr/>
        </p:nvPicPr>
        <p:blipFill>
          <a:blip r:embed="rId4"/>
          <a:stretch>
            <a:fillRect/>
          </a:stretch>
        </p:blipFill>
        <p:spPr>
          <a:xfrm>
            <a:off x="1602095" y="809403"/>
            <a:ext cx="3956403" cy="3717513"/>
          </a:xfrm>
          <a:prstGeom prst="rect">
            <a:avLst/>
          </a:prstGeom>
        </p:spPr>
      </p:pic>
      <p:pic>
        <p:nvPicPr>
          <p:cNvPr id="12" name="Imagen 11">
            <a:extLst>
              <a:ext uri="{FF2B5EF4-FFF2-40B4-BE49-F238E27FC236}">
                <a16:creationId xmlns:a16="http://schemas.microsoft.com/office/drawing/2014/main" id="{C9D32340-01CF-FA0C-E2BE-CCF20F4135C1}"/>
              </a:ext>
            </a:extLst>
          </p:cNvPr>
          <p:cNvPicPr>
            <a:picLocks noChangeAspect="1"/>
          </p:cNvPicPr>
          <p:nvPr/>
        </p:nvPicPr>
        <p:blipFill>
          <a:blip r:embed="rId5"/>
          <a:stretch>
            <a:fillRect/>
          </a:stretch>
        </p:blipFill>
        <p:spPr>
          <a:xfrm>
            <a:off x="6586344" y="4453258"/>
            <a:ext cx="4181475" cy="1152525"/>
          </a:xfrm>
          <a:prstGeom prst="rect">
            <a:avLst/>
          </a:prstGeom>
        </p:spPr>
      </p:pic>
      <p:pic>
        <p:nvPicPr>
          <p:cNvPr id="14" name="Imagen 13">
            <a:extLst>
              <a:ext uri="{FF2B5EF4-FFF2-40B4-BE49-F238E27FC236}">
                <a16:creationId xmlns:a16="http://schemas.microsoft.com/office/drawing/2014/main" id="{A7039FAD-BE7E-00BE-21B6-73B2C28C490B}"/>
              </a:ext>
            </a:extLst>
          </p:cNvPr>
          <p:cNvPicPr>
            <a:picLocks noChangeAspect="1"/>
          </p:cNvPicPr>
          <p:nvPr/>
        </p:nvPicPr>
        <p:blipFill>
          <a:blip r:embed="rId6"/>
          <a:stretch>
            <a:fillRect/>
          </a:stretch>
        </p:blipFill>
        <p:spPr>
          <a:xfrm>
            <a:off x="1241908" y="4560252"/>
            <a:ext cx="4676775" cy="1047750"/>
          </a:xfrm>
          <a:prstGeom prst="rect">
            <a:avLst/>
          </a:prstGeom>
        </p:spPr>
      </p:pic>
      <p:sp>
        <p:nvSpPr>
          <p:cNvPr id="4" name="CuadroTexto 3">
            <a:extLst>
              <a:ext uri="{FF2B5EF4-FFF2-40B4-BE49-F238E27FC236}">
                <a16:creationId xmlns:a16="http://schemas.microsoft.com/office/drawing/2014/main" id="{8C09217B-8B82-D9D8-8AF8-E51F691D8570}"/>
              </a:ext>
            </a:extLst>
          </p:cNvPr>
          <p:cNvSpPr txBox="1"/>
          <p:nvPr/>
        </p:nvSpPr>
        <p:spPr>
          <a:xfrm>
            <a:off x="10820066" y="1888464"/>
            <a:ext cx="1072088" cy="646331"/>
          </a:xfrm>
          <a:prstGeom prst="rect">
            <a:avLst/>
          </a:prstGeom>
          <a:noFill/>
        </p:spPr>
        <p:txBody>
          <a:bodyPr wrap="none" rtlCol="0">
            <a:spAutoFit/>
          </a:bodyPr>
          <a:lstStyle/>
          <a:p>
            <a:r>
              <a:rPr lang="es-AR" sz="3600" b="1" dirty="0"/>
              <a:t>PCA</a:t>
            </a:r>
          </a:p>
        </p:txBody>
      </p:sp>
      <p:sp>
        <p:nvSpPr>
          <p:cNvPr id="2" name="Rectángulo 1">
            <a:extLst>
              <a:ext uri="{FF2B5EF4-FFF2-40B4-BE49-F238E27FC236}">
                <a16:creationId xmlns:a16="http://schemas.microsoft.com/office/drawing/2014/main" id="{0821407E-79AB-31FE-AE44-95C82CA5E724}"/>
              </a:ext>
            </a:extLst>
          </p:cNvPr>
          <p:cNvSpPr/>
          <p:nvPr/>
        </p:nvSpPr>
        <p:spPr>
          <a:xfrm>
            <a:off x="1114422" y="342102"/>
            <a:ext cx="4946487" cy="5630863"/>
          </a:xfrm>
          <a:prstGeom prst="rect">
            <a:avLst/>
          </a:prstGeom>
          <a:noFill/>
          <a:ln w="571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Tree>
    <p:extLst>
      <p:ext uri="{BB962C8B-B14F-4D97-AF65-F5344CB8AC3E}">
        <p14:creationId xmlns:p14="http://schemas.microsoft.com/office/powerpoint/2010/main" val="2617482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arn(inVertical)">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F43361-C825-3F90-1569-05878E5164C2}"/>
              </a:ext>
            </a:extLst>
          </p:cNvPr>
          <p:cNvSpPr>
            <a:spLocks noGrp="1"/>
          </p:cNvSpPr>
          <p:nvPr>
            <p:ph type="title"/>
          </p:nvPr>
        </p:nvSpPr>
        <p:spPr/>
        <p:txBody>
          <a:bodyPr/>
          <a:lstStyle/>
          <a:p>
            <a:r>
              <a:rPr lang="es-AR" dirty="0"/>
              <a:t>Análisis Factorial y Validación del </a:t>
            </a:r>
            <a:r>
              <a:rPr lang="es-AR" dirty="0" err="1"/>
              <a:t>Contructo</a:t>
            </a:r>
            <a:endParaRPr lang="es-AR" dirty="0"/>
          </a:p>
        </p:txBody>
      </p:sp>
      <p:sp>
        <p:nvSpPr>
          <p:cNvPr id="3" name="Marcador de texto 2">
            <a:extLst>
              <a:ext uri="{FF2B5EF4-FFF2-40B4-BE49-F238E27FC236}">
                <a16:creationId xmlns:a16="http://schemas.microsoft.com/office/drawing/2014/main" id="{4ADF506D-E20E-B6AE-932A-E38B3C774D5B}"/>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7683763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AC89959-D2E0-970F-AC62-C9A840466B5C}"/>
              </a:ext>
            </a:extLst>
          </p:cNvPr>
          <p:cNvSpPr>
            <a:spLocks noGrp="1"/>
          </p:cNvSpPr>
          <p:nvPr>
            <p:ph type="title"/>
          </p:nvPr>
        </p:nvSpPr>
        <p:spPr/>
        <p:txBody>
          <a:bodyPr/>
          <a:lstStyle/>
          <a:p>
            <a:r>
              <a:rPr lang="es-AR" dirty="0"/>
              <a:t>El AF se clarifica a la luz del Proceso de Validación de Constructo</a:t>
            </a:r>
          </a:p>
        </p:txBody>
      </p:sp>
      <p:sp>
        <p:nvSpPr>
          <p:cNvPr id="3" name="Marcador de contenido 2">
            <a:extLst>
              <a:ext uri="{FF2B5EF4-FFF2-40B4-BE49-F238E27FC236}">
                <a16:creationId xmlns:a16="http://schemas.microsoft.com/office/drawing/2014/main" id="{033874A1-CC80-05EB-DB25-F90127CC99E1}"/>
              </a:ext>
            </a:extLst>
          </p:cNvPr>
          <p:cNvSpPr>
            <a:spLocks noGrp="1"/>
          </p:cNvSpPr>
          <p:nvPr>
            <p:ph idx="1"/>
          </p:nvPr>
        </p:nvSpPr>
        <p:spPr/>
        <p:txBody>
          <a:bodyPr/>
          <a:lstStyle/>
          <a:p>
            <a:endParaRPr lang="es-AR" dirty="0"/>
          </a:p>
          <a:p>
            <a:r>
              <a:rPr lang="es-AR" dirty="0"/>
              <a:t>El AF </a:t>
            </a:r>
            <a:r>
              <a:rPr lang="es-AR" sz="3000" b="1" dirty="0">
                <a:solidFill>
                  <a:srgbClr val="0070C0"/>
                </a:solidFill>
              </a:rPr>
              <a:t>parte de un modelo de medición explícito.</a:t>
            </a:r>
          </a:p>
          <a:p>
            <a:endParaRPr lang="es-AR" dirty="0"/>
          </a:p>
        </p:txBody>
      </p:sp>
    </p:spTree>
    <p:extLst>
      <p:ext uri="{BB962C8B-B14F-4D97-AF65-F5344CB8AC3E}">
        <p14:creationId xmlns:p14="http://schemas.microsoft.com/office/powerpoint/2010/main" val="114635780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344753F-6D84-3F22-9CFF-C75F3BC8B281}"/>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42D1FA12-3745-06B2-9312-B9C5D1E1B63E}"/>
              </a:ext>
            </a:extLst>
          </p:cNvPr>
          <p:cNvSpPr>
            <a:spLocks noGrp="1"/>
          </p:cNvSpPr>
          <p:nvPr>
            <p:ph idx="1"/>
          </p:nvPr>
        </p:nvSpPr>
        <p:spPr/>
        <p:txBody>
          <a:bodyPr/>
          <a:lstStyle/>
          <a:p>
            <a:endParaRPr lang="es-AR" dirty="0"/>
          </a:p>
        </p:txBody>
      </p:sp>
      <p:pic>
        <p:nvPicPr>
          <p:cNvPr id="4" name="Imagen 3">
            <a:extLst>
              <a:ext uri="{FF2B5EF4-FFF2-40B4-BE49-F238E27FC236}">
                <a16:creationId xmlns:a16="http://schemas.microsoft.com/office/drawing/2014/main" id="{579F3C0B-5816-1148-6269-69A0C5A72084}"/>
              </a:ext>
            </a:extLst>
          </p:cNvPr>
          <p:cNvPicPr>
            <a:picLocks noChangeAspect="1"/>
          </p:cNvPicPr>
          <p:nvPr/>
        </p:nvPicPr>
        <p:blipFill>
          <a:blip r:embed="rId2"/>
          <a:stretch>
            <a:fillRect/>
          </a:stretch>
        </p:blipFill>
        <p:spPr>
          <a:xfrm>
            <a:off x="6096000" y="0"/>
            <a:ext cx="5390236" cy="6858000"/>
          </a:xfrm>
          <a:prstGeom prst="rect">
            <a:avLst/>
          </a:prstGeom>
          <a:ln>
            <a:solidFill>
              <a:schemeClr val="tx1"/>
            </a:solidFill>
          </a:ln>
        </p:spPr>
      </p:pic>
      <p:graphicFrame>
        <p:nvGraphicFramePr>
          <p:cNvPr id="5" name="Objeto 4">
            <a:extLst>
              <a:ext uri="{FF2B5EF4-FFF2-40B4-BE49-F238E27FC236}">
                <a16:creationId xmlns:a16="http://schemas.microsoft.com/office/drawing/2014/main" id="{99DB4834-3E9F-46B7-8CDD-C6835ACE05D8}"/>
              </a:ext>
            </a:extLst>
          </p:cNvPr>
          <p:cNvGraphicFramePr>
            <a:graphicFrameLocks noChangeAspect="1"/>
          </p:cNvGraphicFramePr>
          <p:nvPr/>
        </p:nvGraphicFramePr>
        <p:xfrm>
          <a:off x="354797" y="0"/>
          <a:ext cx="5119724" cy="6858000"/>
        </p:xfrm>
        <a:graphic>
          <a:graphicData uri="http://schemas.openxmlformats.org/presentationml/2006/ole">
            <mc:AlternateContent xmlns:mc="http://schemas.openxmlformats.org/markup-compatibility/2006">
              <mc:Choice xmlns:v="urn:schemas-microsoft-com:vml" Requires="v">
                <p:oleObj name="Bitmap Image" r:id="rId3" imgW="4015800" imgH="5379840" progId="PBrush">
                  <p:embed/>
                </p:oleObj>
              </mc:Choice>
              <mc:Fallback>
                <p:oleObj name="Bitmap Image" r:id="rId3" imgW="4015800" imgH="5379840" progId="PBrush">
                  <p:embed/>
                  <p:pic>
                    <p:nvPicPr>
                      <p:cNvPr id="5" name="Objeto 4">
                        <a:extLst>
                          <a:ext uri="{FF2B5EF4-FFF2-40B4-BE49-F238E27FC236}">
                            <a16:creationId xmlns:a16="http://schemas.microsoft.com/office/drawing/2014/main" id="{99DB4834-3E9F-46B7-8CDD-C6835ACE05D8}"/>
                          </a:ext>
                        </a:extLst>
                      </p:cNvPr>
                      <p:cNvPicPr/>
                      <p:nvPr/>
                    </p:nvPicPr>
                    <p:blipFill>
                      <a:blip r:embed="rId4"/>
                      <a:stretch>
                        <a:fillRect/>
                      </a:stretch>
                    </p:blipFill>
                    <p:spPr>
                      <a:xfrm>
                        <a:off x="354797" y="0"/>
                        <a:ext cx="5119724" cy="6858000"/>
                      </a:xfrm>
                      <a:prstGeom prst="rect">
                        <a:avLst/>
                      </a:prstGeom>
                      <a:ln>
                        <a:solidFill>
                          <a:schemeClr val="tx1"/>
                        </a:solidFill>
                      </a:ln>
                    </p:spPr>
                  </p:pic>
                </p:oleObj>
              </mc:Fallback>
            </mc:AlternateContent>
          </a:graphicData>
        </a:graphic>
      </p:graphicFrame>
    </p:spTree>
    <p:extLst>
      <p:ext uri="{BB962C8B-B14F-4D97-AF65-F5344CB8AC3E}">
        <p14:creationId xmlns:p14="http://schemas.microsoft.com/office/powerpoint/2010/main" val="53701816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03D9F58-B4DE-43F7-A4EF-02CF75BA27BA}"/>
              </a:ext>
            </a:extLst>
          </p:cNvPr>
          <p:cNvSpPr>
            <a:spLocks noGrp="1"/>
          </p:cNvSpPr>
          <p:nvPr>
            <p:ph type="title"/>
          </p:nvPr>
        </p:nvSpPr>
        <p:spPr/>
        <p:txBody>
          <a:bodyPr/>
          <a:lstStyle/>
          <a:p>
            <a:r>
              <a:rPr lang="es-AR" dirty="0"/>
              <a:t>Aplicación para la obtención de un tipo específico de Evidencia de Validez</a:t>
            </a:r>
          </a:p>
        </p:txBody>
      </p:sp>
      <p:sp>
        <p:nvSpPr>
          <p:cNvPr id="3" name="Marcador de contenido 2">
            <a:extLst>
              <a:ext uri="{FF2B5EF4-FFF2-40B4-BE49-F238E27FC236}">
                <a16:creationId xmlns:a16="http://schemas.microsoft.com/office/drawing/2014/main" id="{FF5E95DC-F6B8-43AE-87A3-B062037E37DC}"/>
              </a:ext>
            </a:extLst>
          </p:cNvPr>
          <p:cNvSpPr>
            <a:spLocks noGrp="1"/>
          </p:cNvSpPr>
          <p:nvPr>
            <p:ph idx="1"/>
          </p:nvPr>
        </p:nvSpPr>
        <p:spPr>
          <a:xfrm>
            <a:off x="838200" y="2286000"/>
            <a:ext cx="10515600" cy="4023360"/>
          </a:xfrm>
        </p:spPr>
        <p:txBody>
          <a:bodyPr>
            <a:normAutofit/>
          </a:bodyPr>
          <a:lstStyle/>
          <a:p>
            <a:r>
              <a:rPr lang="es-AR" dirty="0"/>
              <a:t>La </a:t>
            </a:r>
            <a:r>
              <a:rPr lang="es-AR" sz="3000" b="1" dirty="0">
                <a:solidFill>
                  <a:srgbClr val="0070C0"/>
                </a:solidFill>
              </a:rPr>
              <a:t>Validación en el ámbito Psicométrico (o Validación de Constructo) </a:t>
            </a:r>
            <a:r>
              <a:rPr lang="es-AR" dirty="0"/>
              <a:t>refiere</a:t>
            </a:r>
            <a:r>
              <a:rPr lang="es-AR" sz="3000" b="1" dirty="0">
                <a:solidFill>
                  <a:srgbClr val="0070C0"/>
                </a:solidFill>
              </a:rPr>
              <a:t> </a:t>
            </a:r>
            <a:r>
              <a:rPr lang="es-AR" dirty="0"/>
              <a:t>al grado en que la evidencia y la teoría </a:t>
            </a:r>
            <a:r>
              <a:rPr lang="es-AR" sz="3000" b="1" dirty="0">
                <a:solidFill>
                  <a:srgbClr val="0070C0"/>
                </a:solidFill>
              </a:rPr>
              <a:t>avalan las interpretaciones de los puntajes del instrumento de medición </a:t>
            </a:r>
            <a:r>
              <a:rPr lang="es-AR" dirty="0"/>
              <a:t>para los fines propuestos por este  instrumento. </a:t>
            </a:r>
          </a:p>
          <a:p>
            <a:r>
              <a:rPr lang="es-AR" dirty="0"/>
              <a:t>El proceso de validación implica </a:t>
            </a:r>
            <a:r>
              <a:rPr lang="es-AR" sz="3000" b="1" dirty="0">
                <a:solidFill>
                  <a:srgbClr val="0070C0"/>
                </a:solidFill>
              </a:rPr>
              <a:t>acumular evidencia relevante/a favor de las interpretaciones que se proponen para los puntajes.</a:t>
            </a:r>
          </a:p>
          <a:p>
            <a:pPr algn="l">
              <a:buFont typeface="Wingdings" panose="05000000000000000000" pitchFamily="2" charset="2"/>
              <a:buChar char="Ø"/>
            </a:pPr>
            <a:endParaRPr lang="es-AR" dirty="0"/>
          </a:p>
        </p:txBody>
      </p:sp>
    </p:spTree>
    <p:extLst>
      <p:ext uri="{BB962C8B-B14F-4D97-AF65-F5344CB8AC3E}">
        <p14:creationId xmlns:p14="http://schemas.microsoft.com/office/powerpoint/2010/main" val="13037167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383E8F7-EE3E-4FCE-96BD-971AD36D6BDD}"/>
              </a:ext>
            </a:extLst>
          </p:cNvPr>
          <p:cNvSpPr>
            <a:spLocks noGrp="1"/>
          </p:cNvSpPr>
          <p:nvPr>
            <p:ph type="title"/>
          </p:nvPr>
        </p:nvSpPr>
        <p:spPr/>
        <p:txBody>
          <a:bodyPr>
            <a:normAutofit/>
          </a:bodyPr>
          <a:lstStyle/>
          <a:p>
            <a:r>
              <a:rPr lang="es-AR" noProof="0"/>
              <a:t>¿Porqué Preocuparnos por este Proceso?</a:t>
            </a:r>
          </a:p>
        </p:txBody>
      </p:sp>
      <p:sp>
        <p:nvSpPr>
          <p:cNvPr id="3" name="Marcador de contenido 2">
            <a:extLst>
              <a:ext uri="{FF2B5EF4-FFF2-40B4-BE49-F238E27FC236}">
                <a16:creationId xmlns:a16="http://schemas.microsoft.com/office/drawing/2014/main" id="{09D02E6A-BA34-4D51-B407-0BA9AEA189CE}"/>
              </a:ext>
            </a:extLst>
          </p:cNvPr>
          <p:cNvSpPr>
            <a:spLocks noGrp="1"/>
          </p:cNvSpPr>
          <p:nvPr>
            <p:ph idx="1"/>
          </p:nvPr>
        </p:nvSpPr>
        <p:spPr>
          <a:xfrm>
            <a:off x="3440782" y="2119111"/>
            <a:ext cx="8516175" cy="4023360"/>
          </a:xfrm>
        </p:spPr>
        <p:txBody>
          <a:bodyPr>
            <a:normAutofit fontScale="70000" lnSpcReduction="20000"/>
          </a:bodyPr>
          <a:lstStyle/>
          <a:p>
            <a:r>
              <a:rPr lang="es-AR" dirty="0"/>
              <a:t>Si el constructo de interés es estudiado con mediciones con pobre evidencias de validez esto significa que no tenemos certezas de lo que estamos midiendo.</a:t>
            </a:r>
          </a:p>
          <a:p>
            <a:endParaRPr lang="es-AR" dirty="0"/>
          </a:p>
          <a:p>
            <a:r>
              <a:rPr lang="es-AR" dirty="0"/>
              <a:t>El escrutinio y discusión sobre las prácticas de medición es fundamental, dado que la medición es la base para el logro del avance científico: si las medidas de un estudio no son válidas, sus conclusiones son, al menos, cuestionables.</a:t>
            </a:r>
          </a:p>
          <a:p>
            <a:endParaRPr lang="es-AR" dirty="0"/>
          </a:p>
          <a:p>
            <a:r>
              <a:rPr lang="es-AR" dirty="0"/>
              <a:t>La validación de constructo está también en la base de la utilidad clínica y de aplicación. Esto es, en la medida en que las decisiones profesionales diarias (</a:t>
            </a:r>
            <a:r>
              <a:rPr lang="es-AR" dirty="0" err="1"/>
              <a:t>e.g</a:t>
            </a:r>
            <a:r>
              <a:rPr lang="es-AR" dirty="0"/>
              <a:t>. decisiones terapéuticas, selección de personal) están basadas en las puntuaciones derivadas de estos instrumentos, la calidad de dichas decisiones depende de la calidad de la evidencia de validez obtenida.  </a:t>
            </a:r>
          </a:p>
        </p:txBody>
      </p:sp>
      <p:pic>
        <p:nvPicPr>
          <p:cNvPr id="4" name="Imagen 3">
            <a:extLst>
              <a:ext uri="{FF2B5EF4-FFF2-40B4-BE49-F238E27FC236}">
                <a16:creationId xmlns:a16="http://schemas.microsoft.com/office/drawing/2014/main" id="{B77B7622-7BD7-40ED-9169-C45F1382991D}"/>
              </a:ext>
            </a:extLst>
          </p:cNvPr>
          <p:cNvPicPr>
            <a:picLocks noChangeAspect="1"/>
          </p:cNvPicPr>
          <p:nvPr/>
        </p:nvPicPr>
        <p:blipFill>
          <a:blip r:embed="rId2"/>
          <a:stretch>
            <a:fillRect/>
          </a:stretch>
        </p:blipFill>
        <p:spPr>
          <a:xfrm>
            <a:off x="97710" y="1845734"/>
            <a:ext cx="3191340" cy="4312763"/>
          </a:xfrm>
          <a:prstGeom prst="rect">
            <a:avLst/>
          </a:prstGeom>
          <a:ln>
            <a:solidFill>
              <a:schemeClr val="tx1"/>
            </a:solidFill>
          </a:ln>
        </p:spPr>
      </p:pic>
    </p:spTree>
    <p:extLst>
      <p:ext uri="{BB962C8B-B14F-4D97-AF65-F5344CB8AC3E}">
        <p14:creationId xmlns:p14="http://schemas.microsoft.com/office/powerpoint/2010/main" val="17033784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anim calcmode="lin" valueType="num">
                                      <p:cBhvr additive="base">
                                        <p:cTn id="19"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61274C-671C-2AE4-3494-9DAEA542B929}"/>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8E36466-200C-3902-0BB5-ABE9EA063566}"/>
              </a:ext>
            </a:extLst>
          </p:cNvPr>
          <p:cNvSpPr>
            <a:spLocks noGrp="1"/>
          </p:cNvSpPr>
          <p:nvPr>
            <p:ph type="title"/>
          </p:nvPr>
        </p:nvSpPr>
        <p:spPr/>
        <p:txBody>
          <a:bodyPr/>
          <a:lstStyle/>
          <a:p>
            <a:r>
              <a:rPr lang="es-AR" dirty="0"/>
              <a:t>Aplicación para la obtención de un tipo específico de Evidencia de Validez</a:t>
            </a:r>
          </a:p>
        </p:txBody>
      </p:sp>
      <p:sp>
        <p:nvSpPr>
          <p:cNvPr id="3" name="Marcador de contenido 2">
            <a:extLst>
              <a:ext uri="{FF2B5EF4-FFF2-40B4-BE49-F238E27FC236}">
                <a16:creationId xmlns:a16="http://schemas.microsoft.com/office/drawing/2014/main" id="{24ED66AE-EEF7-B4B8-71CD-E12873C2ADC0}"/>
              </a:ext>
            </a:extLst>
          </p:cNvPr>
          <p:cNvSpPr>
            <a:spLocks noGrp="1"/>
          </p:cNvSpPr>
          <p:nvPr>
            <p:ph idx="1"/>
          </p:nvPr>
        </p:nvSpPr>
        <p:spPr>
          <a:xfrm>
            <a:off x="838200" y="2286000"/>
            <a:ext cx="10515600" cy="4023360"/>
          </a:xfrm>
        </p:spPr>
        <p:txBody>
          <a:bodyPr>
            <a:normAutofit/>
          </a:bodyPr>
          <a:lstStyle/>
          <a:p>
            <a:r>
              <a:rPr lang="es-AR" dirty="0"/>
              <a:t>El proceso de validación implica </a:t>
            </a:r>
            <a:r>
              <a:rPr lang="es-AR" sz="3000" b="1" dirty="0">
                <a:solidFill>
                  <a:srgbClr val="0070C0"/>
                </a:solidFill>
              </a:rPr>
              <a:t>acumular evidencia relevante/a favor de las interpretaciones que se proponen para los puntajes.</a:t>
            </a:r>
          </a:p>
          <a:p>
            <a:r>
              <a:rPr lang="es-AR" dirty="0"/>
              <a:t>Sin embargo, no es trivial ni fácil de determinar </a:t>
            </a:r>
            <a:r>
              <a:rPr lang="es-AR" sz="3000" b="1" dirty="0">
                <a:solidFill>
                  <a:srgbClr val="0070C0"/>
                </a:solidFill>
              </a:rPr>
              <a:t>qué se considera una buena evidencia de validez</a:t>
            </a:r>
            <a:r>
              <a:rPr lang="es-AR" dirty="0"/>
              <a:t> y se han propuesto diferentes abordajes teóricos y metodológicos.</a:t>
            </a:r>
            <a:endParaRPr lang="es-AR" sz="2200" dirty="0"/>
          </a:p>
          <a:p>
            <a:pPr algn="l">
              <a:buFont typeface="Wingdings" panose="05000000000000000000" pitchFamily="2" charset="2"/>
              <a:buChar char="Ø"/>
            </a:pPr>
            <a:endParaRPr lang="es-AR" dirty="0"/>
          </a:p>
        </p:txBody>
      </p:sp>
    </p:spTree>
    <p:extLst>
      <p:ext uri="{BB962C8B-B14F-4D97-AF65-F5344CB8AC3E}">
        <p14:creationId xmlns:p14="http://schemas.microsoft.com/office/powerpoint/2010/main" val="1211027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24F81B-26D0-F578-C820-74857F495BE0}"/>
              </a:ext>
            </a:extLst>
          </p:cNvPr>
          <p:cNvSpPr>
            <a:spLocks noGrp="1"/>
          </p:cNvSpPr>
          <p:nvPr>
            <p:ph type="title"/>
          </p:nvPr>
        </p:nvSpPr>
        <p:spPr/>
        <p:txBody>
          <a:bodyPr/>
          <a:lstStyle/>
          <a:p>
            <a:r>
              <a:rPr lang="es-AR" dirty="0"/>
              <a:t>Validación de Constructo</a:t>
            </a:r>
          </a:p>
        </p:txBody>
      </p:sp>
      <p:graphicFrame>
        <p:nvGraphicFramePr>
          <p:cNvPr id="4" name="Marcador de contenido 3">
            <a:extLst>
              <a:ext uri="{FF2B5EF4-FFF2-40B4-BE49-F238E27FC236}">
                <a16:creationId xmlns:a16="http://schemas.microsoft.com/office/drawing/2014/main" id="{4839E7C4-D801-33EC-E7C0-0F8F2B65302A}"/>
              </a:ext>
            </a:extLst>
          </p:cNvPr>
          <p:cNvGraphicFramePr>
            <a:graphicFrameLocks noGrp="1"/>
          </p:cNvGraphicFramePr>
          <p:nvPr>
            <p:ph idx="1"/>
            <p:extLst>
              <p:ext uri="{D42A27DB-BD31-4B8C-83A1-F6EECF244321}">
                <p14:modId xmlns:p14="http://schemas.microsoft.com/office/powerpoint/2010/main" val="2127756596"/>
              </p:ext>
            </p:extLst>
          </p:nvPr>
        </p:nvGraphicFramePr>
        <p:xfrm>
          <a:off x="838200" y="2640017"/>
          <a:ext cx="10515597" cy="421132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710726502"/>
                    </a:ext>
                  </a:extLst>
                </a:gridCol>
                <a:gridCol w="3505199">
                  <a:extLst>
                    <a:ext uri="{9D8B030D-6E8A-4147-A177-3AD203B41FA5}">
                      <a16:colId xmlns:a16="http://schemas.microsoft.com/office/drawing/2014/main" val="512355197"/>
                    </a:ext>
                  </a:extLst>
                </a:gridCol>
                <a:gridCol w="3505199">
                  <a:extLst>
                    <a:ext uri="{9D8B030D-6E8A-4147-A177-3AD203B41FA5}">
                      <a16:colId xmlns:a16="http://schemas.microsoft.com/office/drawing/2014/main" val="2075753816"/>
                    </a:ext>
                  </a:extLst>
                </a:gridCol>
              </a:tblGrid>
              <a:tr h="370840">
                <a:tc>
                  <a:txBody>
                    <a:bodyPr/>
                    <a:lstStyle/>
                    <a:p>
                      <a:r>
                        <a:rPr lang="es-AR" dirty="0"/>
                        <a:t>Fase</a:t>
                      </a:r>
                    </a:p>
                  </a:txBody>
                  <a:tcPr/>
                </a:tc>
                <a:tc>
                  <a:txBody>
                    <a:bodyPr/>
                    <a:lstStyle/>
                    <a:p>
                      <a:r>
                        <a:rPr lang="es-AR" dirty="0"/>
                        <a:t>Evidencia de Validez</a:t>
                      </a:r>
                    </a:p>
                  </a:txBody>
                  <a:tcPr/>
                </a:tc>
                <a:tc>
                  <a:txBody>
                    <a:bodyPr/>
                    <a:lstStyle/>
                    <a:p>
                      <a:r>
                        <a:rPr lang="es-AR" dirty="0"/>
                        <a:t>Descripción</a:t>
                      </a:r>
                    </a:p>
                  </a:txBody>
                  <a:tcPr/>
                </a:tc>
                <a:extLst>
                  <a:ext uri="{0D108BD9-81ED-4DB2-BD59-A6C34878D82A}">
                    <a16:rowId xmlns:a16="http://schemas.microsoft.com/office/drawing/2014/main" val="3422841591"/>
                  </a:ext>
                </a:extLst>
              </a:tr>
              <a:tr h="370840">
                <a:tc>
                  <a:txBody>
                    <a:bodyPr/>
                    <a:lstStyle/>
                    <a:p>
                      <a:pPr marL="342900" indent="-342900">
                        <a:buAutoNum type="arabicPeriod"/>
                      </a:pPr>
                      <a:r>
                        <a:rPr lang="es-AR" b="1" dirty="0"/>
                        <a:t>Sustantiva</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0" i="1" dirty="0"/>
                        <a:t>Delimitación teórica y conceptual. </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0" i="1" dirty="0"/>
                        <a:t>Construcción del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0" i="1" dirty="0"/>
                        <a:t>Prueba piloto.</a:t>
                      </a:r>
                    </a:p>
                    <a:p>
                      <a:pPr marL="342900" indent="-342900">
                        <a:buAutoNum type="arabicPeriod"/>
                      </a:pPr>
                      <a:endParaRPr lang="es-AR" dirty="0"/>
                    </a:p>
                  </a:txBody>
                  <a:tcPr/>
                </a:tc>
                <a:tc>
                  <a:txBody>
                    <a:bodyPr/>
                    <a:lstStyle/>
                    <a:p>
                      <a:r>
                        <a:rPr lang="es-AR" dirty="0"/>
                        <a:t>Revisión de Literatura y conceptualización del constructo.</a:t>
                      </a:r>
                    </a:p>
                  </a:txBody>
                  <a:tcPr/>
                </a:tc>
                <a:tc>
                  <a:txBody>
                    <a:bodyPr/>
                    <a:lstStyle/>
                    <a:p>
                      <a:r>
                        <a:rPr lang="es-AR" dirty="0"/>
                        <a:t>Identificar los alcances y límites del constructo propuesto (</a:t>
                      </a:r>
                      <a:r>
                        <a:rPr lang="es-AR" dirty="0" err="1"/>
                        <a:t>e.g</a:t>
                      </a:r>
                      <a:r>
                        <a:rPr lang="es-AR" dirty="0"/>
                        <a:t>., red nomológica)</a:t>
                      </a:r>
                    </a:p>
                  </a:txBody>
                  <a:tcPr/>
                </a:tc>
                <a:extLst>
                  <a:ext uri="{0D108BD9-81ED-4DB2-BD59-A6C34878D82A}">
                    <a16:rowId xmlns:a16="http://schemas.microsoft.com/office/drawing/2014/main" val="2414045180"/>
                  </a:ext>
                </a:extLst>
              </a:tr>
              <a:tr h="370840">
                <a:tc>
                  <a:txBody>
                    <a:bodyPr/>
                    <a:lstStyle/>
                    <a:p>
                      <a:endParaRPr lang="es-AR" dirty="0"/>
                    </a:p>
                  </a:txBody>
                  <a:tcPr/>
                </a:tc>
                <a:tc>
                  <a:txBody>
                    <a:bodyPr/>
                    <a:lstStyle/>
                    <a:p>
                      <a:r>
                        <a:rPr lang="es-AR" dirty="0"/>
                        <a:t>Desarrollo de los ítems y selección de la escala de respuesta.</a:t>
                      </a:r>
                    </a:p>
                  </a:txBody>
                  <a:tcPr/>
                </a:tc>
                <a:tc>
                  <a:txBody>
                    <a:bodyPr/>
                    <a:lstStyle/>
                    <a:p>
                      <a:r>
                        <a:rPr lang="es-AR" dirty="0"/>
                        <a:t>Revisión de Literatura. </a:t>
                      </a:r>
                    </a:p>
                    <a:p>
                      <a:r>
                        <a:rPr lang="es-AR" dirty="0"/>
                        <a:t>Revisión de Expertos.</a:t>
                      </a:r>
                    </a:p>
                  </a:txBody>
                  <a:tcPr/>
                </a:tc>
                <a:extLst>
                  <a:ext uri="{0D108BD9-81ED-4DB2-BD59-A6C34878D82A}">
                    <a16:rowId xmlns:a16="http://schemas.microsoft.com/office/drawing/2014/main" val="3025829608"/>
                  </a:ext>
                </a:extLst>
              </a:tr>
              <a:tr h="370840">
                <a:tc>
                  <a:txBody>
                    <a:bodyPr/>
                    <a:lstStyle/>
                    <a:p>
                      <a:endParaRPr lang="es-AR" dirty="0"/>
                    </a:p>
                  </a:txBody>
                  <a:tcPr/>
                </a:tc>
                <a:tc>
                  <a:txBody>
                    <a:bodyPr/>
                    <a:lstStyle/>
                    <a:p>
                      <a:r>
                        <a:rPr lang="es-AR" dirty="0"/>
                        <a:t>Relevancia del contenido y representatividad (validez de contenido), proceso de respuesta.</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Revisión de Expertos.</a:t>
                      </a:r>
                    </a:p>
                    <a:p>
                      <a:r>
                        <a:rPr lang="es-AR" dirty="0"/>
                        <a:t>Focus </a:t>
                      </a:r>
                      <a:r>
                        <a:rPr lang="es-AR" dirty="0" err="1"/>
                        <a:t>group</a:t>
                      </a:r>
                      <a:r>
                        <a:rPr lang="es-AR" dirty="0"/>
                        <a:t>.</a:t>
                      </a:r>
                    </a:p>
                    <a:p>
                      <a:r>
                        <a:rPr lang="es-AR" dirty="0"/>
                        <a:t>Entrevistas cognitivas.</a:t>
                      </a:r>
                    </a:p>
                  </a:txBody>
                  <a:tcPr/>
                </a:tc>
                <a:extLst>
                  <a:ext uri="{0D108BD9-81ED-4DB2-BD59-A6C34878D82A}">
                    <a16:rowId xmlns:a16="http://schemas.microsoft.com/office/drawing/2014/main" val="1823177964"/>
                  </a:ext>
                </a:extLst>
              </a:tr>
            </a:tbl>
          </a:graphicData>
        </a:graphic>
      </p:graphicFrame>
      <p:sp>
        <p:nvSpPr>
          <p:cNvPr id="6" name="Marcador de contenido 2">
            <a:extLst>
              <a:ext uri="{FF2B5EF4-FFF2-40B4-BE49-F238E27FC236}">
                <a16:creationId xmlns:a16="http://schemas.microsoft.com/office/drawing/2014/main" id="{182F46D8-A799-5311-CEA1-45F3D29B5D77}"/>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AR" dirty="0"/>
              <a:t>Es este proceso, ¿qué tipo de evidencia necesitamos?</a:t>
            </a:r>
          </a:p>
        </p:txBody>
      </p:sp>
    </p:spTree>
    <p:extLst>
      <p:ext uri="{BB962C8B-B14F-4D97-AF65-F5344CB8AC3E}">
        <p14:creationId xmlns:p14="http://schemas.microsoft.com/office/powerpoint/2010/main" val="278275691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5099A0-A86B-6A10-4A3C-81C79C2CED25}"/>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0E2352FE-30F9-A931-13F1-DC113C7FDC19}"/>
              </a:ext>
            </a:extLst>
          </p:cNvPr>
          <p:cNvSpPr>
            <a:spLocks noGrp="1"/>
          </p:cNvSpPr>
          <p:nvPr>
            <p:ph type="title"/>
          </p:nvPr>
        </p:nvSpPr>
        <p:spPr/>
        <p:txBody>
          <a:bodyPr/>
          <a:lstStyle/>
          <a:p>
            <a:r>
              <a:rPr lang="es-AR" dirty="0"/>
              <a:t>Validación de Constructo</a:t>
            </a:r>
          </a:p>
        </p:txBody>
      </p:sp>
      <p:graphicFrame>
        <p:nvGraphicFramePr>
          <p:cNvPr id="4" name="Marcador de contenido 3">
            <a:extLst>
              <a:ext uri="{FF2B5EF4-FFF2-40B4-BE49-F238E27FC236}">
                <a16:creationId xmlns:a16="http://schemas.microsoft.com/office/drawing/2014/main" id="{89AD77D0-7D4E-5792-47A7-3A926A9F428F}"/>
              </a:ext>
            </a:extLst>
          </p:cNvPr>
          <p:cNvGraphicFramePr>
            <a:graphicFrameLocks noGrp="1"/>
          </p:cNvGraphicFramePr>
          <p:nvPr>
            <p:ph idx="1"/>
            <p:extLst>
              <p:ext uri="{D42A27DB-BD31-4B8C-83A1-F6EECF244321}">
                <p14:modId xmlns:p14="http://schemas.microsoft.com/office/powerpoint/2010/main" val="4194577896"/>
              </p:ext>
            </p:extLst>
          </p:nvPr>
        </p:nvGraphicFramePr>
        <p:xfrm>
          <a:off x="838200" y="2640017"/>
          <a:ext cx="10515597" cy="366268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710726502"/>
                    </a:ext>
                  </a:extLst>
                </a:gridCol>
                <a:gridCol w="3505199">
                  <a:extLst>
                    <a:ext uri="{9D8B030D-6E8A-4147-A177-3AD203B41FA5}">
                      <a16:colId xmlns:a16="http://schemas.microsoft.com/office/drawing/2014/main" val="512355197"/>
                    </a:ext>
                  </a:extLst>
                </a:gridCol>
                <a:gridCol w="3505199">
                  <a:extLst>
                    <a:ext uri="{9D8B030D-6E8A-4147-A177-3AD203B41FA5}">
                      <a16:colId xmlns:a16="http://schemas.microsoft.com/office/drawing/2014/main" val="2075753816"/>
                    </a:ext>
                  </a:extLst>
                </a:gridCol>
              </a:tblGrid>
              <a:tr h="370840">
                <a:tc>
                  <a:txBody>
                    <a:bodyPr/>
                    <a:lstStyle/>
                    <a:p>
                      <a:r>
                        <a:rPr lang="es-AR" dirty="0"/>
                        <a:t>Fase</a:t>
                      </a:r>
                    </a:p>
                  </a:txBody>
                  <a:tcPr/>
                </a:tc>
                <a:tc>
                  <a:txBody>
                    <a:bodyPr/>
                    <a:lstStyle/>
                    <a:p>
                      <a:r>
                        <a:rPr lang="es-AR" dirty="0"/>
                        <a:t>Evidencia de Validez</a:t>
                      </a:r>
                    </a:p>
                  </a:txBody>
                  <a:tcPr/>
                </a:tc>
                <a:tc>
                  <a:txBody>
                    <a:bodyPr/>
                    <a:lstStyle/>
                    <a:p>
                      <a:r>
                        <a:rPr lang="es-AR" dirty="0"/>
                        <a:t>Descripción</a:t>
                      </a:r>
                    </a:p>
                  </a:txBody>
                  <a:tcPr/>
                </a:tc>
                <a:extLst>
                  <a:ext uri="{0D108BD9-81ED-4DB2-BD59-A6C34878D82A}">
                    <a16:rowId xmlns:a16="http://schemas.microsoft.com/office/drawing/2014/main" val="3422841591"/>
                  </a:ext>
                </a:extLst>
              </a:tr>
              <a:tr h="370840">
                <a:tc>
                  <a:txBody>
                    <a:bodyPr/>
                    <a:lstStyle/>
                    <a:p>
                      <a:pPr marL="342900" indent="-342900">
                        <a:buFont typeface="+mj-lt"/>
                        <a:buAutoNum type="arabicPeriod" startAt="2"/>
                      </a:pPr>
                      <a:r>
                        <a:rPr lang="es-AR" b="1" dirty="0"/>
                        <a:t>Estructural</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0" i="1" dirty="0"/>
                        <a:t>Obtención de datos a mayor escala para evaluar Propiedades Psicométricas.</a:t>
                      </a:r>
                    </a:p>
                    <a:p>
                      <a:pPr marL="342900" indent="-342900">
                        <a:buAutoNum type="arabicPeriod"/>
                      </a:pPr>
                      <a:endParaRPr lang="es-AR" dirty="0"/>
                    </a:p>
                  </a:txBody>
                  <a:tcPr/>
                </a:tc>
                <a:tc>
                  <a:txBody>
                    <a:bodyPr/>
                    <a:lstStyle/>
                    <a:p>
                      <a:r>
                        <a:rPr lang="es-AR" dirty="0"/>
                        <a:t>Funcionamiento de los ítems</a:t>
                      </a:r>
                    </a:p>
                  </a:txBody>
                  <a:tcPr/>
                </a:tc>
                <a:tc>
                  <a:txBody>
                    <a:bodyPr/>
                    <a:lstStyle/>
                    <a:p>
                      <a:r>
                        <a:rPr lang="es-AR" dirty="0"/>
                        <a:t>Análisis exploratorios de distribución y correlaciones.</a:t>
                      </a:r>
                    </a:p>
                    <a:p>
                      <a:r>
                        <a:rPr lang="es-AR" dirty="0"/>
                        <a:t>TRI (</a:t>
                      </a:r>
                      <a:r>
                        <a:rPr lang="es-AR" dirty="0" err="1"/>
                        <a:t>e.g</a:t>
                      </a:r>
                      <a:r>
                        <a:rPr lang="es-AR" dirty="0"/>
                        <a:t>. dificultad).</a:t>
                      </a:r>
                    </a:p>
                    <a:p>
                      <a:endParaRPr lang="es-AR" dirty="0"/>
                    </a:p>
                  </a:txBody>
                  <a:tcPr/>
                </a:tc>
                <a:extLst>
                  <a:ext uri="{0D108BD9-81ED-4DB2-BD59-A6C34878D82A}">
                    <a16:rowId xmlns:a16="http://schemas.microsoft.com/office/drawing/2014/main" val="2414045180"/>
                  </a:ext>
                </a:extLst>
              </a:tr>
              <a:tr h="370840">
                <a:tc>
                  <a:txBody>
                    <a:bodyPr/>
                    <a:lstStyle/>
                    <a:p>
                      <a:endParaRPr lang="es-AR" dirty="0"/>
                    </a:p>
                  </a:txBody>
                  <a:tcPr/>
                </a:tc>
                <a:tc>
                  <a:txBody>
                    <a:bodyPr/>
                    <a:lstStyle/>
                    <a:p>
                      <a:r>
                        <a:rPr lang="es-AR" dirty="0"/>
                        <a:t>Análisis Factorial</a:t>
                      </a:r>
                    </a:p>
                  </a:txBody>
                  <a:tcPr/>
                </a:tc>
                <a:tc>
                  <a:txBody>
                    <a:bodyPr/>
                    <a:lstStyle/>
                    <a:p>
                      <a:r>
                        <a:rPr lang="es-AR" dirty="0"/>
                        <a:t>AF exploratorio y confirmatorio, Invarianza de Medición (</a:t>
                      </a:r>
                      <a:r>
                        <a:rPr lang="es-AR" dirty="0" err="1"/>
                        <a:t>e.g</a:t>
                      </a:r>
                      <a:r>
                        <a:rPr lang="es-AR" dirty="0"/>
                        <a:t>., AF multigrupo), TRI.  </a:t>
                      </a:r>
                    </a:p>
                  </a:txBody>
                  <a:tcPr/>
                </a:tc>
                <a:extLst>
                  <a:ext uri="{0D108BD9-81ED-4DB2-BD59-A6C34878D82A}">
                    <a16:rowId xmlns:a16="http://schemas.microsoft.com/office/drawing/2014/main" val="3025829608"/>
                  </a:ext>
                </a:extLst>
              </a:tr>
              <a:tr h="370840">
                <a:tc>
                  <a:txBody>
                    <a:bodyPr/>
                    <a:lstStyle/>
                    <a:p>
                      <a:endParaRPr lang="es-AR" dirty="0"/>
                    </a:p>
                  </a:txBody>
                  <a:tcPr/>
                </a:tc>
                <a:tc>
                  <a:txBody>
                    <a:bodyPr/>
                    <a:lstStyle/>
                    <a:p>
                      <a:r>
                        <a:rPr lang="es-AR" dirty="0"/>
                        <a:t>Confiabilidad</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Consistencia interna (</a:t>
                      </a:r>
                      <a:r>
                        <a:rPr lang="es-AR" dirty="0" err="1"/>
                        <a:t>e.g</a:t>
                      </a:r>
                      <a:r>
                        <a:rPr lang="es-AR" dirty="0"/>
                        <a:t>., coeficientes alfa y omega), Test-re-test. </a:t>
                      </a:r>
                    </a:p>
                  </a:txBody>
                  <a:tcPr/>
                </a:tc>
                <a:extLst>
                  <a:ext uri="{0D108BD9-81ED-4DB2-BD59-A6C34878D82A}">
                    <a16:rowId xmlns:a16="http://schemas.microsoft.com/office/drawing/2014/main" val="1823177964"/>
                  </a:ext>
                </a:extLst>
              </a:tr>
            </a:tbl>
          </a:graphicData>
        </a:graphic>
      </p:graphicFrame>
      <p:sp>
        <p:nvSpPr>
          <p:cNvPr id="6" name="Marcador de contenido 2">
            <a:extLst>
              <a:ext uri="{FF2B5EF4-FFF2-40B4-BE49-F238E27FC236}">
                <a16:creationId xmlns:a16="http://schemas.microsoft.com/office/drawing/2014/main" id="{F9383744-9A32-AFAF-6D41-382D184053DB}"/>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AR" dirty="0"/>
              <a:t>Es este proceso, ¿qué tipo de evidencia necesitamos?</a:t>
            </a:r>
          </a:p>
        </p:txBody>
      </p:sp>
    </p:spTree>
    <p:extLst>
      <p:ext uri="{BB962C8B-B14F-4D97-AF65-F5344CB8AC3E}">
        <p14:creationId xmlns:p14="http://schemas.microsoft.com/office/powerpoint/2010/main" val="321998619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78F169E-87E4-D7F1-9884-19DBF3296C2A}"/>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9CB680C-0C16-CF52-4261-06D7B207E920}"/>
              </a:ext>
            </a:extLst>
          </p:cNvPr>
          <p:cNvSpPr>
            <a:spLocks noGrp="1"/>
          </p:cNvSpPr>
          <p:nvPr>
            <p:ph type="title"/>
          </p:nvPr>
        </p:nvSpPr>
        <p:spPr/>
        <p:txBody>
          <a:bodyPr/>
          <a:lstStyle/>
          <a:p>
            <a:r>
              <a:rPr lang="es-AR" dirty="0"/>
              <a:t>Validación de Constructo</a:t>
            </a:r>
          </a:p>
        </p:txBody>
      </p:sp>
      <p:graphicFrame>
        <p:nvGraphicFramePr>
          <p:cNvPr id="4" name="Marcador de contenido 3">
            <a:extLst>
              <a:ext uri="{FF2B5EF4-FFF2-40B4-BE49-F238E27FC236}">
                <a16:creationId xmlns:a16="http://schemas.microsoft.com/office/drawing/2014/main" id="{92A0351F-517D-4647-A45A-D59864CD1AA8}"/>
              </a:ext>
            </a:extLst>
          </p:cNvPr>
          <p:cNvGraphicFramePr>
            <a:graphicFrameLocks noGrp="1"/>
          </p:cNvGraphicFramePr>
          <p:nvPr>
            <p:ph idx="1"/>
            <p:extLst>
              <p:ext uri="{D42A27DB-BD31-4B8C-83A1-F6EECF244321}">
                <p14:modId xmlns:p14="http://schemas.microsoft.com/office/powerpoint/2010/main" val="2734559212"/>
              </p:ext>
            </p:extLst>
          </p:nvPr>
        </p:nvGraphicFramePr>
        <p:xfrm>
          <a:off x="838200" y="2566036"/>
          <a:ext cx="10515597" cy="4216400"/>
        </p:xfrm>
        <a:graphic>
          <a:graphicData uri="http://schemas.openxmlformats.org/drawingml/2006/table">
            <a:tbl>
              <a:tblPr firstRow="1" bandRow="1">
                <a:tableStyleId>{5C22544A-7EE6-4342-B048-85BDC9FD1C3A}</a:tableStyleId>
              </a:tblPr>
              <a:tblGrid>
                <a:gridCol w="3505199">
                  <a:extLst>
                    <a:ext uri="{9D8B030D-6E8A-4147-A177-3AD203B41FA5}">
                      <a16:colId xmlns:a16="http://schemas.microsoft.com/office/drawing/2014/main" val="710726502"/>
                    </a:ext>
                  </a:extLst>
                </a:gridCol>
                <a:gridCol w="3505199">
                  <a:extLst>
                    <a:ext uri="{9D8B030D-6E8A-4147-A177-3AD203B41FA5}">
                      <a16:colId xmlns:a16="http://schemas.microsoft.com/office/drawing/2014/main" val="512355197"/>
                    </a:ext>
                  </a:extLst>
                </a:gridCol>
                <a:gridCol w="3505199">
                  <a:extLst>
                    <a:ext uri="{9D8B030D-6E8A-4147-A177-3AD203B41FA5}">
                      <a16:colId xmlns:a16="http://schemas.microsoft.com/office/drawing/2014/main" val="2075753816"/>
                    </a:ext>
                  </a:extLst>
                </a:gridCol>
              </a:tblGrid>
              <a:tr h="370840">
                <a:tc>
                  <a:txBody>
                    <a:bodyPr/>
                    <a:lstStyle/>
                    <a:p>
                      <a:r>
                        <a:rPr lang="es-AR" dirty="0"/>
                        <a:t>Fase</a:t>
                      </a:r>
                    </a:p>
                  </a:txBody>
                  <a:tcPr/>
                </a:tc>
                <a:tc>
                  <a:txBody>
                    <a:bodyPr/>
                    <a:lstStyle/>
                    <a:p>
                      <a:r>
                        <a:rPr lang="es-AR" dirty="0"/>
                        <a:t>Evidencia de Validez</a:t>
                      </a:r>
                    </a:p>
                  </a:txBody>
                  <a:tcPr/>
                </a:tc>
                <a:tc>
                  <a:txBody>
                    <a:bodyPr/>
                    <a:lstStyle/>
                    <a:p>
                      <a:r>
                        <a:rPr lang="es-AR" dirty="0"/>
                        <a:t>Descripción</a:t>
                      </a:r>
                    </a:p>
                  </a:txBody>
                  <a:tcPr/>
                </a:tc>
                <a:extLst>
                  <a:ext uri="{0D108BD9-81ED-4DB2-BD59-A6C34878D82A}">
                    <a16:rowId xmlns:a16="http://schemas.microsoft.com/office/drawing/2014/main" val="3422841591"/>
                  </a:ext>
                </a:extLst>
              </a:tr>
              <a:tr h="370840">
                <a:tc>
                  <a:txBody>
                    <a:bodyPr/>
                    <a:lstStyle/>
                    <a:p>
                      <a:pPr marL="342900" indent="-342900">
                        <a:buFont typeface="+mj-lt"/>
                        <a:buAutoNum type="arabicPeriod" startAt="3"/>
                      </a:pPr>
                      <a:r>
                        <a:rPr lang="es-AR" b="1" dirty="0"/>
                        <a:t>Externa</a:t>
                      </a:r>
                    </a:p>
                    <a:p>
                      <a:pPr marL="0" marR="0" lvl="0" indent="0" algn="l" defTabSz="914400" rtl="0" eaLnBrk="1" fontAlgn="auto" latinLnBrk="0" hangingPunct="1">
                        <a:lnSpc>
                          <a:spcPct val="100000"/>
                        </a:lnSpc>
                        <a:spcBef>
                          <a:spcPts val="0"/>
                        </a:spcBef>
                        <a:spcAft>
                          <a:spcPts val="0"/>
                        </a:spcAft>
                        <a:buClrTx/>
                        <a:buSzTx/>
                        <a:buFontTx/>
                        <a:buNone/>
                        <a:tabLst/>
                        <a:defRPr/>
                      </a:pPr>
                      <a:r>
                        <a:rPr lang="es-AR" b="0" i="1" dirty="0"/>
                        <a:t>Obtención de datos para evaluar la relación entre la variable objeto de interés (puntajes del instrumento evaluado) y otras variables (puntajes derivados de otros instrumentos).</a:t>
                      </a:r>
                    </a:p>
                    <a:p>
                      <a:pPr marL="342900" indent="-342900">
                        <a:buAutoNum type="arabicPeriod"/>
                      </a:pPr>
                      <a:endParaRPr lang="es-AR" dirty="0"/>
                    </a:p>
                  </a:txBody>
                  <a:tcPr/>
                </a:tc>
                <a:tc>
                  <a:txBody>
                    <a:bodyPr/>
                    <a:lstStyle/>
                    <a:p>
                      <a:r>
                        <a:rPr lang="es-AR" dirty="0"/>
                        <a:t>Convergente/Discriminante</a:t>
                      </a:r>
                    </a:p>
                  </a:txBody>
                  <a:tcPr/>
                </a:tc>
                <a:tc>
                  <a:txBody>
                    <a:bodyPr/>
                    <a:lstStyle/>
                    <a:p>
                      <a:r>
                        <a:rPr lang="es-AR" dirty="0"/>
                        <a:t>Análisis de correlación.</a:t>
                      </a:r>
                    </a:p>
                  </a:txBody>
                  <a:tcPr/>
                </a:tc>
                <a:extLst>
                  <a:ext uri="{0D108BD9-81ED-4DB2-BD59-A6C34878D82A}">
                    <a16:rowId xmlns:a16="http://schemas.microsoft.com/office/drawing/2014/main" val="2414045180"/>
                  </a:ext>
                </a:extLst>
              </a:tr>
              <a:tr h="370840">
                <a:tc>
                  <a:txBody>
                    <a:bodyPr/>
                    <a:lstStyle/>
                    <a:p>
                      <a:endParaRPr lang="es-AR" dirty="0"/>
                    </a:p>
                  </a:txBody>
                  <a:tcPr/>
                </a:tc>
                <a:tc>
                  <a:txBody>
                    <a:bodyPr/>
                    <a:lstStyle/>
                    <a:p>
                      <a:r>
                        <a:rPr lang="es-AR" dirty="0"/>
                        <a:t>Predictiva o de criterio</a:t>
                      </a:r>
                    </a:p>
                  </a:txBody>
                  <a:tcPr/>
                </a:tc>
                <a:tc>
                  <a:txBody>
                    <a:bodyPr/>
                    <a:lstStyle/>
                    <a:p>
                      <a:r>
                        <a:rPr lang="es-AR" dirty="0"/>
                        <a:t>Análisis de Regresión</a:t>
                      </a:r>
                    </a:p>
                  </a:txBody>
                  <a:tcPr/>
                </a:tc>
                <a:extLst>
                  <a:ext uri="{0D108BD9-81ED-4DB2-BD59-A6C34878D82A}">
                    <a16:rowId xmlns:a16="http://schemas.microsoft.com/office/drawing/2014/main" val="3025829608"/>
                  </a:ext>
                </a:extLst>
              </a:tr>
              <a:tr h="370840">
                <a:tc>
                  <a:txBody>
                    <a:bodyPr/>
                    <a:lstStyle/>
                    <a:p>
                      <a:endParaRPr lang="es-AR" dirty="0"/>
                    </a:p>
                  </a:txBody>
                  <a:tcPr/>
                </a:tc>
                <a:tc>
                  <a:txBody>
                    <a:bodyPr/>
                    <a:lstStyle/>
                    <a:p>
                      <a:r>
                        <a:rPr lang="es-AR" dirty="0"/>
                        <a:t>Grupos Conocidos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s-AR" dirty="0"/>
                        <a:t>Capacidad de detección de diferencias entre grupos en donde se sabe que difieren en un constructo (</a:t>
                      </a:r>
                      <a:r>
                        <a:rPr lang="es-AR" dirty="0" err="1"/>
                        <a:t>e.g</a:t>
                      </a:r>
                      <a:r>
                        <a:rPr lang="es-AR" dirty="0"/>
                        <a:t>., prueba t, </a:t>
                      </a:r>
                      <a:r>
                        <a:rPr lang="es-AR" dirty="0" err="1"/>
                        <a:t>anova</a:t>
                      </a:r>
                      <a:r>
                        <a:rPr lang="es-AR" dirty="0"/>
                        <a:t>)</a:t>
                      </a:r>
                    </a:p>
                  </a:txBody>
                  <a:tcPr/>
                </a:tc>
                <a:extLst>
                  <a:ext uri="{0D108BD9-81ED-4DB2-BD59-A6C34878D82A}">
                    <a16:rowId xmlns:a16="http://schemas.microsoft.com/office/drawing/2014/main" val="1823177964"/>
                  </a:ext>
                </a:extLst>
              </a:tr>
            </a:tbl>
          </a:graphicData>
        </a:graphic>
      </p:graphicFrame>
      <p:sp>
        <p:nvSpPr>
          <p:cNvPr id="6" name="Marcador de contenido 2">
            <a:extLst>
              <a:ext uri="{FF2B5EF4-FFF2-40B4-BE49-F238E27FC236}">
                <a16:creationId xmlns:a16="http://schemas.microsoft.com/office/drawing/2014/main" id="{0B6B7F7B-19CD-E35A-40A5-D7F436220C14}"/>
              </a:ext>
            </a:extLst>
          </p:cNvPr>
          <p:cNvSpPr txBox="1">
            <a:spLocks/>
          </p:cNvSpPr>
          <p:nvPr/>
        </p:nvSpPr>
        <p:spPr>
          <a:xfrm>
            <a:off x="838200" y="1825625"/>
            <a:ext cx="10515600" cy="4351338"/>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buNone/>
            </a:pPr>
            <a:r>
              <a:rPr lang="es-AR" dirty="0"/>
              <a:t>Es este proceso, ¿qué tipo de evidencia necesitamos?</a:t>
            </a:r>
          </a:p>
        </p:txBody>
      </p:sp>
    </p:spTree>
    <p:extLst>
      <p:ext uri="{BB962C8B-B14F-4D97-AF65-F5344CB8AC3E}">
        <p14:creationId xmlns:p14="http://schemas.microsoft.com/office/powerpoint/2010/main" val="3818338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0C2244-7638-BFD5-A477-1F4089DB11D0}"/>
              </a:ext>
            </a:extLst>
          </p:cNvPr>
          <p:cNvSpPr>
            <a:spLocks noGrp="1"/>
          </p:cNvSpPr>
          <p:nvPr>
            <p:ph type="title"/>
          </p:nvPr>
        </p:nvSpPr>
        <p:spPr/>
        <p:txBody>
          <a:bodyPr/>
          <a:lstStyle/>
          <a:p>
            <a:r>
              <a:rPr lang="es-AR" dirty="0"/>
              <a:t>Validación de Constructo</a:t>
            </a:r>
          </a:p>
        </p:txBody>
      </p:sp>
      <p:graphicFrame>
        <p:nvGraphicFramePr>
          <p:cNvPr id="10" name="Marcador de contenido 9">
            <a:extLst>
              <a:ext uri="{FF2B5EF4-FFF2-40B4-BE49-F238E27FC236}">
                <a16:creationId xmlns:a16="http://schemas.microsoft.com/office/drawing/2014/main" id="{1B0EEE0D-83D7-6BF1-FA41-35D3D578F2CB}"/>
              </a:ext>
            </a:extLst>
          </p:cNvPr>
          <p:cNvGraphicFramePr>
            <a:graphicFrameLocks noGrp="1"/>
          </p:cNvGraphicFramePr>
          <p:nvPr>
            <p:ph idx="1"/>
            <p:extLst>
              <p:ext uri="{D42A27DB-BD31-4B8C-83A1-F6EECF244321}">
                <p14:modId xmlns:p14="http://schemas.microsoft.com/office/powerpoint/2010/main" val="3207912699"/>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12111818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A4DD41E-DC26-F327-63B3-FA97E9568A5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C90CEAA-AC35-F6E7-1DE7-BEE3D2DD29D0}"/>
              </a:ext>
            </a:extLst>
          </p:cNvPr>
          <p:cNvSpPr>
            <a:spLocks noGrp="1"/>
          </p:cNvSpPr>
          <p:nvPr>
            <p:ph type="title"/>
          </p:nvPr>
        </p:nvSpPr>
        <p:spPr/>
        <p:txBody>
          <a:bodyPr/>
          <a:lstStyle/>
          <a:p>
            <a:r>
              <a:rPr lang="es-AR" dirty="0"/>
              <a:t>Validación de Constructo</a:t>
            </a:r>
          </a:p>
        </p:txBody>
      </p:sp>
      <p:graphicFrame>
        <p:nvGraphicFramePr>
          <p:cNvPr id="10" name="Marcador de contenido 9">
            <a:extLst>
              <a:ext uri="{FF2B5EF4-FFF2-40B4-BE49-F238E27FC236}">
                <a16:creationId xmlns:a16="http://schemas.microsoft.com/office/drawing/2014/main" id="{4966A1BD-4D11-4ACC-C7BA-35EEFDD5EB6E}"/>
              </a:ext>
            </a:extLst>
          </p:cNvPr>
          <p:cNvGraphicFramePr>
            <a:graphicFrameLocks noGrp="1"/>
          </p:cNvGraphicFramePr>
          <p:nvPr>
            <p:ph idx="1"/>
            <p:extLst>
              <p:ext uri="{D42A27DB-BD31-4B8C-83A1-F6EECF244321}">
                <p14:modId xmlns:p14="http://schemas.microsoft.com/office/powerpoint/2010/main" val="2461518652"/>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Cerrar llave 3">
            <a:extLst>
              <a:ext uri="{FF2B5EF4-FFF2-40B4-BE49-F238E27FC236}">
                <a16:creationId xmlns:a16="http://schemas.microsoft.com/office/drawing/2014/main" id="{152FCA12-0F1B-CD9A-BF83-F47EE5CDECBE}"/>
              </a:ext>
            </a:extLst>
          </p:cNvPr>
          <p:cNvSpPr/>
          <p:nvPr/>
        </p:nvSpPr>
        <p:spPr>
          <a:xfrm>
            <a:off x="7515217" y="1690688"/>
            <a:ext cx="342900" cy="15954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AR"/>
          </a:p>
        </p:txBody>
      </p:sp>
      <p:sp>
        <p:nvSpPr>
          <p:cNvPr id="5" name="Cerrar llave 4">
            <a:extLst>
              <a:ext uri="{FF2B5EF4-FFF2-40B4-BE49-F238E27FC236}">
                <a16:creationId xmlns:a16="http://schemas.microsoft.com/office/drawing/2014/main" id="{D83CD39E-78D7-AE38-4ED5-62EF90D16023}"/>
              </a:ext>
            </a:extLst>
          </p:cNvPr>
          <p:cNvSpPr/>
          <p:nvPr/>
        </p:nvSpPr>
        <p:spPr>
          <a:xfrm>
            <a:off x="7496167" y="4716463"/>
            <a:ext cx="342900" cy="1595437"/>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lang="es-AR"/>
          </a:p>
        </p:txBody>
      </p:sp>
      <p:sp>
        <p:nvSpPr>
          <p:cNvPr id="6" name="CuadroTexto 5">
            <a:extLst>
              <a:ext uri="{FF2B5EF4-FFF2-40B4-BE49-F238E27FC236}">
                <a16:creationId xmlns:a16="http://schemas.microsoft.com/office/drawing/2014/main" id="{E802B4B7-B549-A45A-B631-A6BE1891ABB2}"/>
              </a:ext>
            </a:extLst>
          </p:cNvPr>
          <p:cNvSpPr txBox="1"/>
          <p:nvPr/>
        </p:nvSpPr>
        <p:spPr>
          <a:xfrm>
            <a:off x="7858117" y="2303740"/>
            <a:ext cx="4240713" cy="400110"/>
          </a:xfrm>
          <a:prstGeom prst="rect">
            <a:avLst/>
          </a:prstGeom>
          <a:noFill/>
        </p:spPr>
        <p:txBody>
          <a:bodyPr wrap="none" rtlCol="0">
            <a:spAutoFit/>
          </a:bodyPr>
          <a:lstStyle/>
          <a:p>
            <a:r>
              <a:rPr lang="es-AR" sz="2000" dirty="0"/>
              <a:t>Se </a:t>
            </a:r>
            <a:r>
              <a:rPr lang="es-AR" sz="2000" b="1" dirty="0">
                <a:solidFill>
                  <a:srgbClr val="0070C0"/>
                </a:solidFill>
              </a:rPr>
              <a:t>PROPONE</a:t>
            </a:r>
            <a:r>
              <a:rPr lang="es-AR" sz="2000" dirty="0"/>
              <a:t> el Modelo de Medición</a:t>
            </a:r>
          </a:p>
        </p:txBody>
      </p:sp>
      <p:sp>
        <p:nvSpPr>
          <p:cNvPr id="7" name="CuadroTexto 6">
            <a:extLst>
              <a:ext uri="{FF2B5EF4-FFF2-40B4-BE49-F238E27FC236}">
                <a16:creationId xmlns:a16="http://schemas.microsoft.com/office/drawing/2014/main" id="{50DC32EF-5CBD-507D-BA60-3FB2D1FD6656}"/>
              </a:ext>
            </a:extLst>
          </p:cNvPr>
          <p:cNvSpPr txBox="1"/>
          <p:nvPr/>
        </p:nvSpPr>
        <p:spPr>
          <a:xfrm>
            <a:off x="7858117" y="5329515"/>
            <a:ext cx="3923446" cy="400110"/>
          </a:xfrm>
          <a:prstGeom prst="rect">
            <a:avLst/>
          </a:prstGeom>
          <a:noFill/>
        </p:spPr>
        <p:txBody>
          <a:bodyPr wrap="none" rtlCol="0">
            <a:spAutoFit/>
          </a:bodyPr>
          <a:lstStyle/>
          <a:p>
            <a:r>
              <a:rPr lang="es-AR" sz="2000" dirty="0"/>
              <a:t>Se </a:t>
            </a:r>
            <a:r>
              <a:rPr lang="es-AR" sz="2000" b="1" dirty="0">
                <a:solidFill>
                  <a:srgbClr val="0070C0"/>
                </a:solidFill>
              </a:rPr>
              <a:t>TESTEA</a:t>
            </a:r>
            <a:r>
              <a:rPr lang="es-AR" sz="2000" b="1" dirty="0"/>
              <a:t> </a:t>
            </a:r>
            <a:r>
              <a:rPr lang="es-AR" sz="2000" dirty="0"/>
              <a:t>el Modelo de Medición</a:t>
            </a:r>
          </a:p>
        </p:txBody>
      </p:sp>
    </p:spTree>
    <p:extLst>
      <p:ext uri="{BB962C8B-B14F-4D97-AF65-F5344CB8AC3E}">
        <p14:creationId xmlns:p14="http://schemas.microsoft.com/office/powerpoint/2010/main" val="1015932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additive="base">
                                        <p:cTn id="7" dur="500" fill="hold"/>
                                        <p:tgtEl>
                                          <p:spTgt spid="6"/>
                                        </p:tgtEl>
                                        <p:attrNameLst>
                                          <p:attrName>ppt_x</p:attrName>
                                        </p:attrNameLst>
                                      </p:cBhvr>
                                      <p:tavLst>
                                        <p:tav tm="0">
                                          <p:val>
                                            <p:strVal val="#ppt_x"/>
                                          </p:val>
                                        </p:tav>
                                        <p:tav tm="100000">
                                          <p:val>
                                            <p:strVal val="#ppt_x"/>
                                          </p:val>
                                        </p:tav>
                                      </p:tavLst>
                                    </p:anim>
                                    <p:anim calcmode="lin" valueType="num">
                                      <p:cBhvr additive="base">
                                        <p:cTn id="8" dur="500" fill="hold"/>
                                        <p:tgtEl>
                                          <p:spTgt spid="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4"/>
                                        </p:tgtEl>
                                        <p:attrNameLst>
                                          <p:attrName>style.visibility</p:attrName>
                                        </p:attrNameLst>
                                      </p:cBhvr>
                                      <p:to>
                                        <p:strVal val="visible"/>
                                      </p:to>
                                    </p:set>
                                    <p:anim calcmode="lin" valueType="num">
                                      <p:cBhvr additive="base">
                                        <p:cTn id="11" dur="500" fill="hold"/>
                                        <p:tgtEl>
                                          <p:spTgt spid="4"/>
                                        </p:tgtEl>
                                        <p:attrNameLst>
                                          <p:attrName>ppt_x</p:attrName>
                                        </p:attrNameLst>
                                      </p:cBhvr>
                                      <p:tavLst>
                                        <p:tav tm="0">
                                          <p:val>
                                            <p:strVal val="#ppt_x"/>
                                          </p:val>
                                        </p:tav>
                                        <p:tav tm="100000">
                                          <p:val>
                                            <p:strVal val="#ppt_x"/>
                                          </p:val>
                                        </p:tav>
                                      </p:tavLst>
                                    </p:anim>
                                    <p:anim calcmode="lin" valueType="num">
                                      <p:cBhvr additive="base">
                                        <p:cTn id="12" dur="500" fill="hold"/>
                                        <p:tgtEl>
                                          <p:spTgt spid="4"/>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 calcmode="lin" valueType="num">
                                      <p:cBhvr additive="base">
                                        <p:cTn id="15" dur="500" fill="hold"/>
                                        <p:tgtEl>
                                          <p:spTgt spid="5"/>
                                        </p:tgtEl>
                                        <p:attrNameLst>
                                          <p:attrName>ppt_x</p:attrName>
                                        </p:attrNameLst>
                                      </p:cBhvr>
                                      <p:tavLst>
                                        <p:tav tm="0">
                                          <p:val>
                                            <p:strVal val="#ppt_x"/>
                                          </p:val>
                                        </p:tav>
                                        <p:tav tm="100000">
                                          <p:val>
                                            <p:strVal val="#ppt_x"/>
                                          </p:val>
                                        </p:tav>
                                      </p:tavLst>
                                    </p:anim>
                                    <p:anim calcmode="lin" valueType="num">
                                      <p:cBhvr additive="base">
                                        <p:cTn id="16" dur="500" fill="hold"/>
                                        <p:tgtEl>
                                          <p:spTgt spid="5"/>
                                        </p:tgtEl>
                                        <p:attrNameLst>
                                          <p:attrName>ppt_y</p:attrName>
                                        </p:attrNameLst>
                                      </p:cBhvr>
                                      <p:tavLst>
                                        <p:tav tm="0">
                                          <p:val>
                                            <p:strVal val="1+#ppt_h/2"/>
                                          </p:val>
                                        </p:tav>
                                        <p:tav tm="100000">
                                          <p:val>
                                            <p:strVal val="#ppt_y"/>
                                          </p:val>
                                        </p:tav>
                                      </p:tavLst>
                                    </p:anim>
                                  </p:childTnLst>
                                </p:cTn>
                              </p:par>
                              <p:par>
                                <p:cTn id="17" presetID="2" presetClass="entr" presetSubtype="4" fill="hold" grpId="0" nodeType="withEffect">
                                  <p:stCondLst>
                                    <p:cond delay="0"/>
                                  </p:stCondLst>
                                  <p:childTnLst>
                                    <p:set>
                                      <p:cBhvr>
                                        <p:cTn id="18" dur="1" fill="hold">
                                          <p:stCondLst>
                                            <p:cond delay="0"/>
                                          </p:stCondLst>
                                        </p:cTn>
                                        <p:tgtEl>
                                          <p:spTgt spid="7"/>
                                        </p:tgtEl>
                                        <p:attrNameLst>
                                          <p:attrName>style.visibility</p:attrName>
                                        </p:attrNameLst>
                                      </p:cBhvr>
                                      <p:to>
                                        <p:strVal val="visible"/>
                                      </p:to>
                                    </p:set>
                                    <p:anim calcmode="lin" valueType="num">
                                      <p:cBhvr additive="base">
                                        <p:cTn id="19" dur="500" fill="hold"/>
                                        <p:tgtEl>
                                          <p:spTgt spid="7"/>
                                        </p:tgtEl>
                                        <p:attrNameLst>
                                          <p:attrName>ppt_x</p:attrName>
                                        </p:attrNameLst>
                                      </p:cBhvr>
                                      <p:tavLst>
                                        <p:tav tm="0">
                                          <p:val>
                                            <p:strVal val="#ppt_x"/>
                                          </p:val>
                                        </p:tav>
                                        <p:tav tm="100000">
                                          <p:val>
                                            <p:strVal val="#ppt_x"/>
                                          </p:val>
                                        </p:tav>
                                      </p:tavLst>
                                    </p:anim>
                                    <p:anim calcmode="lin" valueType="num">
                                      <p:cBhvr additive="base">
                                        <p:cTn id="20"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animBg="1"/>
      <p:bldP spid="6" grpId="0"/>
      <p:bldP spid="7"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8994208-F39B-11A2-B777-2EDECFE8B77F}"/>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D523C569-3A56-C6E2-807E-255B792BC141}"/>
              </a:ext>
            </a:extLst>
          </p:cNvPr>
          <p:cNvSpPr>
            <a:spLocks noGrp="1"/>
          </p:cNvSpPr>
          <p:nvPr>
            <p:ph type="title"/>
          </p:nvPr>
        </p:nvSpPr>
        <p:spPr/>
        <p:txBody>
          <a:bodyPr/>
          <a:lstStyle/>
          <a:p>
            <a:r>
              <a:rPr lang="es-AR" dirty="0"/>
              <a:t>El AF se clarifica a la luz del Proceso de Validación de Constructo</a:t>
            </a:r>
          </a:p>
        </p:txBody>
      </p:sp>
      <p:sp>
        <p:nvSpPr>
          <p:cNvPr id="3" name="Marcador de contenido 2">
            <a:extLst>
              <a:ext uri="{FF2B5EF4-FFF2-40B4-BE49-F238E27FC236}">
                <a16:creationId xmlns:a16="http://schemas.microsoft.com/office/drawing/2014/main" id="{321A5780-B865-D04E-8C97-29FB2AF84528}"/>
              </a:ext>
            </a:extLst>
          </p:cNvPr>
          <p:cNvSpPr>
            <a:spLocks noGrp="1"/>
          </p:cNvSpPr>
          <p:nvPr>
            <p:ph idx="1"/>
          </p:nvPr>
        </p:nvSpPr>
        <p:spPr/>
        <p:txBody>
          <a:bodyPr/>
          <a:lstStyle/>
          <a:p>
            <a:endParaRPr lang="es-AR" dirty="0"/>
          </a:p>
          <a:p>
            <a:r>
              <a:rPr lang="es-AR" dirty="0"/>
              <a:t>El AF </a:t>
            </a:r>
            <a:r>
              <a:rPr lang="es-AR" sz="3000" b="1" dirty="0">
                <a:solidFill>
                  <a:srgbClr val="0070C0"/>
                </a:solidFill>
              </a:rPr>
              <a:t>parte de un modelo de medición explícito.</a:t>
            </a:r>
          </a:p>
          <a:p>
            <a:endParaRPr lang="es-AR" sz="3000" b="1" dirty="0">
              <a:solidFill>
                <a:srgbClr val="0070C0"/>
              </a:solidFill>
              <a:highlight>
                <a:srgbClr val="FFFF00"/>
              </a:highlight>
            </a:endParaRPr>
          </a:p>
          <a:p>
            <a:endParaRPr lang="es-AR" dirty="0"/>
          </a:p>
        </p:txBody>
      </p:sp>
    </p:spTree>
    <p:extLst>
      <p:ext uri="{BB962C8B-B14F-4D97-AF65-F5344CB8AC3E}">
        <p14:creationId xmlns:p14="http://schemas.microsoft.com/office/powerpoint/2010/main" val="304551350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4B92435-8EFA-31C8-0CE6-3B21F93C3E0B}"/>
              </a:ext>
            </a:extLst>
          </p:cNvPr>
          <p:cNvSpPr>
            <a:spLocks noGrp="1"/>
          </p:cNvSpPr>
          <p:nvPr>
            <p:ph type="title"/>
          </p:nvPr>
        </p:nvSpPr>
        <p:spPr/>
        <p:txBody>
          <a:bodyPr/>
          <a:lstStyle/>
          <a:p>
            <a:r>
              <a:rPr lang="es-AR" dirty="0">
                <a:solidFill>
                  <a:srgbClr val="0070C0"/>
                </a:solidFill>
              </a:rPr>
              <a:t>ACTIVIDAD PRÁCTICA</a:t>
            </a:r>
          </a:p>
        </p:txBody>
      </p:sp>
      <p:sp>
        <p:nvSpPr>
          <p:cNvPr id="3" name="Marcador de contenido 2">
            <a:extLst>
              <a:ext uri="{FF2B5EF4-FFF2-40B4-BE49-F238E27FC236}">
                <a16:creationId xmlns:a16="http://schemas.microsoft.com/office/drawing/2014/main" id="{73A3280E-DE02-EA27-D872-885F91B17118}"/>
              </a:ext>
            </a:extLst>
          </p:cNvPr>
          <p:cNvSpPr>
            <a:spLocks noGrp="1"/>
          </p:cNvSpPr>
          <p:nvPr>
            <p:ph idx="1"/>
          </p:nvPr>
        </p:nvSpPr>
        <p:spPr/>
        <p:txBody>
          <a:bodyPr/>
          <a:lstStyle/>
          <a:p>
            <a:r>
              <a:rPr lang="es-AR" dirty="0"/>
              <a:t>Analizar los siguientes documentos e identificar los modelos de medición en cada caso:</a:t>
            </a:r>
          </a:p>
          <a:p>
            <a:pPr>
              <a:buFont typeface="Wingdings" panose="05000000000000000000" pitchFamily="2" charset="2"/>
              <a:buChar char="ü"/>
            </a:pPr>
            <a:r>
              <a:rPr lang="es-AR" dirty="0"/>
              <a:t>¿Qué constructos/variables psicológicas pretenden medir?</a:t>
            </a:r>
          </a:p>
          <a:p>
            <a:pPr>
              <a:buFont typeface="Wingdings" panose="05000000000000000000" pitchFamily="2" charset="2"/>
              <a:buChar char="ü"/>
            </a:pPr>
            <a:r>
              <a:rPr lang="es-AR" dirty="0"/>
              <a:t>¿Qué ítems se corresponden con cada uno de estos constructos/variables psicológicas?</a:t>
            </a:r>
          </a:p>
          <a:p>
            <a:pPr>
              <a:buFont typeface="Wingdings" panose="05000000000000000000" pitchFamily="2" charset="2"/>
              <a:buChar char="ü"/>
            </a:pPr>
            <a:r>
              <a:rPr lang="es-AR" dirty="0"/>
              <a:t>¿Cuál es la correspondencia que creen tiene que haber entre la definición del constructo y las dimensiones que proponen medir los diferentes instrumentos? ¿Qué evidencia creen sería pertinente para evaluar esa correspondencia?</a:t>
            </a:r>
          </a:p>
        </p:txBody>
      </p:sp>
    </p:spTree>
    <p:extLst>
      <p:ext uri="{BB962C8B-B14F-4D97-AF65-F5344CB8AC3E}">
        <p14:creationId xmlns:p14="http://schemas.microsoft.com/office/powerpoint/2010/main" val="21372181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60FFD0B-0422-1B78-DDDC-70BDDDB7DC42}"/>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BA5B3D-9B1B-97A9-75D8-17AAB3F53821}"/>
              </a:ext>
            </a:extLst>
          </p:cNvPr>
          <p:cNvSpPr>
            <a:spLocks noGrp="1"/>
          </p:cNvSpPr>
          <p:nvPr>
            <p:ph type="title"/>
          </p:nvPr>
        </p:nvSpPr>
        <p:spPr/>
        <p:txBody>
          <a:bodyPr/>
          <a:lstStyle/>
          <a:p>
            <a:r>
              <a:rPr lang="es-AR" dirty="0">
                <a:solidFill>
                  <a:srgbClr val="0070C0"/>
                </a:solidFill>
              </a:rPr>
              <a:t>ACTIVIDAD PRÁCTICA</a:t>
            </a:r>
          </a:p>
        </p:txBody>
      </p:sp>
      <p:sp>
        <p:nvSpPr>
          <p:cNvPr id="3" name="Marcador de contenido 2">
            <a:extLst>
              <a:ext uri="{FF2B5EF4-FFF2-40B4-BE49-F238E27FC236}">
                <a16:creationId xmlns:a16="http://schemas.microsoft.com/office/drawing/2014/main" id="{CF3BBBBC-6FEB-D2D3-E743-A81C9704828B}"/>
              </a:ext>
            </a:extLst>
          </p:cNvPr>
          <p:cNvSpPr>
            <a:spLocks noGrp="1"/>
          </p:cNvSpPr>
          <p:nvPr>
            <p:ph idx="1"/>
          </p:nvPr>
        </p:nvSpPr>
        <p:spPr/>
        <p:txBody>
          <a:bodyPr>
            <a:normAutofit fontScale="92500" lnSpcReduction="10000"/>
          </a:bodyPr>
          <a:lstStyle/>
          <a:p>
            <a:r>
              <a:rPr lang="es-AR" dirty="0"/>
              <a:t>Pasos:</a:t>
            </a:r>
          </a:p>
          <a:p>
            <a:pPr marL="514350" indent="-514350">
              <a:buFont typeface="+mj-lt"/>
              <a:buAutoNum type="arabicPeriod"/>
            </a:pPr>
            <a:r>
              <a:rPr lang="es-AR" dirty="0"/>
              <a:t>Leer detenidamente el texto de martela2023_measuring </a:t>
            </a:r>
            <a:r>
              <a:rPr lang="es-AR" dirty="0" err="1"/>
              <a:t>well-being</a:t>
            </a:r>
            <a:r>
              <a:rPr lang="es-AR" dirty="0"/>
              <a:t> (hasta el subtítulo </a:t>
            </a:r>
            <a:r>
              <a:rPr lang="en-US" dirty="0"/>
              <a:t>The Third Dimension of Well-Being: Meaning in Life, Eudaimonia, or </a:t>
            </a:r>
            <a:r>
              <a:rPr lang="es-AR" dirty="0" err="1"/>
              <a:t>Psychological</a:t>
            </a:r>
            <a:r>
              <a:rPr lang="es-AR" dirty="0"/>
              <a:t> </a:t>
            </a:r>
            <a:r>
              <a:rPr lang="es-AR" dirty="0" err="1"/>
              <a:t>Functioning</a:t>
            </a:r>
            <a:r>
              <a:rPr lang="es-AR" dirty="0"/>
              <a:t>? Inclusive/desde página 1-6). A partir de este texto delimitar cuál es el constructo que se pretende medir y cuáles dimensiones lo componen.</a:t>
            </a:r>
          </a:p>
          <a:p>
            <a:pPr marL="514350" indent="-514350">
              <a:buFont typeface="+mj-lt"/>
              <a:buAutoNum type="arabicPeriod"/>
            </a:pPr>
            <a:r>
              <a:rPr lang="es-AR" dirty="0"/>
              <a:t>Leer sobre la medición del Bienestar Subjetivo y Psicológico en </a:t>
            </a:r>
            <a:r>
              <a:rPr lang="es-ES" dirty="0" err="1"/>
              <a:t>FloresKanter</a:t>
            </a:r>
            <a:r>
              <a:rPr lang="es-ES" dirty="0"/>
              <a:t> et al.2019_Evaluación Psicométrica en Psi. Clínica (páginas 177-182). Esto servirá para identificar instrumentos puntuales y analizar la correspondencia entre las definiciones del constructo y las dimensiones que proponen medir estos instrumentos.</a:t>
            </a:r>
            <a:r>
              <a:rPr lang="es-AR" dirty="0"/>
              <a:t> </a:t>
            </a:r>
          </a:p>
          <a:p>
            <a:pPr marL="514350" indent="-514350">
              <a:buFont typeface="+mj-lt"/>
              <a:buAutoNum type="arabicPeriod"/>
            </a:pPr>
            <a:endParaRPr lang="es-AR" dirty="0"/>
          </a:p>
        </p:txBody>
      </p:sp>
    </p:spTree>
    <p:extLst>
      <p:ext uri="{BB962C8B-B14F-4D97-AF65-F5344CB8AC3E}">
        <p14:creationId xmlns:p14="http://schemas.microsoft.com/office/powerpoint/2010/main" val="31499837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E15428-0D50-0050-3256-727FEE6654A8}"/>
              </a:ext>
            </a:extLst>
          </p:cNvPr>
          <p:cNvSpPr>
            <a:spLocks noGrp="1"/>
          </p:cNvSpPr>
          <p:nvPr>
            <p:ph type="title"/>
          </p:nvPr>
        </p:nvSpPr>
        <p:spPr/>
        <p:txBody>
          <a:bodyPr/>
          <a:lstStyle/>
          <a:p>
            <a:r>
              <a:rPr lang="es-AR" dirty="0"/>
              <a:t>Fase Estructural: Adentrándonos a la Evidencia de Validez mediante AF </a:t>
            </a:r>
          </a:p>
        </p:txBody>
      </p:sp>
      <p:sp>
        <p:nvSpPr>
          <p:cNvPr id="3" name="Marcador de texto 2">
            <a:extLst>
              <a:ext uri="{FF2B5EF4-FFF2-40B4-BE49-F238E27FC236}">
                <a16:creationId xmlns:a16="http://schemas.microsoft.com/office/drawing/2014/main" id="{9FF3DAB7-0725-2F6C-B087-42E3ED764C90}"/>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264829038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4649E67-26F4-5584-96E8-FE52345611CB}"/>
              </a:ext>
            </a:extLst>
          </p:cNvPr>
          <p:cNvSpPr>
            <a:spLocks noGrp="1"/>
          </p:cNvSpPr>
          <p:nvPr>
            <p:ph type="title"/>
          </p:nvPr>
        </p:nvSpPr>
        <p:spPr/>
        <p:txBody>
          <a:bodyPr/>
          <a:lstStyle/>
          <a:p>
            <a:r>
              <a:rPr lang="es-AR" dirty="0"/>
              <a:t>Énfasis en la Estructura Interna como Evidencia de Validez</a:t>
            </a:r>
          </a:p>
        </p:txBody>
      </p:sp>
      <p:sp>
        <p:nvSpPr>
          <p:cNvPr id="3" name="Marcador de contenido 2">
            <a:extLst>
              <a:ext uri="{FF2B5EF4-FFF2-40B4-BE49-F238E27FC236}">
                <a16:creationId xmlns:a16="http://schemas.microsoft.com/office/drawing/2014/main" id="{AC1EB71E-C07E-334F-FA2B-D717D923E767}"/>
              </a:ext>
            </a:extLst>
          </p:cNvPr>
          <p:cNvSpPr>
            <a:spLocks noGrp="1"/>
          </p:cNvSpPr>
          <p:nvPr>
            <p:ph idx="1"/>
          </p:nvPr>
        </p:nvSpPr>
        <p:spPr/>
        <p:txBody>
          <a:bodyPr>
            <a:normAutofit lnSpcReduction="10000"/>
          </a:bodyPr>
          <a:lstStyle/>
          <a:p>
            <a:r>
              <a:rPr lang="es-AR" dirty="0"/>
              <a:t>La mayoría de los estudios basan la validación de las mediciones fundamentalmente en </a:t>
            </a:r>
            <a:r>
              <a:rPr lang="es-AR" sz="3000" b="1" dirty="0">
                <a:solidFill>
                  <a:srgbClr val="0070C0"/>
                </a:solidFill>
              </a:rPr>
              <a:t>Evidencia de Estructura Interna</a:t>
            </a:r>
            <a:r>
              <a:rPr lang="es-AR" dirty="0"/>
              <a:t>.</a:t>
            </a:r>
          </a:p>
          <a:p>
            <a:r>
              <a:rPr lang="es-AR" dirty="0"/>
              <a:t>Para obtener este tipo de evidencia un abordaje común es el </a:t>
            </a:r>
            <a:r>
              <a:rPr lang="es-AR" sz="3000" b="1" dirty="0">
                <a:solidFill>
                  <a:srgbClr val="0070C0"/>
                </a:solidFill>
              </a:rPr>
              <a:t>Análisis Factorial mediante Modelos de Ecuaciones Estructurales (SEM)</a:t>
            </a:r>
            <a:r>
              <a:rPr lang="es-AR" dirty="0"/>
              <a:t>.</a:t>
            </a:r>
          </a:p>
          <a:p>
            <a:r>
              <a:rPr lang="es-AR" dirty="0"/>
              <a:t>SEM permite evaluar la evidencia de conexión entre la covarianza de los ítems y el factor (variable latente) que éstos pretenden medir.</a:t>
            </a:r>
          </a:p>
          <a:p>
            <a:r>
              <a:rPr lang="es-AR" dirty="0"/>
              <a:t>Programas como </a:t>
            </a:r>
            <a:r>
              <a:rPr lang="es-AR" dirty="0" err="1"/>
              <a:t>Mplus</a:t>
            </a:r>
            <a:r>
              <a:rPr lang="es-AR" dirty="0"/>
              <a:t> y el paquete </a:t>
            </a:r>
            <a:r>
              <a:rPr lang="es-AR" dirty="0" err="1"/>
              <a:t>Lavaan</a:t>
            </a:r>
            <a:r>
              <a:rPr lang="es-AR" dirty="0"/>
              <a:t> en R facilitan este modelamiento de medición, permitiendo obtener índices que se interpretan como  (falta de)evidencia de estructura interna.  </a:t>
            </a:r>
          </a:p>
        </p:txBody>
      </p:sp>
    </p:spTree>
    <p:extLst>
      <p:ext uri="{BB962C8B-B14F-4D97-AF65-F5344CB8AC3E}">
        <p14:creationId xmlns:p14="http://schemas.microsoft.com/office/powerpoint/2010/main" val="1718968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Marcador de contenido 4" descr="Diagrama, Esquemático&#10;&#10;Descripción generada automáticamente">
            <a:extLst>
              <a:ext uri="{FF2B5EF4-FFF2-40B4-BE49-F238E27FC236}">
                <a16:creationId xmlns:a16="http://schemas.microsoft.com/office/drawing/2014/main" id="{C8DB4C66-AB6D-DE34-DB1F-1CBC712667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322109" y="1935807"/>
            <a:ext cx="5547782" cy="4160837"/>
          </a:xfrm>
          <a:prstGeom prst="rect">
            <a:avLst/>
          </a:prstGeom>
        </p:spPr>
      </p:pic>
      <p:sp>
        <p:nvSpPr>
          <p:cNvPr id="2" name="Título 1">
            <a:extLst>
              <a:ext uri="{FF2B5EF4-FFF2-40B4-BE49-F238E27FC236}">
                <a16:creationId xmlns:a16="http://schemas.microsoft.com/office/drawing/2014/main" id="{C4BFC0A8-2F10-A052-E6AA-792B8CCCD713}"/>
              </a:ext>
            </a:extLst>
          </p:cNvPr>
          <p:cNvSpPr>
            <a:spLocks noGrp="1"/>
          </p:cNvSpPr>
          <p:nvPr>
            <p:ph type="title"/>
          </p:nvPr>
        </p:nvSpPr>
        <p:spPr/>
        <p:txBody>
          <a:bodyPr>
            <a:normAutofit/>
          </a:bodyPr>
          <a:lstStyle/>
          <a:p>
            <a:r>
              <a:rPr lang="es-AR" dirty="0"/>
              <a:t>Modelos de Ecuaciones Estructurales (SEM)</a:t>
            </a:r>
          </a:p>
        </p:txBody>
      </p:sp>
      <p:sp>
        <p:nvSpPr>
          <p:cNvPr id="3" name="Marcador de contenido 2">
            <a:extLst>
              <a:ext uri="{FF2B5EF4-FFF2-40B4-BE49-F238E27FC236}">
                <a16:creationId xmlns:a16="http://schemas.microsoft.com/office/drawing/2014/main" id="{10DE48FC-FD93-B636-FE7D-3C2DC191336D}"/>
              </a:ext>
            </a:extLst>
          </p:cNvPr>
          <p:cNvSpPr>
            <a:spLocks noGrp="1"/>
          </p:cNvSpPr>
          <p:nvPr>
            <p:ph idx="1"/>
          </p:nvPr>
        </p:nvSpPr>
        <p:spPr/>
        <p:txBody>
          <a:bodyPr/>
          <a:lstStyle/>
          <a:p>
            <a:r>
              <a:rPr lang="es-AR" dirty="0"/>
              <a:t>Nosotros vamos a trabajar desde un Abordaje a partir de Modelos de Ecuaciones Estructurales (SEM).</a:t>
            </a:r>
          </a:p>
        </p:txBody>
      </p:sp>
    </p:spTree>
    <p:extLst>
      <p:ext uri="{BB962C8B-B14F-4D97-AF65-F5344CB8AC3E}">
        <p14:creationId xmlns:p14="http://schemas.microsoft.com/office/powerpoint/2010/main" val="38273996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 calcmode="lin" valueType="num">
                                      <p:cBhvr additive="base">
                                        <p:cTn id="7" dur="500" fill="hold"/>
                                        <p:tgtEl>
                                          <p:spTgt spid="4"/>
                                        </p:tgtEl>
                                        <p:attrNameLst>
                                          <p:attrName>ppt_x</p:attrName>
                                        </p:attrNameLst>
                                      </p:cBhvr>
                                      <p:tavLst>
                                        <p:tav tm="0">
                                          <p:val>
                                            <p:strVal val="#ppt_x"/>
                                          </p:val>
                                        </p:tav>
                                        <p:tav tm="100000">
                                          <p:val>
                                            <p:strVal val="#ppt_x"/>
                                          </p:val>
                                        </p:tav>
                                      </p:tavLst>
                                    </p:anim>
                                    <p:anim calcmode="lin" valueType="num">
                                      <p:cBhvr additive="base">
                                        <p:cTn id="8" dur="500" fill="hold"/>
                                        <p:tgtEl>
                                          <p:spTgt spid="4"/>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AEC785-676B-EAC7-3B4C-857D2834B41C}"/>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377BD757-8907-512C-1B70-46EA89E40556}"/>
              </a:ext>
            </a:extLst>
          </p:cNvPr>
          <p:cNvSpPr>
            <a:spLocks noGrp="1"/>
          </p:cNvSpPr>
          <p:nvPr>
            <p:ph idx="1"/>
          </p:nvPr>
        </p:nvSpPr>
        <p:spPr/>
        <p:txBody>
          <a:bodyPr/>
          <a:lstStyle/>
          <a:p>
            <a:endParaRPr lang="es-AR"/>
          </a:p>
        </p:txBody>
      </p:sp>
      <p:graphicFrame>
        <p:nvGraphicFramePr>
          <p:cNvPr id="4" name="Objeto 3">
            <a:extLst>
              <a:ext uri="{FF2B5EF4-FFF2-40B4-BE49-F238E27FC236}">
                <a16:creationId xmlns:a16="http://schemas.microsoft.com/office/drawing/2014/main" id="{80730BE2-03D4-419F-1A19-68B397DE0B6C}"/>
              </a:ext>
            </a:extLst>
          </p:cNvPr>
          <p:cNvGraphicFramePr>
            <a:graphicFrameLocks noChangeAspect="1"/>
          </p:cNvGraphicFramePr>
          <p:nvPr/>
        </p:nvGraphicFramePr>
        <p:xfrm>
          <a:off x="3433865" y="-1320"/>
          <a:ext cx="5322892" cy="6859319"/>
        </p:xfrm>
        <a:graphic>
          <a:graphicData uri="http://schemas.openxmlformats.org/presentationml/2006/ole">
            <mc:AlternateContent xmlns:mc="http://schemas.openxmlformats.org/markup-compatibility/2006">
              <mc:Choice xmlns:v="urn:schemas-microsoft-com:vml" Requires="v">
                <p:oleObj name="Bitmap Image" r:id="rId2" imgW="4488120" imgH="5783760" progId="PBrush">
                  <p:embed/>
                </p:oleObj>
              </mc:Choice>
              <mc:Fallback>
                <p:oleObj name="Bitmap Image" r:id="rId2" imgW="4488120" imgH="5783760" progId="PBrush">
                  <p:embed/>
                  <p:pic>
                    <p:nvPicPr>
                      <p:cNvPr id="4" name="Objeto 3">
                        <a:extLst>
                          <a:ext uri="{FF2B5EF4-FFF2-40B4-BE49-F238E27FC236}">
                            <a16:creationId xmlns:a16="http://schemas.microsoft.com/office/drawing/2014/main" id="{80730BE2-03D4-419F-1A19-68B397DE0B6C}"/>
                          </a:ext>
                        </a:extLst>
                      </p:cNvPr>
                      <p:cNvPicPr/>
                      <p:nvPr/>
                    </p:nvPicPr>
                    <p:blipFill>
                      <a:blip r:embed="rId3"/>
                      <a:stretch>
                        <a:fillRect/>
                      </a:stretch>
                    </p:blipFill>
                    <p:spPr>
                      <a:xfrm>
                        <a:off x="3433865" y="-1320"/>
                        <a:ext cx="5322892" cy="6859319"/>
                      </a:xfrm>
                      <a:prstGeom prst="rect">
                        <a:avLst/>
                      </a:prstGeom>
                      <a:ln>
                        <a:solidFill>
                          <a:schemeClr val="tx1"/>
                        </a:solidFill>
                      </a:ln>
                    </p:spPr>
                  </p:pic>
                </p:oleObj>
              </mc:Fallback>
            </mc:AlternateContent>
          </a:graphicData>
        </a:graphic>
      </p:graphicFrame>
    </p:spTree>
    <p:extLst>
      <p:ext uri="{BB962C8B-B14F-4D97-AF65-F5344CB8AC3E}">
        <p14:creationId xmlns:p14="http://schemas.microsoft.com/office/powerpoint/2010/main" val="1169450162"/>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2CC2522-AFE3-7F97-E3BB-2935BCA3DEF6}"/>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88DACF30-8950-AFAC-1D3B-90026A2C0AC2}"/>
              </a:ext>
            </a:extLst>
          </p:cNvPr>
          <p:cNvSpPr>
            <a:spLocks noGrp="1"/>
          </p:cNvSpPr>
          <p:nvPr>
            <p:ph idx="1"/>
          </p:nvPr>
        </p:nvSpPr>
        <p:spPr/>
        <p:txBody>
          <a:bodyPr>
            <a:normAutofit/>
          </a:bodyPr>
          <a:lstStyle/>
          <a:p>
            <a:pPr algn="l"/>
            <a:r>
              <a:rPr lang="en-US" dirty="0"/>
              <a:t>SEM </a:t>
            </a:r>
            <a:r>
              <a:rPr lang="en-US" dirty="0" err="1"/>
              <a:t>puede</a:t>
            </a:r>
            <a:r>
              <a:rPr lang="en-US" dirty="0"/>
              <a:t> </a:t>
            </a:r>
            <a:r>
              <a:rPr lang="en-US" dirty="0" err="1"/>
              <a:t>definirse</a:t>
            </a:r>
            <a:r>
              <a:rPr lang="en-US" dirty="0"/>
              <a:t> </a:t>
            </a:r>
            <a:r>
              <a:rPr lang="en-US" dirty="0" err="1"/>
              <a:t>como</a:t>
            </a:r>
            <a:r>
              <a:rPr lang="en-US" dirty="0"/>
              <a:t> </a:t>
            </a:r>
            <a:r>
              <a:rPr lang="en-US" dirty="0" err="1"/>
              <a:t>una</a:t>
            </a:r>
            <a:r>
              <a:rPr lang="en-US" dirty="0"/>
              <a:t> </a:t>
            </a:r>
            <a:r>
              <a:rPr lang="en-US" dirty="0" err="1"/>
              <a:t>técnica</a:t>
            </a:r>
            <a:r>
              <a:rPr lang="en-US" dirty="0"/>
              <a:t> de </a:t>
            </a:r>
            <a:r>
              <a:rPr lang="en-US" dirty="0" err="1"/>
              <a:t>regresión</a:t>
            </a:r>
            <a:r>
              <a:rPr lang="en-US" dirty="0"/>
              <a:t> multiple </a:t>
            </a:r>
            <a:r>
              <a:rPr lang="en-US" dirty="0" err="1"/>
              <a:t>multivariada</a:t>
            </a:r>
            <a:r>
              <a:rPr lang="en-US" dirty="0"/>
              <a:t>. </a:t>
            </a:r>
            <a:r>
              <a:rPr lang="en-US" dirty="0" err="1"/>
              <a:t>Regresión</a:t>
            </a:r>
            <a:r>
              <a:rPr lang="en-US" dirty="0"/>
              <a:t> Multiple </a:t>
            </a:r>
            <a:r>
              <a:rPr lang="en-US" dirty="0" err="1"/>
              <a:t>porque</a:t>
            </a:r>
            <a:r>
              <a:rPr lang="en-US" dirty="0"/>
              <a:t> </a:t>
            </a:r>
            <a:r>
              <a:rPr lang="en-US" dirty="0" err="1"/>
              <a:t>puede</a:t>
            </a:r>
            <a:r>
              <a:rPr lang="en-US" dirty="0"/>
              <a:t> </a:t>
            </a:r>
            <a:r>
              <a:rPr lang="en-US" dirty="0" err="1"/>
              <a:t>incluir</a:t>
            </a:r>
            <a:r>
              <a:rPr lang="en-US" dirty="0"/>
              <a:t> </a:t>
            </a:r>
            <a:r>
              <a:rPr lang="en-US" dirty="0" err="1"/>
              <a:t>más</a:t>
            </a:r>
            <a:r>
              <a:rPr lang="en-US" dirty="0"/>
              <a:t> de </a:t>
            </a:r>
            <a:r>
              <a:rPr lang="en-US" dirty="0" err="1"/>
              <a:t>una</a:t>
            </a:r>
            <a:r>
              <a:rPr lang="en-US" dirty="0"/>
              <a:t> variable </a:t>
            </a:r>
            <a:r>
              <a:rPr lang="en-US" dirty="0" err="1"/>
              <a:t>independiente</a:t>
            </a:r>
            <a:r>
              <a:rPr lang="en-US" dirty="0"/>
              <a:t> (</a:t>
            </a:r>
            <a:r>
              <a:rPr lang="en-US" dirty="0" err="1"/>
              <a:t>predictora</a:t>
            </a:r>
            <a:r>
              <a:rPr lang="en-US" dirty="0"/>
              <a:t> o </a:t>
            </a:r>
            <a:r>
              <a:rPr lang="en-US" dirty="0" err="1"/>
              <a:t>explicativa</a:t>
            </a:r>
            <a:r>
              <a:rPr lang="en-US" dirty="0"/>
              <a:t>), y </a:t>
            </a:r>
            <a:r>
              <a:rPr lang="en-US" dirty="0" err="1"/>
              <a:t>multivariada</a:t>
            </a:r>
            <a:r>
              <a:rPr lang="en-US" dirty="0"/>
              <a:t> </a:t>
            </a:r>
            <a:r>
              <a:rPr lang="en-US" dirty="0" err="1"/>
              <a:t>porque</a:t>
            </a:r>
            <a:r>
              <a:rPr lang="en-US" dirty="0"/>
              <a:t> </a:t>
            </a:r>
            <a:r>
              <a:rPr lang="en-US" dirty="0" err="1"/>
              <a:t>puede</a:t>
            </a:r>
            <a:r>
              <a:rPr lang="en-US" dirty="0"/>
              <a:t> </a:t>
            </a:r>
            <a:r>
              <a:rPr lang="en-US" dirty="0" err="1"/>
              <a:t>modelar</a:t>
            </a:r>
            <a:r>
              <a:rPr lang="en-US" dirty="0"/>
              <a:t> </a:t>
            </a:r>
            <a:r>
              <a:rPr lang="en-US" dirty="0" err="1"/>
              <a:t>el</a:t>
            </a:r>
            <a:r>
              <a:rPr lang="en-US" dirty="0"/>
              <a:t> </a:t>
            </a:r>
            <a:r>
              <a:rPr lang="en-US" dirty="0" err="1"/>
              <a:t>efecto</a:t>
            </a:r>
            <a:r>
              <a:rPr lang="en-US" dirty="0"/>
              <a:t> </a:t>
            </a:r>
            <a:r>
              <a:rPr lang="en-US" dirty="0" err="1"/>
              <a:t>sobre</a:t>
            </a:r>
            <a:r>
              <a:rPr lang="en-US" dirty="0"/>
              <a:t> </a:t>
            </a:r>
            <a:r>
              <a:rPr lang="en-US" dirty="0" err="1"/>
              <a:t>más</a:t>
            </a:r>
            <a:r>
              <a:rPr lang="en-US" dirty="0"/>
              <a:t> de </a:t>
            </a:r>
            <a:r>
              <a:rPr lang="en-US" dirty="0" err="1"/>
              <a:t>una</a:t>
            </a:r>
            <a:r>
              <a:rPr lang="en-US" dirty="0"/>
              <a:t> variable </a:t>
            </a:r>
            <a:r>
              <a:rPr lang="en-US" dirty="0" err="1"/>
              <a:t>dependiente</a:t>
            </a:r>
            <a:r>
              <a:rPr lang="en-US" dirty="0"/>
              <a:t> (o de </a:t>
            </a:r>
            <a:r>
              <a:rPr lang="en-US" dirty="0" err="1"/>
              <a:t>respuesta</a:t>
            </a:r>
            <a:r>
              <a:rPr lang="en-US" dirty="0"/>
              <a:t>). </a:t>
            </a:r>
          </a:p>
          <a:p>
            <a:pPr algn="l"/>
            <a:r>
              <a:rPr lang="en-US" dirty="0"/>
              <a:t>SEM </a:t>
            </a:r>
            <a:r>
              <a:rPr lang="en-US" dirty="0" err="1"/>
              <a:t>permite</a:t>
            </a:r>
            <a:r>
              <a:rPr lang="en-US" dirty="0"/>
              <a:t> </a:t>
            </a:r>
            <a:r>
              <a:rPr lang="en-US" dirty="0" err="1"/>
              <a:t>modelar</a:t>
            </a:r>
            <a:r>
              <a:rPr lang="en-US" dirty="0"/>
              <a:t> </a:t>
            </a:r>
            <a:r>
              <a:rPr lang="en-US" dirty="0" err="1"/>
              <a:t>factores</a:t>
            </a:r>
            <a:r>
              <a:rPr lang="en-US" dirty="0"/>
              <a:t> </a:t>
            </a:r>
            <a:r>
              <a:rPr lang="en-US" dirty="0" err="1"/>
              <a:t>latentes</a:t>
            </a:r>
            <a:r>
              <a:rPr lang="en-US" dirty="0"/>
              <a:t>: </a:t>
            </a:r>
            <a:r>
              <a:rPr lang="en-US" dirty="0" err="1"/>
              <a:t>constructos</a:t>
            </a:r>
            <a:r>
              <a:rPr lang="en-US" dirty="0"/>
              <a:t> y </a:t>
            </a:r>
            <a:r>
              <a:rPr lang="en-US" dirty="0" err="1"/>
              <a:t>varianza</a:t>
            </a:r>
            <a:r>
              <a:rPr lang="en-US" dirty="0"/>
              <a:t> no </a:t>
            </a:r>
            <a:r>
              <a:rPr lang="en-US" dirty="0" err="1"/>
              <a:t>explicada</a:t>
            </a:r>
            <a:r>
              <a:rPr lang="en-US" dirty="0"/>
              <a:t>. Tanto </a:t>
            </a:r>
            <a:r>
              <a:rPr lang="en-US" dirty="0" err="1"/>
              <a:t>desde</a:t>
            </a:r>
            <a:r>
              <a:rPr lang="en-US" dirty="0"/>
              <a:t> un </a:t>
            </a:r>
            <a:r>
              <a:rPr lang="en-US" dirty="0" err="1"/>
              <a:t>enfoque</a:t>
            </a:r>
            <a:r>
              <a:rPr lang="en-US" dirty="0"/>
              <a:t> “</a:t>
            </a:r>
            <a:r>
              <a:rPr lang="en-US" dirty="0" err="1"/>
              <a:t>exploratorio</a:t>
            </a:r>
            <a:r>
              <a:rPr lang="en-US" dirty="0"/>
              <a:t>” </a:t>
            </a:r>
            <a:r>
              <a:rPr lang="en-US" dirty="0" err="1"/>
              <a:t>como</a:t>
            </a:r>
            <a:r>
              <a:rPr lang="en-US" dirty="0"/>
              <a:t> </a:t>
            </a:r>
            <a:r>
              <a:rPr lang="en-US" dirty="0" err="1"/>
              <a:t>desde</a:t>
            </a:r>
            <a:r>
              <a:rPr lang="en-US" dirty="0"/>
              <a:t> un </a:t>
            </a:r>
            <a:r>
              <a:rPr lang="en-US" dirty="0" err="1"/>
              <a:t>enfoque</a:t>
            </a:r>
            <a:r>
              <a:rPr lang="en-US" dirty="0"/>
              <a:t> “</a:t>
            </a:r>
            <a:r>
              <a:rPr lang="en-US" dirty="0" err="1"/>
              <a:t>confirmatorio</a:t>
            </a:r>
            <a:r>
              <a:rPr lang="en-US" dirty="0"/>
              <a:t>”. </a:t>
            </a:r>
          </a:p>
          <a:p>
            <a:pPr algn="l"/>
            <a:r>
              <a:rPr lang="en-US" dirty="0" err="1"/>
              <a:t>Permite</a:t>
            </a:r>
            <a:r>
              <a:rPr lang="en-US" dirty="0"/>
              <a:t> la </a:t>
            </a:r>
            <a:r>
              <a:rPr lang="en-US" dirty="0" err="1"/>
              <a:t>obtención</a:t>
            </a:r>
            <a:r>
              <a:rPr lang="en-US" dirty="0"/>
              <a:t> de </a:t>
            </a:r>
            <a:r>
              <a:rPr lang="en-US" dirty="0" err="1"/>
              <a:t>indicadores</a:t>
            </a:r>
            <a:r>
              <a:rPr lang="en-US" dirty="0"/>
              <a:t> de </a:t>
            </a:r>
            <a:r>
              <a:rPr lang="en-US" dirty="0" err="1"/>
              <a:t>ajuste</a:t>
            </a:r>
            <a:r>
              <a:rPr lang="en-US" dirty="0"/>
              <a:t> de </a:t>
            </a:r>
            <a:r>
              <a:rPr lang="en-US" dirty="0" err="1"/>
              <a:t>los</a:t>
            </a:r>
            <a:r>
              <a:rPr lang="en-US" dirty="0"/>
              <a:t> </a:t>
            </a:r>
            <a:r>
              <a:rPr lang="en-US" dirty="0" err="1"/>
              <a:t>diversos</a:t>
            </a:r>
            <a:r>
              <a:rPr lang="en-US" dirty="0"/>
              <a:t> </a:t>
            </a:r>
            <a:r>
              <a:rPr lang="en-US" dirty="0" err="1"/>
              <a:t>modelos</a:t>
            </a:r>
            <a:r>
              <a:rPr lang="en-US" dirty="0"/>
              <a:t> a </a:t>
            </a:r>
            <a:r>
              <a:rPr lang="en-US" dirty="0" err="1"/>
              <a:t>los</a:t>
            </a:r>
            <a:r>
              <a:rPr lang="en-US" dirty="0"/>
              <a:t> </a:t>
            </a:r>
            <a:r>
              <a:rPr lang="en-US" dirty="0" err="1"/>
              <a:t>datos</a:t>
            </a:r>
            <a:r>
              <a:rPr lang="en-US" dirty="0"/>
              <a:t>.</a:t>
            </a:r>
          </a:p>
        </p:txBody>
      </p:sp>
    </p:spTree>
    <p:extLst>
      <p:ext uri="{BB962C8B-B14F-4D97-AF65-F5344CB8AC3E}">
        <p14:creationId xmlns:p14="http://schemas.microsoft.com/office/powerpoint/2010/main" val="40875390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F3CFBC5-3E1C-AEB2-1A5E-032636E2888E}"/>
              </a:ext>
            </a:extLst>
          </p:cNvPr>
          <p:cNvSpPr>
            <a:spLocks noGrp="1"/>
          </p:cNvSpPr>
          <p:nvPr>
            <p:ph type="title"/>
          </p:nvPr>
        </p:nvSpPr>
        <p:spPr/>
        <p:txBody>
          <a:bodyPr/>
          <a:lstStyle/>
          <a:p>
            <a:r>
              <a:rPr lang="es-AR" dirty="0"/>
              <a:t>Ejemplo de Especificación de un Modelo SEM (AFC) para la Depresión</a:t>
            </a:r>
          </a:p>
        </p:txBody>
      </p:sp>
      <p:sp>
        <p:nvSpPr>
          <p:cNvPr id="3" name="Marcador de contenido 2">
            <a:extLst>
              <a:ext uri="{FF2B5EF4-FFF2-40B4-BE49-F238E27FC236}">
                <a16:creationId xmlns:a16="http://schemas.microsoft.com/office/drawing/2014/main" id="{F1F36506-0DD8-A9BF-8A1C-2FA8875A69F9}"/>
              </a:ext>
            </a:extLst>
          </p:cNvPr>
          <p:cNvSpPr>
            <a:spLocks noGrp="1"/>
          </p:cNvSpPr>
          <p:nvPr>
            <p:ph idx="1"/>
          </p:nvPr>
        </p:nvSpPr>
        <p:spPr/>
        <p:txBody>
          <a:bodyPr/>
          <a:lstStyle/>
          <a:p>
            <a:endParaRPr lang="es-AR"/>
          </a:p>
        </p:txBody>
      </p:sp>
      <p:pic>
        <p:nvPicPr>
          <p:cNvPr id="5" name="Imagen 4" descr="Interfaz de usuario gráfica, Aplicación&#10;&#10;El contenido generado por IA puede ser incorrecto.">
            <a:extLst>
              <a:ext uri="{FF2B5EF4-FFF2-40B4-BE49-F238E27FC236}">
                <a16:creationId xmlns:a16="http://schemas.microsoft.com/office/drawing/2014/main" id="{F3CFE1B8-D6C3-0998-F88B-D4D79F468A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357312" y="498706"/>
            <a:ext cx="9477375" cy="5860587"/>
          </a:xfrm>
          <a:prstGeom prst="rect">
            <a:avLst/>
          </a:prstGeom>
        </p:spPr>
      </p:pic>
    </p:spTree>
    <p:extLst>
      <p:ext uri="{BB962C8B-B14F-4D97-AF65-F5344CB8AC3E}">
        <p14:creationId xmlns:p14="http://schemas.microsoft.com/office/powerpoint/2010/main" val="2718574701"/>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041B84D-9C38-57DB-2D86-5D5B67E947F2}"/>
              </a:ext>
            </a:extLst>
          </p:cNvPr>
          <p:cNvSpPr>
            <a:spLocks noGrp="1"/>
          </p:cNvSpPr>
          <p:nvPr>
            <p:ph type="title"/>
          </p:nvPr>
        </p:nvSpPr>
        <p:spPr/>
        <p:txBody>
          <a:bodyPr/>
          <a:lstStyle/>
          <a:p>
            <a:endParaRPr lang="es-AR" noProof="0" dirty="0"/>
          </a:p>
        </p:txBody>
      </p:sp>
      <p:sp>
        <p:nvSpPr>
          <p:cNvPr id="3" name="Marcador de contenido 2">
            <a:extLst>
              <a:ext uri="{FF2B5EF4-FFF2-40B4-BE49-F238E27FC236}">
                <a16:creationId xmlns:a16="http://schemas.microsoft.com/office/drawing/2014/main" id="{B8CF888E-6C91-1230-7CFB-125EF38858A3}"/>
              </a:ext>
            </a:extLst>
          </p:cNvPr>
          <p:cNvSpPr>
            <a:spLocks noGrp="1"/>
          </p:cNvSpPr>
          <p:nvPr>
            <p:ph idx="1"/>
          </p:nvPr>
        </p:nvSpPr>
        <p:spPr>
          <a:xfrm>
            <a:off x="6396471" y="1825625"/>
            <a:ext cx="4957329" cy="4351338"/>
          </a:xfrm>
        </p:spPr>
        <p:txBody>
          <a:bodyPr/>
          <a:lstStyle/>
          <a:p>
            <a:pPr marL="0" indent="0">
              <a:buNone/>
            </a:pPr>
            <a:r>
              <a:rPr lang="es-AR" b="1" u="sng" noProof="0" dirty="0">
                <a:latin typeface="Times New Roman" panose="02020603050405020304" pitchFamily="18" charset="0"/>
                <a:cs typeface="Times New Roman" panose="02020603050405020304" pitchFamily="18" charset="0"/>
              </a:rPr>
              <a:t>Partes de un Modelo Factorial</a:t>
            </a:r>
          </a:p>
          <a:p>
            <a:pPr marL="0" indent="0">
              <a:buNone/>
            </a:pPr>
            <a:r>
              <a:rPr lang="es-AR" b="1" noProof="0" dirty="0">
                <a:solidFill>
                  <a:srgbClr val="0070C0"/>
                </a:solidFill>
                <a:latin typeface="Times New Roman" panose="02020603050405020304" pitchFamily="18" charset="0"/>
                <a:cs typeface="Times New Roman" panose="02020603050405020304" pitchFamily="18" charset="0"/>
              </a:rPr>
              <a:t>Óvalos</a:t>
            </a:r>
            <a:r>
              <a:rPr lang="es-AR" noProof="0" dirty="0">
                <a:latin typeface="Times New Roman" panose="02020603050405020304" pitchFamily="18" charset="0"/>
                <a:cs typeface="Times New Roman" panose="02020603050405020304" pitchFamily="18" charset="0"/>
              </a:rPr>
              <a:t> = Variables Latentes</a:t>
            </a:r>
          </a:p>
          <a:p>
            <a:pPr marL="0" indent="0">
              <a:buNone/>
            </a:pPr>
            <a:r>
              <a:rPr lang="es-AR" b="1" dirty="0">
                <a:solidFill>
                  <a:srgbClr val="0070C0"/>
                </a:solidFill>
                <a:latin typeface="Times New Roman" panose="02020603050405020304" pitchFamily="18" charset="0"/>
                <a:cs typeface="Times New Roman" panose="02020603050405020304" pitchFamily="18" charset="0"/>
              </a:rPr>
              <a:t>Rectángulos</a:t>
            </a:r>
            <a:r>
              <a:rPr lang="es-AR" b="1" dirty="0">
                <a:latin typeface="Times New Roman" panose="02020603050405020304" pitchFamily="18" charset="0"/>
                <a:cs typeface="Times New Roman" panose="02020603050405020304" pitchFamily="18" charset="0"/>
              </a:rPr>
              <a:t> </a:t>
            </a:r>
            <a:r>
              <a:rPr lang="es-AR" dirty="0">
                <a:latin typeface="Times New Roman" panose="02020603050405020304" pitchFamily="18" charset="0"/>
                <a:cs typeface="Times New Roman" panose="02020603050405020304" pitchFamily="18" charset="0"/>
              </a:rPr>
              <a:t>= Variables Observadas.</a:t>
            </a:r>
            <a:endParaRPr lang="es-AR" noProof="0" dirty="0">
              <a:latin typeface="Times New Roman" panose="02020603050405020304" pitchFamily="18" charset="0"/>
              <a:cs typeface="Times New Roman" panose="02020603050405020304" pitchFamily="18" charset="0"/>
            </a:endParaRPr>
          </a:p>
          <a:p>
            <a:pPr marL="0" indent="0">
              <a:buNone/>
            </a:pPr>
            <a:r>
              <a:rPr lang="es-AR" b="1" noProof="0" dirty="0">
                <a:solidFill>
                  <a:srgbClr val="0070C0"/>
                </a:solidFill>
                <a:latin typeface="Times New Roman" panose="02020603050405020304" pitchFamily="18" charset="0"/>
                <a:cs typeface="Times New Roman" panose="02020603050405020304" pitchFamily="18" charset="0"/>
              </a:rPr>
              <a:t>λ</a:t>
            </a:r>
            <a:r>
              <a:rPr lang="es-AR" noProof="0" dirty="0">
                <a:latin typeface="Times New Roman" panose="02020603050405020304" pitchFamily="18" charset="0"/>
                <a:cs typeface="Times New Roman" panose="02020603050405020304" pitchFamily="18" charset="0"/>
              </a:rPr>
              <a:t> = Cargas Factorial</a:t>
            </a:r>
          </a:p>
          <a:p>
            <a:pPr marL="0" indent="0">
              <a:buNone/>
            </a:pPr>
            <a:r>
              <a:rPr lang="es-AR" b="1" noProof="0" dirty="0">
                <a:solidFill>
                  <a:srgbClr val="0070C0"/>
                </a:solidFill>
                <a:latin typeface="Times New Roman" panose="02020603050405020304" pitchFamily="18" charset="0"/>
                <a:cs typeface="Times New Roman" panose="02020603050405020304" pitchFamily="18" charset="0"/>
              </a:rPr>
              <a:t>θ</a:t>
            </a:r>
            <a:r>
              <a:rPr lang="es-AR" b="1" noProof="0" dirty="0">
                <a:latin typeface="Times New Roman" panose="02020603050405020304" pitchFamily="18" charset="0"/>
                <a:cs typeface="Times New Roman" panose="02020603050405020304" pitchFamily="18" charset="0"/>
              </a:rPr>
              <a:t> </a:t>
            </a:r>
            <a:r>
              <a:rPr lang="es-AR" noProof="0" dirty="0">
                <a:latin typeface="Times New Roman" panose="02020603050405020304" pitchFamily="18" charset="0"/>
                <a:cs typeface="Times New Roman" panose="02020603050405020304" pitchFamily="18" charset="0"/>
              </a:rPr>
              <a:t>= Varianza no Explicada (Varianza Residual o Varianza de Error).</a:t>
            </a:r>
          </a:p>
          <a:p>
            <a:pPr marL="0" indent="0">
              <a:buNone/>
            </a:pPr>
            <a:r>
              <a:rPr lang="es-AR" b="1" noProof="0" dirty="0">
                <a:solidFill>
                  <a:srgbClr val="0070C0"/>
                </a:solidFill>
                <a:latin typeface="Times New Roman" panose="02020603050405020304" pitchFamily="18" charset="0"/>
                <a:cs typeface="Times New Roman" panose="02020603050405020304" pitchFamily="18" charset="0"/>
              </a:rPr>
              <a:t>Φ/φ </a:t>
            </a:r>
            <a:r>
              <a:rPr lang="es-AR" noProof="0" dirty="0">
                <a:latin typeface="Times New Roman" panose="02020603050405020304" pitchFamily="18" charset="0"/>
                <a:cs typeface="Times New Roman" panose="02020603050405020304" pitchFamily="18" charset="0"/>
              </a:rPr>
              <a:t>= Correlación </a:t>
            </a:r>
            <a:r>
              <a:rPr lang="es-AR" noProof="0" dirty="0" err="1">
                <a:latin typeface="Times New Roman" panose="02020603050405020304" pitchFamily="18" charset="0"/>
                <a:cs typeface="Times New Roman" panose="02020603050405020304" pitchFamily="18" charset="0"/>
              </a:rPr>
              <a:t>Interfactorial</a:t>
            </a:r>
            <a:endParaRPr lang="es-AR" noProof="0" dirty="0"/>
          </a:p>
        </p:txBody>
      </p:sp>
      <p:pic>
        <p:nvPicPr>
          <p:cNvPr id="6" name="Imagen 5">
            <a:extLst>
              <a:ext uri="{FF2B5EF4-FFF2-40B4-BE49-F238E27FC236}">
                <a16:creationId xmlns:a16="http://schemas.microsoft.com/office/drawing/2014/main" id="{DF4541D3-E830-EC5A-FE5D-4ED1AF37FFD4}"/>
              </a:ext>
            </a:extLst>
          </p:cNvPr>
          <p:cNvPicPr>
            <a:picLocks noChangeAspect="1"/>
          </p:cNvPicPr>
          <p:nvPr/>
        </p:nvPicPr>
        <p:blipFill>
          <a:blip r:embed="rId3"/>
          <a:stretch>
            <a:fillRect/>
          </a:stretch>
        </p:blipFill>
        <p:spPr>
          <a:xfrm>
            <a:off x="80515" y="1961885"/>
            <a:ext cx="6315956" cy="3791479"/>
          </a:xfrm>
          <a:prstGeom prst="rect">
            <a:avLst/>
          </a:prstGeom>
        </p:spPr>
      </p:pic>
    </p:spTree>
    <p:extLst>
      <p:ext uri="{BB962C8B-B14F-4D97-AF65-F5344CB8AC3E}">
        <p14:creationId xmlns:p14="http://schemas.microsoft.com/office/powerpoint/2010/main" val="158600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2" presetClass="entr" presetSubtype="4" fill="hold" grpId="0" nodeType="clickEffect">
                                  <p:stCondLst>
                                    <p:cond delay="0"/>
                                  </p:stCondLst>
                                  <p:childTnLst>
                                    <p:set>
                                      <p:cBhvr>
                                        <p:cTn id="36" dur="1" fill="hold">
                                          <p:stCondLst>
                                            <p:cond delay="0"/>
                                          </p:stCondLst>
                                        </p:cTn>
                                        <p:tgtEl>
                                          <p:spTgt spid="3">
                                            <p:txEl>
                                              <p:pRg st="5" end="5"/>
                                            </p:txEl>
                                          </p:spTgt>
                                        </p:tgtEl>
                                        <p:attrNameLst>
                                          <p:attrName>style.visibility</p:attrName>
                                        </p:attrNameLst>
                                      </p:cBhvr>
                                      <p:to>
                                        <p:strVal val="visible"/>
                                      </p:to>
                                    </p:set>
                                    <p:anim calcmode="lin" valueType="num">
                                      <p:cBhvr additive="base">
                                        <p:cTn id="37"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7CECBB-2AA2-969E-9A85-0EB853F47004}"/>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F61E568A-05F6-16AF-AC25-68FDC2BBE7C2}"/>
              </a:ext>
            </a:extLst>
          </p:cNvPr>
          <p:cNvSpPr>
            <a:spLocks noGrp="1"/>
          </p:cNvSpPr>
          <p:nvPr>
            <p:ph type="title"/>
          </p:nvPr>
        </p:nvSpPr>
        <p:spPr/>
        <p:txBody>
          <a:bodyPr/>
          <a:lstStyle/>
          <a:p>
            <a:r>
              <a:rPr lang="es-AR" noProof="0" dirty="0"/>
              <a:t>Estimación</a:t>
            </a:r>
            <a:r>
              <a:rPr lang="es-AR" dirty="0"/>
              <a:t> de Parámetros</a:t>
            </a:r>
            <a:endParaRPr lang="es-AR" noProof="0" dirty="0"/>
          </a:p>
        </p:txBody>
      </p:sp>
      <p:sp>
        <p:nvSpPr>
          <p:cNvPr id="3" name="Marcador de contenido 2">
            <a:extLst>
              <a:ext uri="{FF2B5EF4-FFF2-40B4-BE49-F238E27FC236}">
                <a16:creationId xmlns:a16="http://schemas.microsoft.com/office/drawing/2014/main" id="{4CF1517C-74E4-66A9-1F11-2C01BB3F194C}"/>
              </a:ext>
            </a:extLst>
          </p:cNvPr>
          <p:cNvSpPr>
            <a:spLocks noGrp="1"/>
          </p:cNvSpPr>
          <p:nvPr>
            <p:ph idx="1"/>
          </p:nvPr>
        </p:nvSpPr>
        <p:spPr>
          <a:xfrm>
            <a:off x="6396471" y="2011365"/>
            <a:ext cx="4957329" cy="4351338"/>
          </a:xfrm>
        </p:spPr>
        <p:txBody>
          <a:bodyPr/>
          <a:lstStyle/>
          <a:p>
            <a:pPr marL="0" indent="0">
              <a:buNone/>
            </a:pPr>
            <a:r>
              <a:rPr lang="es-AR" dirty="0"/>
              <a:t>El primer paso (1) es la</a:t>
            </a:r>
            <a:r>
              <a:rPr lang="es-AR" noProof="0" dirty="0"/>
              <a:t> </a:t>
            </a:r>
            <a:r>
              <a:rPr lang="es-AR" dirty="0"/>
              <a:t>estimación</a:t>
            </a:r>
            <a:r>
              <a:rPr lang="es-AR" noProof="0" dirty="0"/>
              <a:t> de los parámetros </a:t>
            </a:r>
            <a:r>
              <a:rPr lang="es-AR" dirty="0"/>
              <a:t>(</a:t>
            </a:r>
            <a:r>
              <a:rPr lang="es-AR" noProof="0" dirty="0"/>
              <a:t>no conocidos) a partir de los datos que tenemos (información conocida).</a:t>
            </a:r>
          </a:p>
          <a:p>
            <a:pPr marL="0" indent="0">
              <a:buNone/>
            </a:pPr>
            <a:r>
              <a:rPr lang="es-AR" dirty="0"/>
              <a:t>¿Qué datos tenemos? Nuestra matriz de varianzas y covarianzas (i.e., ítems y sus asociaciones)</a:t>
            </a:r>
            <a:endParaRPr lang="es-AR" noProof="0" dirty="0"/>
          </a:p>
        </p:txBody>
      </p:sp>
      <p:pic>
        <p:nvPicPr>
          <p:cNvPr id="6" name="Imagen 5">
            <a:extLst>
              <a:ext uri="{FF2B5EF4-FFF2-40B4-BE49-F238E27FC236}">
                <a16:creationId xmlns:a16="http://schemas.microsoft.com/office/drawing/2014/main" id="{8CE530BB-BB5F-9EF8-28FA-8AF8166278A4}"/>
              </a:ext>
            </a:extLst>
          </p:cNvPr>
          <p:cNvPicPr>
            <a:picLocks noChangeAspect="1"/>
          </p:cNvPicPr>
          <p:nvPr/>
        </p:nvPicPr>
        <p:blipFill>
          <a:blip r:embed="rId3"/>
          <a:stretch>
            <a:fillRect/>
          </a:stretch>
        </p:blipFill>
        <p:spPr>
          <a:xfrm>
            <a:off x="80515" y="1961885"/>
            <a:ext cx="6315956" cy="3791479"/>
          </a:xfrm>
          <a:prstGeom prst="rect">
            <a:avLst/>
          </a:prstGeom>
        </p:spPr>
      </p:pic>
    </p:spTree>
    <p:extLst>
      <p:ext uri="{BB962C8B-B14F-4D97-AF65-F5344CB8AC3E}">
        <p14:creationId xmlns:p14="http://schemas.microsoft.com/office/powerpoint/2010/main" val="25124136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B25A03-FF2A-A36A-2682-83B475807990}"/>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5FA918-21EB-94C7-2756-FF0E12BC966C}"/>
              </a:ext>
            </a:extLst>
          </p:cNvPr>
          <p:cNvSpPr>
            <a:spLocks noGrp="1"/>
          </p:cNvSpPr>
          <p:nvPr>
            <p:ph type="title"/>
          </p:nvPr>
        </p:nvSpPr>
        <p:spPr/>
        <p:txBody>
          <a:bodyPr/>
          <a:lstStyle/>
          <a:p>
            <a:r>
              <a:rPr lang="es-AR" noProof="0" dirty="0"/>
              <a:t>Estimación de Parámetros</a:t>
            </a:r>
          </a:p>
        </p:txBody>
      </p:sp>
      <p:pic>
        <p:nvPicPr>
          <p:cNvPr id="6" name="Imagen 5">
            <a:extLst>
              <a:ext uri="{FF2B5EF4-FFF2-40B4-BE49-F238E27FC236}">
                <a16:creationId xmlns:a16="http://schemas.microsoft.com/office/drawing/2014/main" id="{ECCEA64F-AE2A-C0CE-34D2-9D01018ABC41}"/>
              </a:ext>
            </a:extLst>
          </p:cNvPr>
          <p:cNvPicPr>
            <a:picLocks noChangeAspect="1"/>
          </p:cNvPicPr>
          <p:nvPr/>
        </p:nvPicPr>
        <p:blipFill>
          <a:blip r:embed="rId3"/>
          <a:stretch>
            <a:fillRect/>
          </a:stretch>
        </p:blipFill>
        <p:spPr>
          <a:xfrm>
            <a:off x="80515" y="1961885"/>
            <a:ext cx="6315956" cy="3791479"/>
          </a:xfrm>
          <a:prstGeom prst="rect">
            <a:avLst/>
          </a:prstGeom>
        </p:spPr>
      </p:pic>
      <p:pic>
        <p:nvPicPr>
          <p:cNvPr id="8" name="Imagen 7">
            <a:extLst>
              <a:ext uri="{FF2B5EF4-FFF2-40B4-BE49-F238E27FC236}">
                <a16:creationId xmlns:a16="http://schemas.microsoft.com/office/drawing/2014/main" id="{323941EB-88D1-CB44-DD73-5722EECAD913}"/>
              </a:ext>
            </a:extLst>
          </p:cNvPr>
          <p:cNvPicPr>
            <a:picLocks noChangeAspect="1"/>
          </p:cNvPicPr>
          <p:nvPr/>
        </p:nvPicPr>
        <p:blipFill>
          <a:blip r:embed="rId4"/>
          <a:stretch>
            <a:fillRect/>
          </a:stretch>
        </p:blipFill>
        <p:spPr>
          <a:xfrm>
            <a:off x="7154156" y="2243686"/>
            <a:ext cx="4677428" cy="3515216"/>
          </a:xfrm>
          <a:prstGeom prst="rect">
            <a:avLst/>
          </a:prstGeom>
        </p:spPr>
      </p:pic>
      <p:sp>
        <p:nvSpPr>
          <p:cNvPr id="9" name="Rectángulo 8">
            <a:extLst>
              <a:ext uri="{FF2B5EF4-FFF2-40B4-BE49-F238E27FC236}">
                <a16:creationId xmlns:a16="http://schemas.microsoft.com/office/drawing/2014/main" id="{A7228B81-523A-AB3D-908D-FB6030538FB6}"/>
              </a:ext>
            </a:extLst>
          </p:cNvPr>
          <p:cNvSpPr/>
          <p:nvPr/>
        </p:nvSpPr>
        <p:spPr>
          <a:xfrm>
            <a:off x="3657600" y="3714751"/>
            <a:ext cx="2438400" cy="5143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0" name="Rectángulo 9">
            <a:extLst>
              <a:ext uri="{FF2B5EF4-FFF2-40B4-BE49-F238E27FC236}">
                <a16:creationId xmlns:a16="http://schemas.microsoft.com/office/drawing/2014/main" id="{D4266D4B-8A97-1765-EA50-5FD17A7BA432}"/>
              </a:ext>
            </a:extLst>
          </p:cNvPr>
          <p:cNvSpPr/>
          <p:nvPr/>
        </p:nvSpPr>
        <p:spPr>
          <a:xfrm>
            <a:off x="3509962" y="4895851"/>
            <a:ext cx="2733676" cy="5143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1" name="Rectángulo 10">
            <a:extLst>
              <a:ext uri="{FF2B5EF4-FFF2-40B4-BE49-F238E27FC236}">
                <a16:creationId xmlns:a16="http://schemas.microsoft.com/office/drawing/2014/main" id="{B6B72DA0-5D0C-C05F-E9F2-F4AE7E9C6446}"/>
              </a:ext>
            </a:extLst>
          </p:cNvPr>
          <p:cNvSpPr/>
          <p:nvPr/>
        </p:nvSpPr>
        <p:spPr>
          <a:xfrm>
            <a:off x="649858" y="3744119"/>
            <a:ext cx="2438400" cy="5143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3" name="Rectángulo 12">
            <a:extLst>
              <a:ext uri="{FF2B5EF4-FFF2-40B4-BE49-F238E27FC236}">
                <a16:creationId xmlns:a16="http://schemas.microsoft.com/office/drawing/2014/main" id="{193C16FE-8D43-02A0-CD33-C53F94D357B2}"/>
              </a:ext>
            </a:extLst>
          </p:cNvPr>
          <p:cNvSpPr/>
          <p:nvPr/>
        </p:nvSpPr>
        <p:spPr>
          <a:xfrm>
            <a:off x="504817" y="4895851"/>
            <a:ext cx="2733676" cy="5143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4" name="Rectángulo 13">
            <a:extLst>
              <a:ext uri="{FF2B5EF4-FFF2-40B4-BE49-F238E27FC236}">
                <a16:creationId xmlns:a16="http://schemas.microsoft.com/office/drawing/2014/main" id="{EF10D9A2-1CB4-21FD-2C7D-D0A95EBCFBB7}"/>
              </a:ext>
            </a:extLst>
          </p:cNvPr>
          <p:cNvSpPr/>
          <p:nvPr/>
        </p:nvSpPr>
        <p:spPr>
          <a:xfrm>
            <a:off x="2643188" y="1843088"/>
            <a:ext cx="1671638" cy="51435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5" name="Flecha: hacia la izquierda 14">
            <a:extLst>
              <a:ext uri="{FF2B5EF4-FFF2-40B4-BE49-F238E27FC236}">
                <a16:creationId xmlns:a16="http://schemas.microsoft.com/office/drawing/2014/main" id="{89DBD61C-AF68-3451-4CE8-827D993A2143}"/>
              </a:ext>
            </a:extLst>
          </p:cNvPr>
          <p:cNvSpPr/>
          <p:nvPr/>
        </p:nvSpPr>
        <p:spPr>
          <a:xfrm>
            <a:off x="6396471" y="3629026"/>
            <a:ext cx="757685" cy="685800"/>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CuadroTexto 15">
            <a:extLst>
              <a:ext uri="{FF2B5EF4-FFF2-40B4-BE49-F238E27FC236}">
                <a16:creationId xmlns:a16="http://schemas.microsoft.com/office/drawing/2014/main" id="{988CF22D-6151-7469-4B98-7B2D560D5C44}"/>
              </a:ext>
            </a:extLst>
          </p:cNvPr>
          <p:cNvSpPr txBox="1"/>
          <p:nvPr/>
        </p:nvSpPr>
        <p:spPr>
          <a:xfrm>
            <a:off x="8516288" y="5753364"/>
            <a:ext cx="2118400" cy="830997"/>
          </a:xfrm>
          <a:prstGeom prst="rect">
            <a:avLst/>
          </a:prstGeom>
          <a:noFill/>
        </p:spPr>
        <p:txBody>
          <a:bodyPr wrap="none" rtlCol="0">
            <a:spAutoFit/>
          </a:bodyPr>
          <a:lstStyle/>
          <a:p>
            <a:pPr algn="ctr"/>
            <a:r>
              <a:rPr lang="es-AR" sz="2400" b="1" dirty="0"/>
              <a:t>De los Datos</a:t>
            </a:r>
          </a:p>
          <a:p>
            <a:pPr algn="ctr"/>
            <a:r>
              <a:rPr lang="es-AR" sz="2400" dirty="0"/>
              <a:t>(Lo Conocido)</a:t>
            </a:r>
          </a:p>
        </p:txBody>
      </p:sp>
      <p:sp>
        <p:nvSpPr>
          <p:cNvPr id="17" name="CuadroTexto 16">
            <a:extLst>
              <a:ext uri="{FF2B5EF4-FFF2-40B4-BE49-F238E27FC236}">
                <a16:creationId xmlns:a16="http://schemas.microsoft.com/office/drawing/2014/main" id="{94458326-0405-6517-8F4B-ED8EFB3DE289}"/>
              </a:ext>
            </a:extLst>
          </p:cNvPr>
          <p:cNvSpPr txBox="1"/>
          <p:nvPr/>
        </p:nvSpPr>
        <p:spPr>
          <a:xfrm>
            <a:off x="1502825" y="5751134"/>
            <a:ext cx="3952364" cy="830997"/>
          </a:xfrm>
          <a:prstGeom prst="rect">
            <a:avLst/>
          </a:prstGeom>
          <a:noFill/>
        </p:spPr>
        <p:txBody>
          <a:bodyPr wrap="none" rtlCol="0">
            <a:spAutoFit/>
          </a:bodyPr>
          <a:lstStyle/>
          <a:p>
            <a:pPr algn="ctr"/>
            <a:r>
              <a:rPr lang="es-AR" sz="2400" b="1" dirty="0"/>
              <a:t>A la Estimación del Modelo</a:t>
            </a:r>
          </a:p>
          <a:p>
            <a:pPr algn="ctr"/>
            <a:r>
              <a:rPr lang="es-AR" sz="2400" dirty="0"/>
              <a:t>(Lo No Conocido)</a:t>
            </a:r>
          </a:p>
        </p:txBody>
      </p:sp>
      <p:cxnSp>
        <p:nvCxnSpPr>
          <p:cNvPr id="19" name="Conector recto de flecha 18">
            <a:extLst>
              <a:ext uri="{FF2B5EF4-FFF2-40B4-BE49-F238E27FC236}">
                <a16:creationId xmlns:a16="http://schemas.microsoft.com/office/drawing/2014/main" id="{B94A57F8-18A8-C581-A8A5-E8940EDB3E63}"/>
              </a:ext>
            </a:extLst>
          </p:cNvPr>
          <p:cNvCxnSpPr>
            <a:stCxn id="16" idx="1"/>
            <a:endCxn id="17" idx="3"/>
          </p:cNvCxnSpPr>
          <p:nvPr/>
        </p:nvCxnSpPr>
        <p:spPr>
          <a:xfrm flipH="1" flipV="1">
            <a:off x="5455189" y="6166633"/>
            <a:ext cx="3061099" cy="2230"/>
          </a:xfrm>
          <a:prstGeom prst="straightConnector1">
            <a:avLst/>
          </a:prstGeom>
          <a:ln w="57150">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5202773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barn(inVertical)">
                                      <p:cBhvr>
                                        <p:cTn id="7" dur="500"/>
                                        <p:tgtEl>
                                          <p:spTgt spid="8"/>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childTnLst>
                          </p:cTn>
                        </p:par>
                      </p:childTnLst>
                    </p:cTn>
                  </p:par>
                  <p:par>
                    <p:cTn id="11" fill="hold">
                      <p:stCondLst>
                        <p:cond delay="indefinite"/>
                      </p:stCondLst>
                      <p:childTnLst>
                        <p:par>
                          <p:cTn id="12" fill="hold">
                            <p:stCondLst>
                              <p:cond delay="0"/>
                            </p:stCondLst>
                            <p:childTnLst>
                              <p:par>
                                <p:cTn id="13" presetID="22" presetClass="entr" presetSubtype="4" fill="hold" nodeType="clickEffect">
                                  <p:stCondLst>
                                    <p:cond delay="0"/>
                                  </p:stCondLst>
                                  <p:childTnLst>
                                    <p:set>
                                      <p:cBhvr>
                                        <p:cTn id="14" dur="1" fill="hold">
                                          <p:stCondLst>
                                            <p:cond delay="0"/>
                                          </p:stCondLst>
                                        </p:cTn>
                                        <p:tgtEl>
                                          <p:spTgt spid="19"/>
                                        </p:tgtEl>
                                        <p:attrNameLst>
                                          <p:attrName>style.visibility</p:attrName>
                                        </p:attrNameLst>
                                      </p:cBhvr>
                                      <p:to>
                                        <p:strVal val="visible"/>
                                      </p:to>
                                    </p:set>
                                    <p:animEffect transition="in" filter="wipe(down)">
                                      <p:cBhvr>
                                        <p:cTn id="15" dur="500"/>
                                        <p:tgtEl>
                                          <p:spTgt spid="19"/>
                                        </p:tgtEl>
                                      </p:cBhvr>
                                    </p:animEffect>
                                  </p:childTnLst>
                                </p:cTn>
                              </p:par>
                              <p:par>
                                <p:cTn id="16" presetID="22" presetClass="entr" presetSubtype="4" fill="hold" grpId="0" nodeType="withEffect">
                                  <p:stCondLst>
                                    <p:cond delay="0"/>
                                  </p:stCondLst>
                                  <p:childTnLst>
                                    <p:set>
                                      <p:cBhvr>
                                        <p:cTn id="17" dur="1" fill="hold">
                                          <p:stCondLst>
                                            <p:cond delay="0"/>
                                          </p:stCondLst>
                                        </p:cTn>
                                        <p:tgtEl>
                                          <p:spTgt spid="17"/>
                                        </p:tgtEl>
                                        <p:attrNameLst>
                                          <p:attrName>style.visibility</p:attrName>
                                        </p:attrNameLst>
                                      </p:cBhvr>
                                      <p:to>
                                        <p:strVal val="visible"/>
                                      </p:to>
                                    </p:set>
                                    <p:animEffect transition="in" filter="wipe(down)">
                                      <p:cBhvr>
                                        <p:cTn id="18" dur="500"/>
                                        <p:tgtEl>
                                          <p:spTgt spid="17"/>
                                        </p:tgtEl>
                                      </p:cBhvr>
                                    </p:animEffect>
                                  </p:childTnLst>
                                </p:cTn>
                              </p:par>
                              <p:par>
                                <p:cTn id="19" presetID="22" presetClass="entr" presetSubtype="4" fill="hold" grpId="0" nodeType="with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wipe(down)">
                                      <p:cBhvr>
                                        <p:cTn id="21" dur="500"/>
                                        <p:tgtEl>
                                          <p:spTgt spid="15"/>
                                        </p:tgtEl>
                                      </p:cBhvr>
                                    </p:animEffect>
                                  </p:childTnLst>
                                </p:cTn>
                              </p:par>
                              <p:par>
                                <p:cTn id="22" presetID="22" presetClass="entr" presetSubtype="4" fill="hold" grpId="0" nodeType="withEffect">
                                  <p:stCondLst>
                                    <p:cond delay="0"/>
                                  </p:stCondLst>
                                  <p:childTnLst>
                                    <p:set>
                                      <p:cBhvr>
                                        <p:cTn id="23" dur="1" fill="hold">
                                          <p:stCondLst>
                                            <p:cond delay="0"/>
                                          </p:stCondLst>
                                        </p:cTn>
                                        <p:tgtEl>
                                          <p:spTgt spid="9"/>
                                        </p:tgtEl>
                                        <p:attrNameLst>
                                          <p:attrName>style.visibility</p:attrName>
                                        </p:attrNameLst>
                                      </p:cBhvr>
                                      <p:to>
                                        <p:strVal val="visible"/>
                                      </p:to>
                                    </p:set>
                                    <p:animEffect transition="in" filter="wipe(down)">
                                      <p:cBhvr>
                                        <p:cTn id="24" dur="500"/>
                                        <p:tgtEl>
                                          <p:spTgt spid="9"/>
                                        </p:tgtEl>
                                      </p:cBhvr>
                                    </p:animEffect>
                                  </p:childTnLst>
                                </p:cTn>
                              </p:par>
                              <p:par>
                                <p:cTn id="25" presetID="22" presetClass="entr" presetSubtype="4" fill="hold" grpId="0" nodeType="with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wipe(down)">
                                      <p:cBhvr>
                                        <p:cTn id="27" dur="500"/>
                                        <p:tgtEl>
                                          <p:spTgt spid="10"/>
                                        </p:tgtEl>
                                      </p:cBhvr>
                                    </p:animEffect>
                                  </p:childTnLst>
                                </p:cTn>
                              </p:par>
                              <p:par>
                                <p:cTn id="28" presetID="22" presetClass="entr" presetSubtype="4" fill="hold" grpId="0" nodeType="with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down)">
                                      <p:cBhvr>
                                        <p:cTn id="30" dur="500"/>
                                        <p:tgtEl>
                                          <p:spTgt spid="11"/>
                                        </p:tgtEl>
                                      </p:cBhvr>
                                    </p:animEffect>
                                  </p:childTnLst>
                                </p:cTn>
                              </p:par>
                              <p:par>
                                <p:cTn id="31" presetID="22" presetClass="entr" presetSubtype="4"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wipe(down)">
                                      <p:cBhvr>
                                        <p:cTn id="33" dur="500"/>
                                        <p:tgtEl>
                                          <p:spTgt spid="13"/>
                                        </p:tgtEl>
                                      </p:cBhvr>
                                    </p:animEffect>
                                  </p:childTnLst>
                                </p:cTn>
                              </p:par>
                              <p:par>
                                <p:cTn id="34" presetID="22" presetClass="entr" presetSubtype="4"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wipe(down)">
                                      <p:cBhvr>
                                        <p:cTn id="36"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1" grpId="0" animBg="1"/>
      <p:bldP spid="13" grpId="0" animBg="1"/>
      <p:bldP spid="14" grpId="0" animBg="1"/>
      <p:bldP spid="15" grpId="0" animBg="1"/>
      <p:bldP spid="16" grpId="0"/>
      <p:bldP spid="17"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1D3BEC-32AF-3704-1B61-065674EEEDA3}"/>
              </a:ext>
            </a:extLst>
          </p:cNvPr>
          <p:cNvSpPr>
            <a:spLocks noGrp="1"/>
          </p:cNvSpPr>
          <p:nvPr>
            <p:ph type="title"/>
          </p:nvPr>
        </p:nvSpPr>
        <p:spPr/>
        <p:txBody>
          <a:bodyPr/>
          <a:lstStyle/>
          <a:p>
            <a:r>
              <a:rPr lang="es-AR" dirty="0"/>
              <a:t>Estimación de Parámetros</a:t>
            </a:r>
          </a:p>
        </p:txBody>
      </p:sp>
      <p:sp>
        <p:nvSpPr>
          <p:cNvPr id="3" name="Marcador de contenido 2">
            <a:extLst>
              <a:ext uri="{FF2B5EF4-FFF2-40B4-BE49-F238E27FC236}">
                <a16:creationId xmlns:a16="http://schemas.microsoft.com/office/drawing/2014/main" id="{ACA107F7-3422-F67A-2CA4-237F050FD0A8}"/>
              </a:ext>
            </a:extLst>
          </p:cNvPr>
          <p:cNvSpPr>
            <a:spLocks noGrp="1"/>
          </p:cNvSpPr>
          <p:nvPr>
            <p:ph idx="1"/>
          </p:nvPr>
        </p:nvSpPr>
        <p:spPr/>
        <p:txBody>
          <a:bodyPr>
            <a:normAutofit lnSpcReduction="10000"/>
          </a:bodyPr>
          <a:lstStyle/>
          <a:p>
            <a:r>
              <a:rPr lang="es-AR" dirty="0"/>
              <a:t>Los distintos métodos de estimación (estimadores) permiten estimar los parámetros del modelo, por ejemplo en el caso del estimador ML, minimizando la diferencia entre la matriz de covarianza observada con la matriz de covarianza predicha por el modelo.</a:t>
            </a:r>
          </a:p>
          <a:p>
            <a:endParaRPr lang="es-AR" dirty="0"/>
          </a:p>
          <a:p>
            <a:r>
              <a:rPr lang="es-AR" dirty="0"/>
              <a:t>El segundo paso (2) es evaluar si la matriz de covarianza que implica el modelo de medición especificado (la matriz de covarianza predicha) se corresponde con la matriz de covarianza observada. En otras palabras, evaluar el ajuste de nuestro modelo de medición a los datos. </a:t>
            </a:r>
          </a:p>
        </p:txBody>
      </p:sp>
    </p:spTree>
    <p:extLst>
      <p:ext uri="{BB962C8B-B14F-4D97-AF65-F5344CB8AC3E}">
        <p14:creationId xmlns:p14="http://schemas.microsoft.com/office/powerpoint/2010/main" val="38484084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2" end="2"/>
                                            </p:txEl>
                                          </p:spTgt>
                                        </p:tgtEl>
                                        <p:attrNameLst>
                                          <p:attrName>style.visibility</p:attrName>
                                        </p:attrNameLst>
                                      </p:cBhvr>
                                      <p:to>
                                        <p:strVal val="visible"/>
                                      </p:to>
                                    </p:set>
                                    <p:anim calcmode="lin" valueType="num">
                                      <p:cBhvr additive="base">
                                        <p:cTn id="13"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5B641E5-ACF1-F02A-72EF-89FBB44A767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9D272397-3B09-4A73-A40A-7A6D66FB2820}"/>
              </a:ext>
            </a:extLst>
          </p:cNvPr>
          <p:cNvSpPr>
            <a:spLocks noGrp="1"/>
          </p:cNvSpPr>
          <p:nvPr>
            <p:ph type="title"/>
          </p:nvPr>
        </p:nvSpPr>
        <p:spPr/>
        <p:txBody>
          <a:bodyPr/>
          <a:lstStyle/>
          <a:p>
            <a:r>
              <a:rPr lang="es-AR" noProof="0" dirty="0"/>
              <a:t>Evaluación del Ajuste</a:t>
            </a:r>
          </a:p>
        </p:txBody>
      </p:sp>
      <p:pic>
        <p:nvPicPr>
          <p:cNvPr id="6" name="Imagen 5">
            <a:extLst>
              <a:ext uri="{FF2B5EF4-FFF2-40B4-BE49-F238E27FC236}">
                <a16:creationId xmlns:a16="http://schemas.microsoft.com/office/drawing/2014/main" id="{917EBE16-179B-45E5-4CE4-73D470DEA4A5}"/>
              </a:ext>
            </a:extLst>
          </p:cNvPr>
          <p:cNvPicPr>
            <a:picLocks noChangeAspect="1"/>
          </p:cNvPicPr>
          <p:nvPr/>
        </p:nvPicPr>
        <p:blipFill>
          <a:blip r:embed="rId3"/>
          <a:stretch>
            <a:fillRect/>
          </a:stretch>
        </p:blipFill>
        <p:spPr>
          <a:xfrm>
            <a:off x="80515" y="1961885"/>
            <a:ext cx="6315956" cy="3791479"/>
          </a:xfrm>
          <a:prstGeom prst="rect">
            <a:avLst/>
          </a:prstGeom>
        </p:spPr>
      </p:pic>
      <p:pic>
        <p:nvPicPr>
          <p:cNvPr id="8" name="Imagen 7">
            <a:extLst>
              <a:ext uri="{FF2B5EF4-FFF2-40B4-BE49-F238E27FC236}">
                <a16:creationId xmlns:a16="http://schemas.microsoft.com/office/drawing/2014/main" id="{3F59C100-945D-E5B3-3D59-B8F7C5043EC5}"/>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7154156" y="2243686"/>
            <a:ext cx="4677428" cy="3515216"/>
          </a:xfrm>
          <a:prstGeom prst="rect">
            <a:avLst/>
          </a:prstGeom>
        </p:spPr>
      </p:pic>
      <p:sp>
        <p:nvSpPr>
          <p:cNvPr id="15" name="Flecha: hacia la izquierda 14">
            <a:extLst>
              <a:ext uri="{FF2B5EF4-FFF2-40B4-BE49-F238E27FC236}">
                <a16:creationId xmlns:a16="http://schemas.microsoft.com/office/drawing/2014/main" id="{AF49EB05-905B-E109-BEC9-FEB1A04606DB}"/>
              </a:ext>
            </a:extLst>
          </p:cNvPr>
          <p:cNvSpPr/>
          <p:nvPr/>
        </p:nvSpPr>
        <p:spPr>
          <a:xfrm rot="10800000">
            <a:off x="6396471" y="3629026"/>
            <a:ext cx="757685" cy="685800"/>
          </a:xfrm>
          <a:prstGeom prst="leftArrow">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6" name="CuadroTexto 15">
            <a:extLst>
              <a:ext uri="{FF2B5EF4-FFF2-40B4-BE49-F238E27FC236}">
                <a16:creationId xmlns:a16="http://schemas.microsoft.com/office/drawing/2014/main" id="{23D38E2D-7D1A-79AE-CC9C-9315C993AB81}"/>
              </a:ext>
            </a:extLst>
          </p:cNvPr>
          <p:cNvSpPr txBox="1"/>
          <p:nvPr/>
        </p:nvSpPr>
        <p:spPr>
          <a:xfrm>
            <a:off x="7291890" y="1895773"/>
            <a:ext cx="4401975" cy="461665"/>
          </a:xfrm>
          <a:prstGeom prst="rect">
            <a:avLst/>
          </a:prstGeom>
          <a:noFill/>
        </p:spPr>
        <p:txBody>
          <a:bodyPr wrap="none" rtlCol="0">
            <a:spAutoFit/>
          </a:bodyPr>
          <a:lstStyle/>
          <a:p>
            <a:pPr algn="ctr"/>
            <a:r>
              <a:rPr lang="es-AR" sz="2400" b="1" dirty="0"/>
              <a:t>Matriz de Covarianza Predicha</a:t>
            </a:r>
          </a:p>
        </p:txBody>
      </p:sp>
      <p:sp>
        <p:nvSpPr>
          <p:cNvPr id="18" name="CuadroTexto 17">
            <a:extLst>
              <a:ext uri="{FF2B5EF4-FFF2-40B4-BE49-F238E27FC236}">
                <a16:creationId xmlns:a16="http://schemas.microsoft.com/office/drawing/2014/main" id="{5C7649F1-2021-728B-1457-DB26CBCD9FBF}"/>
              </a:ext>
            </a:extLst>
          </p:cNvPr>
          <p:cNvSpPr txBox="1"/>
          <p:nvPr/>
        </p:nvSpPr>
        <p:spPr>
          <a:xfrm>
            <a:off x="6866716" y="5700166"/>
            <a:ext cx="5244769" cy="830997"/>
          </a:xfrm>
          <a:prstGeom prst="rect">
            <a:avLst/>
          </a:prstGeom>
          <a:noFill/>
        </p:spPr>
        <p:txBody>
          <a:bodyPr wrap="none" rtlCol="0">
            <a:spAutoFit/>
          </a:bodyPr>
          <a:lstStyle/>
          <a:p>
            <a:pPr algn="ctr"/>
            <a:r>
              <a:rPr lang="es-AR" sz="2400" i="1" dirty="0"/>
              <a:t>Asumiendo que la Estructura Factorial</a:t>
            </a:r>
          </a:p>
          <a:p>
            <a:pPr algn="ctr"/>
            <a:r>
              <a:rPr lang="es-AR" sz="2400" i="1" dirty="0"/>
              <a:t>propuesta es correcta</a:t>
            </a:r>
          </a:p>
        </p:txBody>
      </p:sp>
    </p:spTree>
    <p:extLst>
      <p:ext uri="{BB962C8B-B14F-4D97-AF65-F5344CB8AC3E}">
        <p14:creationId xmlns:p14="http://schemas.microsoft.com/office/powerpoint/2010/main" val="21942965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grpId="0" nodeType="clickEffect">
                                  <p:stCondLst>
                                    <p:cond delay="0"/>
                                  </p:stCondLst>
                                  <p:childTnLst>
                                    <p:set>
                                      <p:cBhvr>
                                        <p:cTn id="6" dur="1" fill="hold">
                                          <p:stCondLst>
                                            <p:cond delay="0"/>
                                          </p:stCondLst>
                                        </p:cTn>
                                        <p:tgtEl>
                                          <p:spTgt spid="15"/>
                                        </p:tgtEl>
                                        <p:attrNameLst>
                                          <p:attrName>style.visibility</p:attrName>
                                        </p:attrNameLst>
                                      </p:cBhvr>
                                      <p:to>
                                        <p:strVal val="visible"/>
                                      </p:to>
                                    </p:set>
                                    <p:animEffect transition="in" filter="barn(inVertical)">
                                      <p:cBhvr>
                                        <p:cTn id="7" dur="500"/>
                                        <p:tgtEl>
                                          <p:spTgt spid="15"/>
                                        </p:tgtEl>
                                      </p:cBhvr>
                                    </p:animEffect>
                                  </p:childTnLst>
                                </p:cTn>
                              </p:par>
                              <p:par>
                                <p:cTn id="8" presetID="16" presetClass="entr" presetSubtype="21" fill="hold"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barn(inVertical)">
                                      <p:cBhvr>
                                        <p:cTn id="10" dur="500"/>
                                        <p:tgtEl>
                                          <p:spTgt spid="8"/>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animEffect transition="in" filter="barn(inVertical)">
                                      <p:cBhvr>
                                        <p:cTn id="13" dur="500"/>
                                        <p:tgtEl>
                                          <p:spTgt spid="16"/>
                                        </p:tgtEl>
                                      </p:cBhvr>
                                    </p:animEffect>
                                  </p:childTnLst>
                                </p:cTn>
                              </p:par>
                              <p:par>
                                <p:cTn id="14" presetID="16" presetClass="entr" presetSubtype="21" fill="hold" grpId="0" nodeType="withEffect">
                                  <p:stCondLst>
                                    <p:cond delay="0"/>
                                  </p:stCondLst>
                                  <p:childTnLst>
                                    <p:set>
                                      <p:cBhvr>
                                        <p:cTn id="15" dur="1" fill="hold">
                                          <p:stCondLst>
                                            <p:cond delay="0"/>
                                          </p:stCondLst>
                                        </p:cTn>
                                        <p:tgtEl>
                                          <p:spTgt spid="18"/>
                                        </p:tgtEl>
                                        <p:attrNameLst>
                                          <p:attrName>style.visibility</p:attrName>
                                        </p:attrNameLst>
                                      </p:cBhvr>
                                      <p:to>
                                        <p:strVal val="visible"/>
                                      </p:to>
                                    </p:set>
                                    <p:animEffect transition="in" filter="barn(inVertical)">
                                      <p:cBhvr>
                                        <p:cTn id="16"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16" grpId="0"/>
      <p:bldP spid="18" grpId="0"/>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C0C27C-4F9B-2F39-7395-E56C0FCE9277}"/>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3D0867B8-8223-64CB-8E80-09E22443AFDE}"/>
              </a:ext>
            </a:extLst>
          </p:cNvPr>
          <p:cNvSpPr>
            <a:spLocks noGrp="1"/>
          </p:cNvSpPr>
          <p:nvPr>
            <p:ph type="title"/>
          </p:nvPr>
        </p:nvSpPr>
        <p:spPr/>
        <p:txBody>
          <a:bodyPr/>
          <a:lstStyle/>
          <a:p>
            <a:r>
              <a:rPr lang="es-AR" noProof="0" dirty="0"/>
              <a:t>Evaluación del Ajuste</a:t>
            </a:r>
          </a:p>
        </p:txBody>
      </p:sp>
      <p:pic>
        <p:nvPicPr>
          <p:cNvPr id="8" name="Imagen 7">
            <a:extLst>
              <a:ext uri="{FF2B5EF4-FFF2-40B4-BE49-F238E27FC236}">
                <a16:creationId xmlns:a16="http://schemas.microsoft.com/office/drawing/2014/main" id="{DEF3896F-70EB-F986-DC9B-79F696B5335C}"/>
              </a:ext>
            </a:extLst>
          </p:cNvPr>
          <p:cNvPicPr>
            <a:picLocks noChangeAspect="1"/>
          </p:cNvPicPr>
          <p:nvPr/>
        </p:nvPicPr>
        <p:blipFill>
          <a:blip r:embed="rId3"/>
          <a:stretch>
            <a:fillRect/>
          </a:stretch>
        </p:blipFill>
        <p:spPr>
          <a:xfrm>
            <a:off x="7011286" y="2357985"/>
            <a:ext cx="4677428" cy="3515216"/>
          </a:xfrm>
          <a:prstGeom prst="rect">
            <a:avLst/>
          </a:prstGeom>
        </p:spPr>
      </p:pic>
      <p:sp>
        <p:nvSpPr>
          <p:cNvPr id="15" name="Flecha: hacia la izquierda 14">
            <a:extLst>
              <a:ext uri="{FF2B5EF4-FFF2-40B4-BE49-F238E27FC236}">
                <a16:creationId xmlns:a16="http://schemas.microsoft.com/office/drawing/2014/main" id="{95EB8456-502C-AA61-914D-4EF29526879D}"/>
              </a:ext>
            </a:extLst>
          </p:cNvPr>
          <p:cNvSpPr/>
          <p:nvPr/>
        </p:nvSpPr>
        <p:spPr>
          <a:xfrm rot="10800000">
            <a:off x="5867830" y="3786189"/>
            <a:ext cx="1109680" cy="685800"/>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pic>
        <p:nvPicPr>
          <p:cNvPr id="3" name="Imagen 2">
            <a:extLst>
              <a:ext uri="{FF2B5EF4-FFF2-40B4-BE49-F238E27FC236}">
                <a16:creationId xmlns:a16="http://schemas.microsoft.com/office/drawing/2014/main" id="{3785618D-90D8-BB4F-422F-F197967DBED3}"/>
              </a:ext>
            </a:extLst>
          </p:cNvPr>
          <p:cNvPicPr>
            <a:picLocks noChangeAspect="1"/>
          </p:cNvPicPr>
          <p:nvPr/>
        </p:nvPicPr>
        <p:blipFill>
          <a:blip r:embed="rId4">
            <a:extLst>
              <a:ext uri="{BEBA8EAE-BF5A-486C-A8C5-ECC9F3942E4B}">
                <a14:imgProps xmlns:a14="http://schemas.microsoft.com/office/drawing/2010/main">
                  <a14:imgLayer r:embed="rId5">
                    <a14:imgEffect>
                      <a14:brightnessContrast bright="20000" contrast="-40000"/>
                    </a14:imgEffect>
                  </a14:imgLayer>
                </a14:imgProps>
              </a:ext>
            </a:extLst>
          </a:blip>
          <a:stretch>
            <a:fillRect/>
          </a:stretch>
        </p:blipFill>
        <p:spPr>
          <a:xfrm>
            <a:off x="458138" y="2357985"/>
            <a:ext cx="4677428" cy="3515216"/>
          </a:xfrm>
          <a:prstGeom prst="rect">
            <a:avLst/>
          </a:prstGeom>
        </p:spPr>
      </p:pic>
      <p:sp>
        <p:nvSpPr>
          <p:cNvPr id="4" name="CuadroTexto 3">
            <a:extLst>
              <a:ext uri="{FF2B5EF4-FFF2-40B4-BE49-F238E27FC236}">
                <a16:creationId xmlns:a16="http://schemas.microsoft.com/office/drawing/2014/main" id="{465291C2-98CB-88EE-E834-ABF6A977AEF8}"/>
              </a:ext>
            </a:extLst>
          </p:cNvPr>
          <p:cNvSpPr txBox="1"/>
          <p:nvPr/>
        </p:nvSpPr>
        <p:spPr>
          <a:xfrm>
            <a:off x="7003201" y="2010070"/>
            <a:ext cx="4685513" cy="461665"/>
          </a:xfrm>
          <a:prstGeom prst="rect">
            <a:avLst/>
          </a:prstGeom>
          <a:noFill/>
        </p:spPr>
        <p:txBody>
          <a:bodyPr wrap="none" rtlCol="0">
            <a:spAutoFit/>
          </a:bodyPr>
          <a:lstStyle/>
          <a:p>
            <a:pPr algn="ctr"/>
            <a:r>
              <a:rPr lang="es-AR" sz="2400" b="1" dirty="0"/>
              <a:t>Matriz de Covarianza Observada</a:t>
            </a:r>
          </a:p>
        </p:txBody>
      </p:sp>
      <p:sp>
        <p:nvSpPr>
          <p:cNvPr id="5" name="CuadroTexto 4">
            <a:extLst>
              <a:ext uri="{FF2B5EF4-FFF2-40B4-BE49-F238E27FC236}">
                <a16:creationId xmlns:a16="http://schemas.microsoft.com/office/drawing/2014/main" id="{F0DF7DC6-763C-1CAA-17D0-7C75CF2C6523}"/>
              </a:ext>
            </a:extLst>
          </p:cNvPr>
          <p:cNvSpPr txBox="1"/>
          <p:nvPr/>
        </p:nvSpPr>
        <p:spPr>
          <a:xfrm>
            <a:off x="454086" y="2010071"/>
            <a:ext cx="4401975" cy="461665"/>
          </a:xfrm>
          <a:prstGeom prst="rect">
            <a:avLst/>
          </a:prstGeom>
          <a:noFill/>
        </p:spPr>
        <p:txBody>
          <a:bodyPr wrap="none" rtlCol="0">
            <a:spAutoFit/>
          </a:bodyPr>
          <a:lstStyle/>
          <a:p>
            <a:pPr algn="ctr"/>
            <a:r>
              <a:rPr lang="es-AR" sz="2400" b="1" dirty="0"/>
              <a:t>Matriz de Covarianza Predicha</a:t>
            </a:r>
          </a:p>
        </p:txBody>
      </p:sp>
      <p:sp>
        <p:nvSpPr>
          <p:cNvPr id="7" name="Flecha: hacia la izquierda 6">
            <a:extLst>
              <a:ext uri="{FF2B5EF4-FFF2-40B4-BE49-F238E27FC236}">
                <a16:creationId xmlns:a16="http://schemas.microsoft.com/office/drawing/2014/main" id="{C18C5B28-A609-A975-72BA-66D2B6191071}"/>
              </a:ext>
            </a:extLst>
          </p:cNvPr>
          <p:cNvSpPr/>
          <p:nvPr/>
        </p:nvSpPr>
        <p:spPr>
          <a:xfrm>
            <a:off x="5149703" y="3781421"/>
            <a:ext cx="1056709" cy="685800"/>
          </a:xfrm>
          <a:prstGeom prst="leftArrow">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AR"/>
          </a:p>
        </p:txBody>
      </p:sp>
      <p:sp>
        <p:nvSpPr>
          <p:cNvPr id="12" name="CuadroTexto 11">
            <a:extLst>
              <a:ext uri="{FF2B5EF4-FFF2-40B4-BE49-F238E27FC236}">
                <a16:creationId xmlns:a16="http://schemas.microsoft.com/office/drawing/2014/main" id="{76F08C9B-8611-209F-EDE4-807156087EF8}"/>
              </a:ext>
            </a:extLst>
          </p:cNvPr>
          <p:cNvSpPr txBox="1"/>
          <p:nvPr/>
        </p:nvSpPr>
        <p:spPr>
          <a:xfrm>
            <a:off x="5149703" y="3945503"/>
            <a:ext cx="1827808" cy="369332"/>
          </a:xfrm>
          <a:prstGeom prst="rect">
            <a:avLst/>
          </a:prstGeom>
          <a:noFill/>
        </p:spPr>
        <p:txBody>
          <a:bodyPr wrap="none" rtlCol="0">
            <a:spAutoFit/>
          </a:bodyPr>
          <a:lstStyle/>
          <a:p>
            <a:r>
              <a:rPr lang="es-AR" b="1" dirty="0">
                <a:solidFill>
                  <a:schemeClr val="bg1"/>
                </a:solidFill>
              </a:rPr>
              <a:t>COMPARACIÓN</a:t>
            </a:r>
          </a:p>
        </p:txBody>
      </p:sp>
    </p:spTree>
    <p:extLst>
      <p:ext uri="{BB962C8B-B14F-4D97-AF65-F5344CB8AC3E}">
        <p14:creationId xmlns:p14="http://schemas.microsoft.com/office/powerpoint/2010/main" val="8318347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1000"/>
                                        <p:tgtEl>
                                          <p:spTgt spid="7"/>
                                        </p:tgtEl>
                                      </p:cBhvr>
                                    </p:animEffect>
                                    <p:anim calcmode="lin" valueType="num">
                                      <p:cBhvr>
                                        <p:cTn id="8" dur="1000" fill="hold"/>
                                        <p:tgtEl>
                                          <p:spTgt spid="7"/>
                                        </p:tgtEl>
                                        <p:attrNameLst>
                                          <p:attrName>ppt_x</p:attrName>
                                        </p:attrNameLst>
                                      </p:cBhvr>
                                      <p:tavLst>
                                        <p:tav tm="0">
                                          <p:val>
                                            <p:strVal val="#ppt_x"/>
                                          </p:val>
                                        </p:tav>
                                        <p:tav tm="100000">
                                          <p:val>
                                            <p:strVal val="#ppt_x"/>
                                          </p:val>
                                        </p:tav>
                                      </p:tavLst>
                                    </p:anim>
                                    <p:anim calcmode="lin" valueType="num">
                                      <p:cBhvr>
                                        <p:cTn id="9" dur="1000" fill="hold"/>
                                        <p:tgtEl>
                                          <p:spTgt spid="7"/>
                                        </p:tgtEl>
                                        <p:attrNameLst>
                                          <p:attrName>ppt_y</p:attrName>
                                        </p:attrNameLst>
                                      </p:cBhvr>
                                      <p:tavLst>
                                        <p:tav tm="0">
                                          <p:val>
                                            <p:strVal val="#ppt_y+.1"/>
                                          </p:val>
                                        </p:tav>
                                        <p:tav tm="100000">
                                          <p:val>
                                            <p:strVal val="#ppt_y"/>
                                          </p:val>
                                        </p:tav>
                                      </p:tavLst>
                                    </p:anim>
                                  </p:childTnLst>
                                </p:cTn>
                              </p:par>
                              <p:par>
                                <p:cTn id="10" presetID="42" presetClass="entr" presetSubtype="0" fill="hold" grpId="0" nodeType="withEffect">
                                  <p:stCondLst>
                                    <p:cond delay="0"/>
                                  </p:stCondLst>
                                  <p:childTnLst>
                                    <p:set>
                                      <p:cBhvr>
                                        <p:cTn id="11" dur="1" fill="hold">
                                          <p:stCondLst>
                                            <p:cond delay="0"/>
                                          </p:stCondLst>
                                        </p:cTn>
                                        <p:tgtEl>
                                          <p:spTgt spid="12"/>
                                        </p:tgtEl>
                                        <p:attrNameLst>
                                          <p:attrName>style.visibility</p:attrName>
                                        </p:attrNameLst>
                                      </p:cBhvr>
                                      <p:to>
                                        <p:strVal val="visible"/>
                                      </p:to>
                                    </p:set>
                                    <p:animEffect transition="in" filter="fade">
                                      <p:cBhvr>
                                        <p:cTn id="12" dur="1000"/>
                                        <p:tgtEl>
                                          <p:spTgt spid="12"/>
                                        </p:tgtEl>
                                      </p:cBhvr>
                                    </p:animEffect>
                                    <p:anim calcmode="lin" valueType="num">
                                      <p:cBhvr>
                                        <p:cTn id="13" dur="1000" fill="hold"/>
                                        <p:tgtEl>
                                          <p:spTgt spid="12"/>
                                        </p:tgtEl>
                                        <p:attrNameLst>
                                          <p:attrName>ppt_x</p:attrName>
                                        </p:attrNameLst>
                                      </p:cBhvr>
                                      <p:tavLst>
                                        <p:tav tm="0">
                                          <p:val>
                                            <p:strVal val="#ppt_x"/>
                                          </p:val>
                                        </p:tav>
                                        <p:tav tm="100000">
                                          <p:val>
                                            <p:strVal val="#ppt_x"/>
                                          </p:val>
                                        </p:tav>
                                      </p:tavLst>
                                    </p:anim>
                                    <p:anim calcmode="lin" valueType="num">
                                      <p:cBhvr>
                                        <p:cTn id="14" dur="1000" fill="hold"/>
                                        <p:tgtEl>
                                          <p:spTgt spid="12"/>
                                        </p:tgtEl>
                                        <p:attrNameLst>
                                          <p:attrName>ppt_y</p:attrName>
                                        </p:attrNameLst>
                                      </p:cBhvr>
                                      <p:tavLst>
                                        <p:tav tm="0">
                                          <p:val>
                                            <p:strVal val="#ppt_y+.1"/>
                                          </p:val>
                                        </p:tav>
                                        <p:tav tm="100000">
                                          <p:val>
                                            <p:strVal val="#ppt_y"/>
                                          </p:val>
                                        </p:tav>
                                      </p:tavLst>
                                    </p:anim>
                                  </p:childTnLst>
                                </p:cTn>
                              </p:par>
                              <p:par>
                                <p:cTn id="15" presetID="42" presetClass="entr" presetSubtype="0" fill="hold" grpId="0" nodeType="withEffect">
                                  <p:stCondLst>
                                    <p:cond delay="0"/>
                                  </p:stCondLst>
                                  <p:childTnLst>
                                    <p:set>
                                      <p:cBhvr>
                                        <p:cTn id="16" dur="1" fill="hold">
                                          <p:stCondLst>
                                            <p:cond delay="0"/>
                                          </p:stCondLst>
                                        </p:cTn>
                                        <p:tgtEl>
                                          <p:spTgt spid="15"/>
                                        </p:tgtEl>
                                        <p:attrNameLst>
                                          <p:attrName>style.visibility</p:attrName>
                                        </p:attrNameLst>
                                      </p:cBhvr>
                                      <p:to>
                                        <p:strVal val="visible"/>
                                      </p:to>
                                    </p:set>
                                    <p:animEffect transition="in" filter="fade">
                                      <p:cBhvr>
                                        <p:cTn id="17" dur="1000"/>
                                        <p:tgtEl>
                                          <p:spTgt spid="15"/>
                                        </p:tgtEl>
                                      </p:cBhvr>
                                    </p:animEffect>
                                    <p:anim calcmode="lin" valueType="num">
                                      <p:cBhvr>
                                        <p:cTn id="18" dur="1000" fill="hold"/>
                                        <p:tgtEl>
                                          <p:spTgt spid="15"/>
                                        </p:tgtEl>
                                        <p:attrNameLst>
                                          <p:attrName>ppt_x</p:attrName>
                                        </p:attrNameLst>
                                      </p:cBhvr>
                                      <p:tavLst>
                                        <p:tav tm="0">
                                          <p:val>
                                            <p:strVal val="#ppt_x"/>
                                          </p:val>
                                        </p:tav>
                                        <p:tav tm="100000">
                                          <p:val>
                                            <p:strVal val="#ppt_x"/>
                                          </p:val>
                                        </p:tav>
                                      </p:tavLst>
                                    </p:anim>
                                    <p:anim calcmode="lin" valueType="num">
                                      <p:cBhvr>
                                        <p:cTn id="19" dur="1000" fill="hold"/>
                                        <p:tgtEl>
                                          <p:spTgt spid="15"/>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animBg="1"/>
      <p:bldP spid="7" grpId="0" animBg="1"/>
      <p:bldP spid="12"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6F4AF10-0224-096A-0C7C-403F18D2D896}"/>
              </a:ext>
            </a:extLst>
          </p:cNvPr>
          <p:cNvSpPr>
            <a:spLocks noGrp="1"/>
          </p:cNvSpPr>
          <p:nvPr>
            <p:ph type="title"/>
          </p:nvPr>
        </p:nvSpPr>
        <p:spPr/>
        <p:txBody>
          <a:bodyPr/>
          <a:lstStyle/>
          <a:p>
            <a:r>
              <a:rPr lang="es-AR" dirty="0"/>
              <a:t>Evaluación del Ajuste</a:t>
            </a:r>
          </a:p>
        </p:txBody>
      </p:sp>
      <p:sp>
        <p:nvSpPr>
          <p:cNvPr id="3" name="Marcador de contenido 2">
            <a:extLst>
              <a:ext uri="{FF2B5EF4-FFF2-40B4-BE49-F238E27FC236}">
                <a16:creationId xmlns:a16="http://schemas.microsoft.com/office/drawing/2014/main" id="{8D5315CE-BE36-7208-32D4-FC37D108BDD2}"/>
              </a:ext>
            </a:extLst>
          </p:cNvPr>
          <p:cNvSpPr>
            <a:spLocks noGrp="1"/>
          </p:cNvSpPr>
          <p:nvPr>
            <p:ph idx="1"/>
          </p:nvPr>
        </p:nvSpPr>
        <p:spPr>
          <a:xfrm>
            <a:off x="838200" y="1825624"/>
            <a:ext cx="5000180" cy="5032375"/>
          </a:xfrm>
        </p:spPr>
        <p:txBody>
          <a:bodyPr>
            <a:normAutofit fontScale="85000" lnSpcReduction="20000"/>
          </a:bodyPr>
          <a:lstStyle/>
          <a:p>
            <a:r>
              <a:rPr lang="es-AR" dirty="0"/>
              <a:t>Si se observa  una correspondencia fuerte entre las matrices de covarianza observada y predicha, entonces hay evidencia de que la estructura factorial propuesta es una explicación plausible de la relación entre los ítems.</a:t>
            </a:r>
          </a:p>
          <a:p>
            <a:r>
              <a:rPr lang="es-AR" dirty="0"/>
              <a:t>Por ejemplo, la reducción de la dimensionalidad en dos factores que contemplan la comunalidad de un conjunto diverso de ítems es adecuada. </a:t>
            </a:r>
          </a:p>
          <a:p>
            <a:r>
              <a:rPr lang="es-AR" dirty="0"/>
              <a:t>En términos de la validación de constructo diríamos que los puntajes de la escala pueden representar el constructo objeto de estudio.</a:t>
            </a:r>
          </a:p>
          <a:p>
            <a:endParaRPr lang="es-AR" dirty="0"/>
          </a:p>
        </p:txBody>
      </p:sp>
      <p:pic>
        <p:nvPicPr>
          <p:cNvPr id="5" name="Imagen 4">
            <a:extLst>
              <a:ext uri="{FF2B5EF4-FFF2-40B4-BE49-F238E27FC236}">
                <a16:creationId xmlns:a16="http://schemas.microsoft.com/office/drawing/2014/main" id="{41AEBA0C-1870-2BCD-68F9-571F92504E6C}"/>
              </a:ext>
            </a:extLst>
          </p:cNvPr>
          <p:cNvPicPr>
            <a:picLocks noChangeAspect="1"/>
          </p:cNvPicPr>
          <p:nvPr/>
        </p:nvPicPr>
        <p:blipFill>
          <a:blip r:embed="rId3"/>
          <a:stretch>
            <a:fillRect/>
          </a:stretch>
        </p:blipFill>
        <p:spPr>
          <a:xfrm>
            <a:off x="5838380" y="1961885"/>
            <a:ext cx="6315956" cy="3791479"/>
          </a:xfrm>
          <a:prstGeom prst="rect">
            <a:avLst/>
          </a:prstGeom>
        </p:spPr>
      </p:pic>
    </p:spTree>
    <p:extLst>
      <p:ext uri="{BB962C8B-B14F-4D97-AF65-F5344CB8AC3E}">
        <p14:creationId xmlns:p14="http://schemas.microsoft.com/office/powerpoint/2010/main" val="353899221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039324B-93D3-63F3-2A8D-40FE7E340230}"/>
              </a:ext>
            </a:extLst>
          </p:cNvPr>
          <p:cNvSpPr>
            <a:spLocks noGrp="1"/>
          </p:cNvSpPr>
          <p:nvPr>
            <p:ph type="title"/>
          </p:nvPr>
        </p:nvSpPr>
        <p:spPr/>
        <p:txBody>
          <a:bodyPr/>
          <a:lstStyle/>
          <a:p>
            <a:r>
              <a:rPr lang="es-AR" dirty="0"/>
              <a:t>Evaluación del Ajuste: ¿En qué medida las dos matrices se corresponden?</a:t>
            </a:r>
          </a:p>
        </p:txBody>
      </p:sp>
      <p:sp>
        <p:nvSpPr>
          <p:cNvPr id="3" name="Marcador de contenido 2">
            <a:extLst>
              <a:ext uri="{FF2B5EF4-FFF2-40B4-BE49-F238E27FC236}">
                <a16:creationId xmlns:a16="http://schemas.microsoft.com/office/drawing/2014/main" id="{5092F13F-779A-B727-BB56-E43CA4B4FA66}"/>
              </a:ext>
            </a:extLst>
          </p:cNvPr>
          <p:cNvSpPr>
            <a:spLocks noGrp="1"/>
          </p:cNvSpPr>
          <p:nvPr>
            <p:ph idx="1"/>
          </p:nvPr>
        </p:nvSpPr>
        <p:spPr/>
        <p:txBody>
          <a:bodyPr/>
          <a:lstStyle/>
          <a:p>
            <a:endParaRPr lang="es-AR" dirty="0"/>
          </a:p>
        </p:txBody>
      </p:sp>
      <p:pic>
        <p:nvPicPr>
          <p:cNvPr id="4" name="Imagen 3">
            <a:extLst>
              <a:ext uri="{FF2B5EF4-FFF2-40B4-BE49-F238E27FC236}">
                <a16:creationId xmlns:a16="http://schemas.microsoft.com/office/drawing/2014/main" id="{DD733DFF-DE06-503B-FF90-2E39E105D489}"/>
              </a:ext>
            </a:extLst>
          </p:cNvPr>
          <p:cNvPicPr>
            <a:picLocks noChangeAspect="1"/>
          </p:cNvPicPr>
          <p:nvPr/>
        </p:nvPicPr>
        <p:blipFill>
          <a:blip r:embed="rId2"/>
          <a:stretch>
            <a:fillRect/>
          </a:stretch>
        </p:blipFill>
        <p:spPr>
          <a:xfrm>
            <a:off x="3938286" y="2519950"/>
            <a:ext cx="4315427" cy="2962688"/>
          </a:xfrm>
          <a:prstGeom prst="rect">
            <a:avLst/>
          </a:prstGeom>
        </p:spPr>
      </p:pic>
    </p:spTree>
    <p:extLst>
      <p:ext uri="{BB962C8B-B14F-4D97-AF65-F5344CB8AC3E}">
        <p14:creationId xmlns:p14="http://schemas.microsoft.com/office/powerpoint/2010/main" val="1518742594"/>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AE63031-86CF-1E44-1022-F7C2284F4154}"/>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F19F3EF8-D6A4-047F-DAC5-91FAC4589319}"/>
              </a:ext>
            </a:extLst>
          </p:cNvPr>
          <p:cNvSpPr>
            <a:spLocks noGrp="1"/>
          </p:cNvSpPr>
          <p:nvPr>
            <p:ph idx="1"/>
          </p:nvPr>
        </p:nvSpPr>
        <p:spPr/>
        <p:txBody>
          <a:bodyPr/>
          <a:lstStyle/>
          <a:p>
            <a:endParaRPr lang="es-AR" dirty="0"/>
          </a:p>
        </p:txBody>
      </p:sp>
      <p:pic>
        <p:nvPicPr>
          <p:cNvPr id="5" name="Imagen 4">
            <a:extLst>
              <a:ext uri="{FF2B5EF4-FFF2-40B4-BE49-F238E27FC236}">
                <a16:creationId xmlns:a16="http://schemas.microsoft.com/office/drawing/2014/main" id="{E59DE823-BD70-830C-30F4-5650A77440C0}"/>
              </a:ext>
            </a:extLst>
          </p:cNvPr>
          <p:cNvPicPr>
            <a:picLocks noChangeAspect="1"/>
          </p:cNvPicPr>
          <p:nvPr/>
        </p:nvPicPr>
        <p:blipFill>
          <a:blip r:embed="rId2"/>
          <a:stretch>
            <a:fillRect/>
          </a:stretch>
        </p:blipFill>
        <p:spPr>
          <a:xfrm>
            <a:off x="1337961" y="2219912"/>
            <a:ext cx="4315427" cy="2962688"/>
          </a:xfrm>
          <a:prstGeom prst="rect">
            <a:avLst/>
          </a:prstGeom>
        </p:spPr>
      </p:pic>
      <p:pic>
        <p:nvPicPr>
          <p:cNvPr id="7" name="Imagen 6">
            <a:extLst>
              <a:ext uri="{FF2B5EF4-FFF2-40B4-BE49-F238E27FC236}">
                <a16:creationId xmlns:a16="http://schemas.microsoft.com/office/drawing/2014/main" id="{C38369AF-EA32-6622-AE62-BAF85AA7E6A6}"/>
              </a:ext>
            </a:extLst>
          </p:cNvPr>
          <p:cNvPicPr>
            <a:picLocks noChangeAspect="1"/>
          </p:cNvPicPr>
          <p:nvPr/>
        </p:nvPicPr>
        <p:blipFill>
          <a:blip r:embed="rId3"/>
          <a:stretch>
            <a:fillRect/>
          </a:stretch>
        </p:blipFill>
        <p:spPr>
          <a:xfrm>
            <a:off x="7393758" y="3015360"/>
            <a:ext cx="2476846" cy="1371791"/>
          </a:xfrm>
          <a:prstGeom prst="rect">
            <a:avLst/>
          </a:prstGeom>
        </p:spPr>
      </p:pic>
    </p:spTree>
    <p:extLst>
      <p:ext uri="{BB962C8B-B14F-4D97-AF65-F5344CB8AC3E}">
        <p14:creationId xmlns:p14="http://schemas.microsoft.com/office/powerpoint/2010/main" val="185582872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71216-2ECF-B210-E59F-B7136397C30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28726342-3FE1-C79A-C6A9-693E11FC7052}"/>
              </a:ext>
            </a:extLst>
          </p:cNvPr>
          <p:cNvSpPr>
            <a:spLocks noGrp="1"/>
          </p:cNvSpPr>
          <p:nvPr>
            <p:ph type="title"/>
          </p:nvPr>
        </p:nvSpPr>
        <p:spPr/>
        <p:txBody>
          <a:bodyPr/>
          <a:lstStyle/>
          <a:p>
            <a:endParaRPr lang="es-AR"/>
          </a:p>
        </p:txBody>
      </p:sp>
      <p:sp>
        <p:nvSpPr>
          <p:cNvPr id="3" name="Marcador de contenido 2">
            <a:extLst>
              <a:ext uri="{FF2B5EF4-FFF2-40B4-BE49-F238E27FC236}">
                <a16:creationId xmlns:a16="http://schemas.microsoft.com/office/drawing/2014/main" id="{648002FD-4E87-999D-BAF9-7F6F8D816F28}"/>
              </a:ext>
            </a:extLst>
          </p:cNvPr>
          <p:cNvSpPr>
            <a:spLocks noGrp="1"/>
          </p:cNvSpPr>
          <p:nvPr>
            <p:ph idx="1"/>
          </p:nvPr>
        </p:nvSpPr>
        <p:spPr/>
        <p:txBody>
          <a:bodyPr/>
          <a:lstStyle/>
          <a:p>
            <a:endParaRPr lang="es-AR" dirty="0"/>
          </a:p>
        </p:txBody>
      </p:sp>
      <p:pic>
        <p:nvPicPr>
          <p:cNvPr id="5" name="Imagen 4">
            <a:extLst>
              <a:ext uri="{FF2B5EF4-FFF2-40B4-BE49-F238E27FC236}">
                <a16:creationId xmlns:a16="http://schemas.microsoft.com/office/drawing/2014/main" id="{0B6D5700-C3F8-23AD-94A3-64656CD69457}"/>
              </a:ext>
            </a:extLst>
          </p:cNvPr>
          <p:cNvPicPr>
            <a:picLocks noChangeAspect="1"/>
          </p:cNvPicPr>
          <p:nvPr/>
        </p:nvPicPr>
        <p:blipFill>
          <a:blip r:embed="rId2"/>
          <a:stretch>
            <a:fillRect/>
          </a:stretch>
        </p:blipFill>
        <p:spPr>
          <a:xfrm>
            <a:off x="1337961" y="2219912"/>
            <a:ext cx="4315427" cy="2962688"/>
          </a:xfrm>
          <a:prstGeom prst="rect">
            <a:avLst/>
          </a:prstGeom>
        </p:spPr>
      </p:pic>
      <p:pic>
        <p:nvPicPr>
          <p:cNvPr id="7" name="Imagen 6">
            <a:extLst>
              <a:ext uri="{FF2B5EF4-FFF2-40B4-BE49-F238E27FC236}">
                <a16:creationId xmlns:a16="http://schemas.microsoft.com/office/drawing/2014/main" id="{17A36A76-272E-BDC3-BC19-3E58D5CDEDD3}"/>
              </a:ext>
            </a:extLst>
          </p:cNvPr>
          <p:cNvPicPr>
            <a:picLocks noChangeAspect="1"/>
          </p:cNvPicPr>
          <p:nvPr/>
        </p:nvPicPr>
        <p:blipFill>
          <a:blip r:embed="rId3"/>
          <a:stretch>
            <a:fillRect/>
          </a:stretch>
        </p:blipFill>
        <p:spPr>
          <a:xfrm>
            <a:off x="7393758" y="2200969"/>
            <a:ext cx="2476846" cy="1371791"/>
          </a:xfrm>
          <a:prstGeom prst="rect">
            <a:avLst/>
          </a:prstGeom>
        </p:spPr>
      </p:pic>
      <p:pic>
        <p:nvPicPr>
          <p:cNvPr id="6" name="Imagen 5">
            <a:extLst>
              <a:ext uri="{FF2B5EF4-FFF2-40B4-BE49-F238E27FC236}">
                <a16:creationId xmlns:a16="http://schemas.microsoft.com/office/drawing/2014/main" id="{B5448B37-E974-D839-9DD7-BEFC0E4FB302}"/>
              </a:ext>
            </a:extLst>
          </p:cNvPr>
          <p:cNvPicPr>
            <a:picLocks noChangeAspect="1"/>
          </p:cNvPicPr>
          <p:nvPr/>
        </p:nvPicPr>
        <p:blipFill>
          <a:blip r:embed="rId4"/>
          <a:stretch>
            <a:fillRect/>
          </a:stretch>
        </p:blipFill>
        <p:spPr>
          <a:xfrm>
            <a:off x="7117494" y="3653165"/>
            <a:ext cx="3029373" cy="1629002"/>
          </a:xfrm>
          <a:prstGeom prst="rect">
            <a:avLst/>
          </a:prstGeom>
        </p:spPr>
      </p:pic>
    </p:spTree>
    <p:extLst>
      <p:ext uri="{BB962C8B-B14F-4D97-AF65-F5344CB8AC3E}">
        <p14:creationId xmlns:p14="http://schemas.microsoft.com/office/powerpoint/2010/main" val="280088949"/>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4FEACF-E505-8317-99ED-F1B07D9DDD3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4C35F69A-B9AB-BD83-2932-4325F4E61CED}"/>
              </a:ext>
            </a:extLst>
          </p:cNvPr>
          <p:cNvSpPr>
            <a:spLocks noGrp="1"/>
          </p:cNvSpPr>
          <p:nvPr>
            <p:ph type="title"/>
          </p:nvPr>
        </p:nvSpPr>
        <p:spPr/>
        <p:txBody>
          <a:bodyPr>
            <a:normAutofit/>
          </a:bodyPr>
          <a:lstStyle/>
          <a:p>
            <a:r>
              <a:rPr lang="es-AR" dirty="0"/>
              <a:t>Matriz de Discrepancia</a:t>
            </a:r>
          </a:p>
        </p:txBody>
      </p:sp>
      <p:sp>
        <p:nvSpPr>
          <p:cNvPr id="3" name="Marcador de contenido 2">
            <a:extLst>
              <a:ext uri="{FF2B5EF4-FFF2-40B4-BE49-F238E27FC236}">
                <a16:creationId xmlns:a16="http://schemas.microsoft.com/office/drawing/2014/main" id="{ADD9CEFC-06F2-A10A-E3F5-F552B35C82D7}"/>
              </a:ext>
            </a:extLst>
          </p:cNvPr>
          <p:cNvSpPr>
            <a:spLocks noGrp="1"/>
          </p:cNvSpPr>
          <p:nvPr>
            <p:ph idx="1"/>
          </p:nvPr>
        </p:nvSpPr>
        <p:spPr>
          <a:xfrm>
            <a:off x="6743700" y="1825625"/>
            <a:ext cx="4610100" cy="4351338"/>
          </a:xfrm>
        </p:spPr>
        <p:txBody>
          <a:bodyPr/>
          <a:lstStyle/>
          <a:p>
            <a:endParaRPr lang="es-AR" dirty="0"/>
          </a:p>
          <a:p>
            <a:r>
              <a:rPr lang="es-AR" dirty="0"/>
              <a:t>Grado de Correspondencia entre las Matrices (Ajuste dato-modelo)</a:t>
            </a:r>
          </a:p>
        </p:txBody>
      </p:sp>
      <p:pic>
        <p:nvPicPr>
          <p:cNvPr id="5" name="Imagen 4">
            <a:extLst>
              <a:ext uri="{FF2B5EF4-FFF2-40B4-BE49-F238E27FC236}">
                <a16:creationId xmlns:a16="http://schemas.microsoft.com/office/drawing/2014/main" id="{7D69ADBC-7B67-53EC-4F7A-DF91BC22B376}"/>
              </a:ext>
            </a:extLst>
          </p:cNvPr>
          <p:cNvPicPr>
            <a:picLocks noChangeAspect="1"/>
          </p:cNvPicPr>
          <p:nvPr/>
        </p:nvPicPr>
        <p:blipFill>
          <a:blip r:embed="rId3"/>
          <a:stretch>
            <a:fillRect/>
          </a:stretch>
        </p:blipFill>
        <p:spPr>
          <a:xfrm>
            <a:off x="1895158" y="1785326"/>
            <a:ext cx="4315427" cy="2962688"/>
          </a:xfrm>
          <a:prstGeom prst="rect">
            <a:avLst/>
          </a:prstGeom>
        </p:spPr>
      </p:pic>
      <p:pic>
        <p:nvPicPr>
          <p:cNvPr id="8" name="Imagen 7">
            <a:extLst>
              <a:ext uri="{FF2B5EF4-FFF2-40B4-BE49-F238E27FC236}">
                <a16:creationId xmlns:a16="http://schemas.microsoft.com/office/drawing/2014/main" id="{1705E0C3-C293-7C4F-C3A2-D2DC3F36C384}"/>
              </a:ext>
            </a:extLst>
          </p:cNvPr>
          <p:cNvPicPr>
            <a:picLocks noChangeAspect="1"/>
          </p:cNvPicPr>
          <p:nvPr/>
        </p:nvPicPr>
        <p:blipFill>
          <a:blip r:embed="rId4"/>
          <a:stretch>
            <a:fillRect/>
          </a:stretch>
        </p:blipFill>
        <p:spPr>
          <a:xfrm>
            <a:off x="8944" y="4842652"/>
            <a:ext cx="8087854" cy="1428949"/>
          </a:xfrm>
          <a:prstGeom prst="rect">
            <a:avLst/>
          </a:prstGeom>
        </p:spPr>
      </p:pic>
      <p:cxnSp>
        <p:nvCxnSpPr>
          <p:cNvPr id="10" name="Conector: angular 9">
            <a:extLst>
              <a:ext uri="{FF2B5EF4-FFF2-40B4-BE49-F238E27FC236}">
                <a16:creationId xmlns:a16="http://schemas.microsoft.com/office/drawing/2014/main" id="{B5720AE1-C9E6-4F73-1028-176C316AA705}"/>
              </a:ext>
            </a:extLst>
          </p:cNvPr>
          <p:cNvCxnSpPr>
            <a:stCxn id="8" idx="3"/>
          </p:cNvCxnSpPr>
          <p:nvPr/>
        </p:nvCxnSpPr>
        <p:spPr>
          <a:xfrm flipV="1">
            <a:off x="8096798" y="3786188"/>
            <a:ext cx="1075777" cy="1770939"/>
          </a:xfrm>
          <a:prstGeom prst="bentConnector2">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0723311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barn(inVertical)">
                                      <p:cBhvr>
                                        <p:cTn id="7" dur="500"/>
                                        <p:tgtEl>
                                          <p:spTgt spid="10"/>
                                        </p:tgtEl>
                                      </p:cBhvr>
                                    </p:animEffect>
                                  </p:childTnLst>
                                </p:cTn>
                              </p:par>
                              <p:par>
                                <p:cTn id="8" presetID="16" presetClass="entr" presetSubtype="21" fill="hold" grpId="0" nodeType="withEffect">
                                  <p:stCondLst>
                                    <p:cond delay="0"/>
                                  </p:stCondLst>
                                  <p:childTnLst>
                                    <p:set>
                                      <p:cBhvr>
                                        <p:cTn id="9" dur="1" fill="hold">
                                          <p:stCondLst>
                                            <p:cond delay="0"/>
                                          </p:stCondLst>
                                        </p:cTn>
                                        <p:tgtEl>
                                          <p:spTgt spid="3">
                                            <p:txEl>
                                              <p:pRg st="1" end="1"/>
                                            </p:txEl>
                                          </p:spTgt>
                                        </p:tgtEl>
                                        <p:attrNameLst>
                                          <p:attrName>style.visibility</p:attrName>
                                        </p:attrNameLst>
                                      </p:cBhvr>
                                      <p:to>
                                        <p:strVal val="visible"/>
                                      </p:to>
                                    </p:set>
                                    <p:animEffect transition="in" filter="barn(inVertical)">
                                      <p:cBhvr>
                                        <p:cTn id="10" dur="5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82F861-A188-D10E-9033-172FDF0CCE8A}"/>
              </a:ext>
            </a:extLst>
          </p:cNvPr>
          <p:cNvSpPr>
            <a:spLocks noGrp="1"/>
          </p:cNvSpPr>
          <p:nvPr>
            <p:ph type="title"/>
          </p:nvPr>
        </p:nvSpPr>
        <p:spPr/>
        <p:txBody>
          <a:bodyPr/>
          <a:lstStyle/>
          <a:p>
            <a:r>
              <a:rPr lang="es-AR" dirty="0"/>
              <a:t>Evaluación del Ajuste: ¿En qué medida las dos matrices se corresponden?</a:t>
            </a:r>
          </a:p>
        </p:txBody>
      </p:sp>
      <p:sp>
        <p:nvSpPr>
          <p:cNvPr id="3" name="Marcador de contenido 2">
            <a:extLst>
              <a:ext uri="{FF2B5EF4-FFF2-40B4-BE49-F238E27FC236}">
                <a16:creationId xmlns:a16="http://schemas.microsoft.com/office/drawing/2014/main" id="{7E840548-ACE4-697D-DE2B-02252B09F53D}"/>
              </a:ext>
            </a:extLst>
          </p:cNvPr>
          <p:cNvSpPr>
            <a:spLocks noGrp="1"/>
          </p:cNvSpPr>
          <p:nvPr>
            <p:ph idx="1"/>
          </p:nvPr>
        </p:nvSpPr>
        <p:spPr/>
        <p:txBody>
          <a:bodyPr/>
          <a:lstStyle/>
          <a:p>
            <a:r>
              <a:rPr lang="es-AR" dirty="0"/>
              <a:t>Al interpretar el ajuste (Matiz de Discrepancia) el desafío está en determinar cuán fuerte tiene que ser la correspondencia entre la matriz inter-ítem de covarianza observada y la matriz inter-ítem de covarianza predicha según el modelo especificado para poder concluir de que “las matrices son lo suficientemente similares”.</a:t>
            </a:r>
          </a:p>
          <a:p>
            <a:r>
              <a:rPr lang="es-AR" dirty="0"/>
              <a:t>Surgen así las distintas formalizaciones matemáticas para dar cuenta del grado de correspondencia (el ajuste).  </a:t>
            </a:r>
          </a:p>
        </p:txBody>
      </p:sp>
    </p:spTree>
    <p:extLst>
      <p:ext uri="{BB962C8B-B14F-4D97-AF65-F5344CB8AC3E}">
        <p14:creationId xmlns:p14="http://schemas.microsoft.com/office/powerpoint/2010/main" val="339674370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22FE4C6-42CB-28C2-5CBD-4AC6876AD7FF}"/>
              </a:ext>
            </a:extLst>
          </p:cNvPr>
          <p:cNvSpPr>
            <a:spLocks noGrp="1"/>
          </p:cNvSpPr>
          <p:nvPr>
            <p:ph type="title"/>
          </p:nvPr>
        </p:nvSpPr>
        <p:spPr/>
        <p:txBody>
          <a:bodyPr/>
          <a:lstStyle/>
          <a:p>
            <a:r>
              <a:rPr lang="es-AR" dirty="0"/>
              <a:t>Ajuste Exacto (</a:t>
            </a:r>
            <a:r>
              <a:rPr lang="es-AR" dirty="0" err="1"/>
              <a:t>Exact</a:t>
            </a:r>
            <a:r>
              <a:rPr lang="es-AR" dirty="0"/>
              <a:t> </a:t>
            </a:r>
            <a:r>
              <a:rPr lang="es-AR" dirty="0" err="1"/>
              <a:t>Fit</a:t>
            </a:r>
            <a:r>
              <a:rPr lang="es-AR" dirty="0"/>
              <a:t>)</a:t>
            </a:r>
          </a:p>
        </p:txBody>
      </p:sp>
      <p:sp>
        <p:nvSpPr>
          <p:cNvPr id="3" name="Marcador de contenido 2">
            <a:extLst>
              <a:ext uri="{FF2B5EF4-FFF2-40B4-BE49-F238E27FC236}">
                <a16:creationId xmlns:a16="http://schemas.microsoft.com/office/drawing/2014/main" id="{237746C4-5D8E-DCF8-7017-AAD6179B9CE7}"/>
              </a:ext>
            </a:extLst>
          </p:cNvPr>
          <p:cNvSpPr>
            <a:spLocks noGrp="1"/>
          </p:cNvSpPr>
          <p:nvPr>
            <p:ph idx="1"/>
          </p:nvPr>
        </p:nvSpPr>
        <p:spPr>
          <a:xfrm>
            <a:off x="838200" y="1825625"/>
            <a:ext cx="10515600" cy="4667250"/>
          </a:xfrm>
        </p:spPr>
        <p:txBody>
          <a:bodyPr>
            <a:normAutofit fontScale="92500"/>
          </a:bodyPr>
          <a:lstStyle/>
          <a:p>
            <a:r>
              <a:rPr lang="es-AR" dirty="0"/>
              <a:t>Comparación de la matriz observada y predicha desde el marco de la hipótesis nula (prueba de hipótesis).</a:t>
            </a:r>
          </a:p>
          <a:p>
            <a:r>
              <a:rPr lang="es-AR" dirty="0"/>
              <a:t>La hipótesis nula establece que ambas matrices son (exactamente)iguales. </a:t>
            </a:r>
          </a:p>
          <a:p>
            <a:r>
              <a:rPr lang="es-AR" dirty="0"/>
              <a:t>Prueba de razón de verosimilitud: </a:t>
            </a:r>
            <a:r>
              <a:rPr lang="el-GR" dirty="0"/>
              <a:t>“χ2 </a:t>
            </a:r>
            <a:r>
              <a:rPr lang="es-AR" dirty="0"/>
              <a:t>test”. </a:t>
            </a:r>
          </a:p>
          <a:p>
            <a:r>
              <a:rPr lang="es-AR" dirty="0"/>
              <a:t>Con un resultado estadísticamente significativo se rechaza la hipótesis nula de “no diferencia entre las matrices”, por lo que se concluye que las matrices (observada vs predicha) no son (exactamente)iguales.   </a:t>
            </a:r>
          </a:p>
          <a:p>
            <a:r>
              <a:rPr lang="es-AR" dirty="0"/>
              <a:t>Enfocado en detectar si la discrepancia entre las matrices es igual a 0: ¿las matrices difieren? No se preocupa en la magnitud de esta discrepancia.</a:t>
            </a:r>
          </a:p>
        </p:txBody>
      </p:sp>
    </p:spTree>
    <p:extLst>
      <p:ext uri="{BB962C8B-B14F-4D97-AF65-F5344CB8AC3E}">
        <p14:creationId xmlns:p14="http://schemas.microsoft.com/office/powerpoint/2010/main" val="277497559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2" presetClass="entr" presetSubtype="4" fill="hold" grpId="0" nodeType="clickEffect">
                                  <p:stCondLst>
                                    <p:cond delay="0"/>
                                  </p:stCondLst>
                                  <p:childTnLst>
                                    <p:set>
                                      <p:cBhvr>
                                        <p:cTn id="30" dur="1" fill="hold">
                                          <p:stCondLst>
                                            <p:cond delay="0"/>
                                          </p:stCondLst>
                                        </p:cTn>
                                        <p:tgtEl>
                                          <p:spTgt spid="3">
                                            <p:txEl>
                                              <p:pRg st="4" end="4"/>
                                            </p:txEl>
                                          </p:spTgt>
                                        </p:tgtEl>
                                        <p:attrNameLst>
                                          <p:attrName>style.visibility</p:attrName>
                                        </p:attrNameLst>
                                      </p:cBhvr>
                                      <p:to>
                                        <p:strVal val="visible"/>
                                      </p:to>
                                    </p:set>
                                    <p:anim calcmode="lin" valueType="num">
                                      <p:cBhvr additive="base">
                                        <p:cTn id="3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904405F-C038-209F-5D7D-0CBFC01ADE80}"/>
              </a:ext>
            </a:extLst>
          </p:cNvPr>
          <p:cNvSpPr>
            <a:spLocks noGrp="1"/>
          </p:cNvSpPr>
          <p:nvPr>
            <p:ph type="title"/>
          </p:nvPr>
        </p:nvSpPr>
        <p:spPr/>
        <p:txBody>
          <a:bodyPr/>
          <a:lstStyle/>
          <a:p>
            <a:r>
              <a:rPr lang="es-AR" dirty="0"/>
              <a:t>Ajuste Aproximado (</a:t>
            </a:r>
            <a:r>
              <a:rPr lang="es-AR" dirty="0" err="1"/>
              <a:t>Approximate</a:t>
            </a:r>
            <a:r>
              <a:rPr lang="es-AR" dirty="0"/>
              <a:t> </a:t>
            </a:r>
            <a:r>
              <a:rPr lang="es-AR" dirty="0" err="1"/>
              <a:t>fit</a:t>
            </a:r>
            <a:r>
              <a:rPr lang="es-AR" dirty="0"/>
              <a:t> </a:t>
            </a:r>
            <a:r>
              <a:rPr lang="es-AR" dirty="0" err="1"/>
              <a:t>indices</a:t>
            </a:r>
            <a:r>
              <a:rPr lang="es-AR" dirty="0"/>
              <a:t>)</a:t>
            </a:r>
          </a:p>
        </p:txBody>
      </p:sp>
      <p:sp>
        <p:nvSpPr>
          <p:cNvPr id="3" name="Marcador de contenido 2">
            <a:extLst>
              <a:ext uri="{FF2B5EF4-FFF2-40B4-BE49-F238E27FC236}">
                <a16:creationId xmlns:a16="http://schemas.microsoft.com/office/drawing/2014/main" id="{294AF8F0-F297-560D-D641-79DF23FBA82F}"/>
              </a:ext>
            </a:extLst>
          </p:cNvPr>
          <p:cNvSpPr>
            <a:spLocks noGrp="1"/>
          </p:cNvSpPr>
          <p:nvPr>
            <p:ph idx="1"/>
          </p:nvPr>
        </p:nvSpPr>
        <p:spPr/>
        <p:txBody>
          <a:bodyPr/>
          <a:lstStyle/>
          <a:p>
            <a:r>
              <a:rPr lang="es-AR" dirty="0"/>
              <a:t>Índices de ajuste como ser el RMSEA, CFI, y SRMR. </a:t>
            </a:r>
          </a:p>
          <a:p>
            <a:r>
              <a:rPr lang="es-AR" dirty="0"/>
              <a:t>No se centran en la prueba de hipótesis, y funcionan más como medidas de tamaño del efecto. </a:t>
            </a:r>
          </a:p>
          <a:p>
            <a:r>
              <a:rPr lang="es-AR" dirty="0"/>
              <a:t>Estos índices de ajuste permiten cuantificar la magnitud de la discrepancia entre las matrices. </a:t>
            </a:r>
          </a:p>
          <a:p>
            <a:r>
              <a:rPr lang="es-AR" dirty="0"/>
              <a:t>Dos grandes grupos: (a) índices de ajuste comparativo o incremental; y (b) índices de falta de ajuste.</a:t>
            </a:r>
          </a:p>
          <a:p>
            <a:endParaRPr lang="es-AR" dirty="0"/>
          </a:p>
        </p:txBody>
      </p:sp>
    </p:spTree>
    <p:extLst>
      <p:ext uri="{BB962C8B-B14F-4D97-AF65-F5344CB8AC3E}">
        <p14:creationId xmlns:p14="http://schemas.microsoft.com/office/powerpoint/2010/main" val="66018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1764651-6145-6878-0852-BBF76AB7B70C}"/>
              </a:ext>
            </a:extLst>
          </p:cNvPr>
          <p:cNvSpPr>
            <a:spLocks noGrp="1"/>
          </p:cNvSpPr>
          <p:nvPr>
            <p:ph type="title"/>
          </p:nvPr>
        </p:nvSpPr>
        <p:spPr/>
        <p:txBody>
          <a:bodyPr/>
          <a:lstStyle/>
          <a:p>
            <a:r>
              <a:rPr lang="es-AR" dirty="0"/>
              <a:t>Ajuste Aproximado: Índices de Falta de Ajuste</a:t>
            </a:r>
          </a:p>
        </p:txBody>
      </p:sp>
      <p:sp>
        <p:nvSpPr>
          <p:cNvPr id="3" name="Marcador de contenido 2">
            <a:extLst>
              <a:ext uri="{FF2B5EF4-FFF2-40B4-BE49-F238E27FC236}">
                <a16:creationId xmlns:a16="http://schemas.microsoft.com/office/drawing/2014/main" id="{F3B1C7A4-2200-C734-B3EF-434094BCBF72}"/>
              </a:ext>
            </a:extLst>
          </p:cNvPr>
          <p:cNvSpPr>
            <a:spLocks noGrp="1"/>
          </p:cNvSpPr>
          <p:nvPr>
            <p:ph idx="1"/>
          </p:nvPr>
        </p:nvSpPr>
        <p:spPr/>
        <p:txBody>
          <a:bodyPr/>
          <a:lstStyle/>
          <a:p>
            <a:r>
              <a:rPr lang="es-AR" dirty="0"/>
              <a:t>Índices como el Promedio de los Residuos Estandarizados (SRMR), el Promedio del Error de Aproximación (RMSEA).</a:t>
            </a:r>
          </a:p>
          <a:p>
            <a:r>
              <a:rPr lang="es-AR" dirty="0"/>
              <a:t>Permiten obtener una medida de la magnitud de la discrepancia entre la matriz observada y la matriz predicha.</a:t>
            </a:r>
          </a:p>
          <a:p>
            <a:endParaRPr lang="es-AR" dirty="0"/>
          </a:p>
          <a:p>
            <a:endParaRPr lang="es-AR" dirty="0"/>
          </a:p>
          <a:p>
            <a:endParaRPr lang="es-AR" dirty="0"/>
          </a:p>
          <a:p>
            <a:r>
              <a:rPr lang="es-AR" dirty="0"/>
              <a:t>Valores más bajos indican un mejor ajuste (una menor discrepancia).</a:t>
            </a:r>
          </a:p>
        </p:txBody>
      </p:sp>
      <p:pic>
        <p:nvPicPr>
          <p:cNvPr id="4" name="Imagen 3">
            <a:extLst>
              <a:ext uri="{FF2B5EF4-FFF2-40B4-BE49-F238E27FC236}">
                <a16:creationId xmlns:a16="http://schemas.microsoft.com/office/drawing/2014/main" id="{53C3218F-91BE-DF05-40A0-2731F885F973}"/>
              </a:ext>
            </a:extLst>
          </p:cNvPr>
          <p:cNvPicPr>
            <a:picLocks noChangeAspect="1"/>
          </p:cNvPicPr>
          <p:nvPr/>
        </p:nvPicPr>
        <p:blipFill>
          <a:blip r:embed="rId2"/>
          <a:stretch>
            <a:fillRect/>
          </a:stretch>
        </p:blipFill>
        <p:spPr>
          <a:xfrm>
            <a:off x="2052073" y="3654226"/>
            <a:ext cx="8087854" cy="1428949"/>
          </a:xfrm>
          <a:prstGeom prst="rect">
            <a:avLst/>
          </a:prstGeom>
        </p:spPr>
      </p:pic>
    </p:spTree>
    <p:extLst>
      <p:ext uri="{BB962C8B-B14F-4D97-AF65-F5344CB8AC3E}">
        <p14:creationId xmlns:p14="http://schemas.microsoft.com/office/powerpoint/2010/main" val="352193694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6" presetClass="entr" presetSubtype="21"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barn(inVertical)">
                                      <p:cBhvr>
                                        <p:cTn id="19" dur="500"/>
                                        <p:tgtEl>
                                          <p:spTgt spid="4"/>
                                        </p:tgtEl>
                                      </p:cBhvr>
                                    </p:animEffect>
                                  </p:childTnLst>
                                </p:cTn>
                              </p:par>
                            </p:childTnLst>
                          </p:cTn>
                        </p:par>
                      </p:childTnLst>
                    </p:cTn>
                  </p:par>
                  <p:par>
                    <p:cTn id="20" fill="hold">
                      <p:stCondLst>
                        <p:cond delay="indefinite"/>
                      </p:stCondLst>
                      <p:childTnLst>
                        <p:par>
                          <p:cTn id="21" fill="hold">
                            <p:stCondLst>
                              <p:cond delay="0"/>
                            </p:stCondLst>
                            <p:childTnLst>
                              <p:par>
                                <p:cTn id="22" presetID="2" presetClass="entr" presetSubtype="4" fill="hold" grpId="0" nodeType="clickEffect">
                                  <p:stCondLst>
                                    <p:cond delay="0"/>
                                  </p:stCondLst>
                                  <p:childTnLst>
                                    <p:set>
                                      <p:cBhvr>
                                        <p:cTn id="23" dur="1" fill="hold">
                                          <p:stCondLst>
                                            <p:cond delay="0"/>
                                          </p:stCondLst>
                                        </p:cTn>
                                        <p:tgtEl>
                                          <p:spTgt spid="3">
                                            <p:txEl>
                                              <p:pRg st="5" end="5"/>
                                            </p:txEl>
                                          </p:spTgt>
                                        </p:tgtEl>
                                        <p:attrNameLst>
                                          <p:attrName>style.visibility</p:attrName>
                                        </p:attrNameLst>
                                      </p:cBhvr>
                                      <p:to>
                                        <p:strVal val="visible"/>
                                      </p:to>
                                    </p:set>
                                    <p:anim calcmode="lin" valueType="num">
                                      <p:cBhvr additive="base">
                                        <p:cTn id="24" dur="500" fill="hold"/>
                                        <p:tgtEl>
                                          <p:spTgt spid="3">
                                            <p:txEl>
                                              <p:pRg st="5" end="5"/>
                                            </p:txEl>
                                          </p:spTgt>
                                        </p:tgtEl>
                                        <p:attrNameLst>
                                          <p:attrName>ppt_x</p:attrName>
                                        </p:attrNameLst>
                                      </p:cBhvr>
                                      <p:tavLst>
                                        <p:tav tm="0">
                                          <p:val>
                                            <p:strVal val="#ppt_x"/>
                                          </p:val>
                                        </p:tav>
                                        <p:tav tm="100000">
                                          <p:val>
                                            <p:strVal val="#ppt_x"/>
                                          </p:val>
                                        </p:tav>
                                      </p:tavLst>
                                    </p:anim>
                                    <p:anim calcmode="lin" valueType="num">
                                      <p:cBhvr additive="base">
                                        <p:cTn id="25" dur="500" fill="hold"/>
                                        <p:tgtEl>
                                          <p:spTgt spid="3">
                                            <p:txEl>
                                              <p:pRg st="5" end="5"/>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83B77C8-D0D0-1053-2A11-4FB9599FCFB1}"/>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11636DDC-7D09-F682-31FA-EB8CC20BB895}"/>
              </a:ext>
            </a:extLst>
          </p:cNvPr>
          <p:cNvSpPr>
            <a:spLocks noGrp="1"/>
          </p:cNvSpPr>
          <p:nvPr>
            <p:ph type="title"/>
          </p:nvPr>
        </p:nvSpPr>
        <p:spPr/>
        <p:txBody>
          <a:bodyPr/>
          <a:lstStyle/>
          <a:p>
            <a:r>
              <a:rPr lang="es-AR" dirty="0"/>
              <a:t>Ajuste Aproximado: Índices de Ajuste Comparativo o Incremental</a:t>
            </a:r>
          </a:p>
        </p:txBody>
      </p:sp>
      <p:sp>
        <p:nvSpPr>
          <p:cNvPr id="3" name="Marcador de contenido 2">
            <a:extLst>
              <a:ext uri="{FF2B5EF4-FFF2-40B4-BE49-F238E27FC236}">
                <a16:creationId xmlns:a16="http://schemas.microsoft.com/office/drawing/2014/main" id="{776F846B-B9D7-DC01-E928-EB015363E966}"/>
              </a:ext>
            </a:extLst>
          </p:cNvPr>
          <p:cNvSpPr>
            <a:spLocks noGrp="1"/>
          </p:cNvSpPr>
          <p:nvPr>
            <p:ph idx="1"/>
          </p:nvPr>
        </p:nvSpPr>
        <p:spPr>
          <a:xfrm>
            <a:off x="838200" y="1825625"/>
            <a:ext cx="10515600" cy="3603625"/>
          </a:xfrm>
        </p:spPr>
        <p:txBody>
          <a:bodyPr>
            <a:normAutofit fontScale="92500" lnSpcReduction="20000"/>
          </a:bodyPr>
          <a:lstStyle/>
          <a:p>
            <a:r>
              <a:rPr lang="es-AR" dirty="0"/>
              <a:t>Índices más reportados: Índice Tucker-Lewis (TLI), Índice de Ajuste Comparativo (CFI). </a:t>
            </a:r>
          </a:p>
          <a:p>
            <a:r>
              <a:rPr lang="es-AR" dirty="0"/>
              <a:t>Comparan el ajuste del Modelo Teórico (nuestro modelo de medición) contra un Modelo Alternativo. </a:t>
            </a:r>
          </a:p>
          <a:p>
            <a:r>
              <a:rPr lang="es-AR" dirty="0"/>
              <a:t>Típicamente, este Modelo Alternativo es un Modelo de Independencia (</a:t>
            </a:r>
            <a:r>
              <a:rPr lang="es-AR" dirty="0" err="1"/>
              <a:t>baseline</a:t>
            </a:r>
            <a:r>
              <a:rPr lang="es-AR" dirty="0"/>
              <a:t> </a:t>
            </a:r>
            <a:r>
              <a:rPr lang="es-AR" dirty="0" err="1"/>
              <a:t>model</a:t>
            </a:r>
            <a:r>
              <a:rPr lang="es-AR" dirty="0"/>
              <a:t>), que asume que las variables observadas no correlacionan.</a:t>
            </a:r>
          </a:p>
          <a:p>
            <a:r>
              <a:rPr lang="es-AR" dirty="0"/>
              <a:t>Se compara entonces la mejora en el ajuste logrado por nuestro modelo en comparación al modelo alternativo(de independencia). Un valor más alto indica un mejor ajuste.</a:t>
            </a:r>
          </a:p>
        </p:txBody>
      </p:sp>
      <p:pic>
        <p:nvPicPr>
          <p:cNvPr id="6" name="Imagen 5">
            <a:extLst>
              <a:ext uri="{FF2B5EF4-FFF2-40B4-BE49-F238E27FC236}">
                <a16:creationId xmlns:a16="http://schemas.microsoft.com/office/drawing/2014/main" id="{2174F534-A193-46E4-33FA-AEDF4E3E8D73}"/>
              </a:ext>
            </a:extLst>
          </p:cNvPr>
          <p:cNvPicPr>
            <a:picLocks noChangeAspect="1"/>
          </p:cNvPicPr>
          <p:nvPr/>
        </p:nvPicPr>
        <p:blipFill>
          <a:blip r:embed="rId2"/>
          <a:stretch>
            <a:fillRect/>
          </a:stretch>
        </p:blipFill>
        <p:spPr>
          <a:xfrm>
            <a:off x="3673462" y="5167157"/>
            <a:ext cx="4845075" cy="1425733"/>
          </a:xfrm>
          <a:prstGeom prst="rect">
            <a:avLst/>
          </a:prstGeom>
        </p:spPr>
      </p:pic>
    </p:spTree>
    <p:extLst>
      <p:ext uri="{BB962C8B-B14F-4D97-AF65-F5344CB8AC3E}">
        <p14:creationId xmlns:p14="http://schemas.microsoft.com/office/powerpoint/2010/main" val="8590658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nodeType="clickEffect">
                                  <p:stCondLst>
                                    <p:cond delay="0"/>
                                  </p:stCondLst>
                                  <p:childTnLst>
                                    <p:set>
                                      <p:cBhvr>
                                        <p:cTn id="30" dur="1" fill="hold">
                                          <p:stCondLst>
                                            <p:cond delay="0"/>
                                          </p:stCondLst>
                                        </p:cTn>
                                        <p:tgtEl>
                                          <p:spTgt spid="6"/>
                                        </p:tgtEl>
                                        <p:attrNameLst>
                                          <p:attrName>style.visibility</p:attrName>
                                        </p:attrNameLst>
                                      </p:cBhvr>
                                      <p:to>
                                        <p:strVal val="visible"/>
                                      </p:to>
                                    </p:set>
                                    <p:animEffect transition="in" filter="barn(inVertical)">
                                      <p:cBhvr>
                                        <p:cTn id="31"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D4603C7-BAC1-B0A5-295B-3B34BB97169A}"/>
              </a:ext>
            </a:extLst>
          </p:cNvPr>
          <p:cNvSpPr>
            <a:spLocks noGrp="1"/>
          </p:cNvSpPr>
          <p:nvPr>
            <p:ph type="title"/>
          </p:nvPr>
        </p:nvSpPr>
        <p:spPr/>
        <p:txBody>
          <a:bodyPr/>
          <a:lstStyle/>
          <a:p>
            <a:r>
              <a:rPr lang="es-AR" dirty="0"/>
              <a:t>¿Análisis Factorial Exploratorio (AFE) y Confirmatorio (AFC)?</a:t>
            </a:r>
          </a:p>
        </p:txBody>
      </p:sp>
      <p:sp>
        <p:nvSpPr>
          <p:cNvPr id="3" name="Marcador de texto 2">
            <a:extLst>
              <a:ext uri="{FF2B5EF4-FFF2-40B4-BE49-F238E27FC236}">
                <a16:creationId xmlns:a16="http://schemas.microsoft.com/office/drawing/2014/main" id="{F21ADF36-CB4C-6E72-C549-2BBBDA52C244}"/>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184014820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85B2CC9-871E-5A0E-C142-A9BB0CF6D5C0}"/>
              </a:ext>
            </a:extLst>
          </p:cNvPr>
          <p:cNvSpPr>
            <a:spLocks noGrp="1"/>
          </p:cNvSpPr>
          <p:nvPr>
            <p:ph type="title"/>
          </p:nvPr>
        </p:nvSpPr>
        <p:spPr/>
        <p:txBody>
          <a:bodyPr/>
          <a:lstStyle/>
          <a:p>
            <a:r>
              <a:rPr lang="es-AR" dirty="0"/>
              <a:t>¿Qué diferencia un AFE de un AFC?</a:t>
            </a:r>
          </a:p>
        </p:txBody>
      </p:sp>
      <p:sp>
        <p:nvSpPr>
          <p:cNvPr id="3" name="Marcador de contenido 2">
            <a:extLst>
              <a:ext uri="{FF2B5EF4-FFF2-40B4-BE49-F238E27FC236}">
                <a16:creationId xmlns:a16="http://schemas.microsoft.com/office/drawing/2014/main" id="{784C4C78-9AC4-E48D-775E-1E563AF7BA66}"/>
              </a:ext>
            </a:extLst>
          </p:cNvPr>
          <p:cNvSpPr>
            <a:spLocks noGrp="1"/>
          </p:cNvSpPr>
          <p:nvPr>
            <p:ph idx="1"/>
          </p:nvPr>
        </p:nvSpPr>
        <p:spPr/>
        <p:txBody>
          <a:bodyPr/>
          <a:lstStyle/>
          <a:p>
            <a:r>
              <a:rPr lang="es-AR" dirty="0"/>
              <a:t>Desde el marco de los modelos SEM, no se tratan estos tipos de abordajes factoriales como tipos de análisis cualitativamente diferentes. </a:t>
            </a:r>
          </a:p>
          <a:p>
            <a:r>
              <a:rPr lang="es-AR" dirty="0"/>
              <a:t>Por el contrario, se entienden como modelos de medición con distintos grados de restricción.</a:t>
            </a:r>
          </a:p>
          <a:p>
            <a:r>
              <a:rPr lang="es-AR" dirty="0"/>
              <a:t>AFE </a:t>
            </a:r>
            <a:r>
              <a:rPr lang="en-US" dirty="0">
                <a:sym typeface="Wingdings" panose="05000000000000000000" pitchFamily="2" charset="2"/>
              </a:rPr>
              <a:t> </a:t>
            </a:r>
            <a:r>
              <a:rPr lang="es-AR" dirty="0">
                <a:sym typeface="Wingdings" panose="05000000000000000000" pitchFamily="2" charset="2"/>
              </a:rPr>
              <a:t>M</a:t>
            </a:r>
            <a:r>
              <a:rPr lang="es-AR" dirty="0"/>
              <a:t>odelo de Medición No Restrictivo o Poco Restrictivo (ejemplo, los Modelos de Ecuaciones Estructurales Exploratorios –ESEM–).</a:t>
            </a:r>
          </a:p>
          <a:p>
            <a:r>
              <a:rPr lang="es-AR" dirty="0"/>
              <a:t>AFC </a:t>
            </a:r>
            <a:r>
              <a:rPr lang="es-AR" dirty="0">
                <a:sym typeface="Wingdings" panose="05000000000000000000" pitchFamily="2" charset="2"/>
              </a:rPr>
              <a:t> Modelo de Medici</a:t>
            </a:r>
            <a:r>
              <a:rPr lang="en-US" dirty="0" err="1">
                <a:sym typeface="Wingdings" panose="05000000000000000000" pitchFamily="2" charset="2"/>
              </a:rPr>
              <a:t>ón</a:t>
            </a:r>
            <a:r>
              <a:rPr lang="en-US" dirty="0">
                <a:sym typeface="Wingdings" panose="05000000000000000000" pitchFamily="2" charset="2"/>
              </a:rPr>
              <a:t> </a:t>
            </a:r>
            <a:r>
              <a:rPr lang="en-US" dirty="0" err="1">
                <a:sym typeface="Wingdings" panose="05000000000000000000" pitchFamily="2" charset="2"/>
              </a:rPr>
              <a:t>Restrictivo</a:t>
            </a:r>
            <a:endParaRPr lang="es-AR" dirty="0"/>
          </a:p>
        </p:txBody>
      </p:sp>
    </p:spTree>
    <p:extLst>
      <p:ext uri="{BB962C8B-B14F-4D97-AF65-F5344CB8AC3E}">
        <p14:creationId xmlns:p14="http://schemas.microsoft.com/office/powerpoint/2010/main" val="177865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grpId="0" nodeType="clickEffect">
                                  <p:stCondLst>
                                    <p:cond delay="0"/>
                                  </p:stCondLst>
                                  <p:childTnLst>
                                    <p:set>
                                      <p:cBhvr>
                                        <p:cTn id="24" dur="1" fill="hold">
                                          <p:stCondLst>
                                            <p:cond delay="0"/>
                                          </p:stCondLst>
                                        </p:cTn>
                                        <p:tgtEl>
                                          <p:spTgt spid="3">
                                            <p:txEl>
                                              <p:pRg st="3" end="3"/>
                                            </p:txEl>
                                          </p:spTgt>
                                        </p:tgtEl>
                                        <p:attrNameLst>
                                          <p:attrName>style.visibility</p:attrName>
                                        </p:attrNameLst>
                                      </p:cBhvr>
                                      <p:to>
                                        <p:strVal val="visible"/>
                                      </p:to>
                                    </p:set>
                                    <p:anim calcmode="lin" valueType="num">
                                      <p:cBhvr additive="base">
                                        <p:cTn id="25"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Imagen 8">
            <a:extLst>
              <a:ext uri="{FF2B5EF4-FFF2-40B4-BE49-F238E27FC236}">
                <a16:creationId xmlns:a16="http://schemas.microsoft.com/office/drawing/2014/main" id="{8EB1892A-F10C-2D1E-6769-A77C5874D1CE}"/>
              </a:ext>
            </a:extLst>
          </p:cNvPr>
          <p:cNvPicPr>
            <a:picLocks noChangeAspect="1"/>
          </p:cNvPicPr>
          <p:nvPr/>
        </p:nvPicPr>
        <p:blipFill>
          <a:blip r:embed="rId2"/>
          <a:stretch>
            <a:fillRect/>
          </a:stretch>
        </p:blipFill>
        <p:spPr>
          <a:xfrm>
            <a:off x="2833232" y="58491"/>
            <a:ext cx="6525536" cy="3534268"/>
          </a:xfrm>
          <a:prstGeom prst="rect">
            <a:avLst/>
          </a:prstGeom>
        </p:spPr>
      </p:pic>
      <p:pic>
        <p:nvPicPr>
          <p:cNvPr id="11" name="Imagen 10">
            <a:extLst>
              <a:ext uri="{FF2B5EF4-FFF2-40B4-BE49-F238E27FC236}">
                <a16:creationId xmlns:a16="http://schemas.microsoft.com/office/drawing/2014/main" id="{D694E049-B0CF-EB11-73D8-03748ACB9CE9}"/>
              </a:ext>
            </a:extLst>
          </p:cNvPr>
          <p:cNvPicPr>
            <a:picLocks noChangeAspect="1"/>
          </p:cNvPicPr>
          <p:nvPr/>
        </p:nvPicPr>
        <p:blipFill>
          <a:blip r:embed="rId3"/>
          <a:stretch>
            <a:fillRect/>
          </a:stretch>
        </p:blipFill>
        <p:spPr>
          <a:xfrm>
            <a:off x="2833232" y="3429794"/>
            <a:ext cx="6468378" cy="3429479"/>
          </a:xfrm>
          <a:prstGeom prst="rect">
            <a:avLst/>
          </a:prstGeom>
        </p:spPr>
      </p:pic>
      <p:sp>
        <p:nvSpPr>
          <p:cNvPr id="12" name="CuadroTexto 11">
            <a:extLst>
              <a:ext uri="{FF2B5EF4-FFF2-40B4-BE49-F238E27FC236}">
                <a16:creationId xmlns:a16="http://schemas.microsoft.com/office/drawing/2014/main" id="{16B7349D-7129-721C-83E8-BD8F54E0C6ED}"/>
              </a:ext>
            </a:extLst>
          </p:cNvPr>
          <p:cNvSpPr txBox="1"/>
          <p:nvPr/>
        </p:nvSpPr>
        <p:spPr>
          <a:xfrm>
            <a:off x="0" y="424890"/>
            <a:ext cx="3382464" cy="523220"/>
          </a:xfrm>
          <a:prstGeom prst="rect">
            <a:avLst/>
          </a:prstGeom>
          <a:noFill/>
        </p:spPr>
        <p:txBody>
          <a:bodyPr wrap="none" rtlCol="0">
            <a:spAutoFit/>
          </a:bodyPr>
          <a:lstStyle/>
          <a:p>
            <a:r>
              <a:rPr lang="en-US" sz="2800" b="1" dirty="0"/>
              <a:t>M. </a:t>
            </a:r>
            <a:r>
              <a:rPr lang="en-US" sz="2800" b="1" dirty="0" err="1"/>
              <a:t>Restrictivo</a:t>
            </a:r>
            <a:r>
              <a:rPr lang="en-US" sz="2800" b="1" dirty="0"/>
              <a:t> (AFC)</a:t>
            </a:r>
            <a:endParaRPr lang="es-AR" sz="2800" b="1" dirty="0"/>
          </a:p>
        </p:txBody>
      </p:sp>
      <p:sp>
        <p:nvSpPr>
          <p:cNvPr id="13" name="CuadroTexto 12">
            <a:extLst>
              <a:ext uri="{FF2B5EF4-FFF2-40B4-BE49-F238E27FC236}">
                <a16:creationId xmlns:a16="http://schemas.microsoft.com/office/drawing/2014/main" id="{6B82C945-2DA6-CBF7-185F-6ED85BF5AA79}"/>
              </a:ext>
            </a:extLst>
          </p:cNvPr>
          <p:cNvSpPr txBox="1"/>
          <p:nvPr/>
        </p:nvSpPr>
        <p:spPr>
          <a:xfrm>
            <a:off x="-1" y="3592759"/>
            <a:ext cx="3042756" cy="954107"/>
          </a:xfrm>
          <a:prstGeom prst="rect">
            <a:avLst/>
          </a:prstGeom>
          <a:noFill/>
        </p:spPr>
        <p:txBody>
          <a:bodyPr wrap="none" rtlCol="0">
            <a:spAutoFit/>
          </a:bodyPr>
          <a:lstStyle/>
          <a:p>
            <a:r>
              <a:rPr lang="en-US" sz="2800" b="1" dirty="0"/>
              <a:t>M. No </a:t>
            </a:r>
            <a:r>
              <a:rPr lang="en-US" sz="2800" b="1" dirty="0" err="1"/>
              <a:t>Restrictivo</a:t>
            </a:r>
            <a:r>
              <a:rPr lang="en-US" sz="2800" b="1" dirty="0"/>
              <a:t> </a:t>
            </a:r>
          </a:p>
          <a:p>
            <a:r>
              <a:rPr lang="en-US" sz="2800" b="1" dirty="0"/>
              <a:t>(AFE/ESEM)</a:t>
            </a:r>
            <a:endParaRPr lang="es-AR" sz="2800" b="1" dirty="0"/>
          </a:p>
        </p:txBody>
      </p:sp>
    </p:spTree>
    <p:extLst>
      <p:ext uri="{BB962C8B-B14F-4D97-AF65-F5344CB8AC3E}">
        <p14:creationId xmlns:p14="http://schemas.microsoft.com/office/powerpoint/2010/main" val="13562284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fill="hold"/>
                                        <p:tgtEl>
                                          <p:spTgt spid="12"/>
                                        </p:tgtEl>
                                        <p:attrNameLst>
                                          <p:attrName>ppt_x</p:attrName>
                                        </p:attrNameLst>
                                      </p:cBhvr>
                                      <p:tavLst>
                                        <p:tav tm="0">
                                          <p:val>
                                            <p:strVal val="#ppt_x"/>
                                          </p:val>
                                        </p:tav>
                                        <p:tav tm="100000">
                                          <p:val>
                                            <p:strVal val="#ppt_x"/>
                                          </p:val>
                                        </p:tav>
                                      </p:tavLst>
                                    </p:anim>
                                    <p:anim calcmode="lin" valueType="num">
                                      <p:cBhvr additive="base">
                                        <p:cTn id="8" dur="500" fill="hold"/>
                                        <p:tgtEl>
                                          <p:spTgt spid="12"/>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
                                        </p:tgtEl>
                                        <p:attrNameLst>
                                          <p:attrName>style.visibility</p:attrName>
                                        </p:attrNameLst>
                                      </p:cBhvr>
                                      <p:to>
                                        <p:strVal val="visible"/>
                                      </p:to>
                                    </p:set>
                                    <p:anim calcmode="lin" valueType="num">
                                      <p:cBhvr additive="base">
                                        <p:cTn id="11" dur="500" fill="hold"/>
                                        <p:tgtEl>
                                          <p:spTgt spid="9"/>
                                        </p:tgtEl>
                                        <p:attrNameLst>
                                          <p:attrName>ppt_x</p:attrName>
                                        </p:attrNameLst>
                                      </p:cBhvr>
                                      <p:tavLst>
                                        <p:tav tm="0">
                                          <p:val>
                                            <p:strVal val="#ppt_x"/>
                                          </p:val>
                                        </p:tav>
                                        <p:tav tm="100000">
                                          <p:val>
                                            <p:strVal val="#ppt_x"/>
                                          </p:val>
                                        </p:tav>
                                      </p:tavLst>
                                    </p:anim>
                                    <p:anim calcmode="lin" valueType="num">
                                      <p:cBhvr additive="base">
                                        <p:cTn id="12" dur="500" fill="hold"/>
                                        <p:tgtEl>
                                          <p:spTgt spid="9"/>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13"/>
                                        </p:tgtEl>
                                        <p:attrNameLst>
                                          <p:attrName>style.visibility</p:attrName>
                                        </p:attrNameLst>
                                      </p:cBhvr>
                                      <p:to>
                                        <p:strVal val="visible"/>
                                      </p:to>
                                    </p:set>
                                    <p:anim calcmode="lin" valueType="num">
                                      <p:cBhvr additive="base">
                                        <p:cTn id="17" dur="500" fill="hold"/>
                                        <p:tgtEl>
                                          <p:spTgt spid="13"/>
                                        </p:tgtEl>
                                        <p:attrNameLst>
                                          <p:attrName>ppt_x</p:attrName>
                                        </p:attrNameLst>
                                      </p:cBhvr>
                                      <p:tavLst>
                                        <p:tav tm="0">
                                          <p:val>
                                            <p:strVal val="#ppt_x"/>
                                          </p:val>
                                        </p:tav>
                                        <p:tav tm="100000">
                                          <p:val>
                                            <p:strVal val="#ppt_x"/>
                                          </p:val>
                                        </p:tav>
                                      </p:tavLst>
                                    </p:anim>
                                    <p:anim calcmode="lin" valueType="num">
                                      <p:cBhvr additive="base">
                                        <p:cTn id="18" dur="500" fill="hold"/>
                                        <p:tgtEl>
                                          <p:spTgt spid="13"/>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11"/>
                                        </p:tgtEl>
                                        <p:attrNameLst>
                                          <p:attrName>style.visibility</p:attrName>
                                        </p:attrNameLst>
                                      </p:cBhvr>
                                      <p:to>
                                        <p:strVal val="visible"/>
                                      </p:to>
                                    </p:set>
                                    <p:anim calcmode="lin" valueType="num">
                                      <p:cBhvr additive="base">
                                        <p:cTn id="21" dur="500" fill="hold"/>
                                        <p:tgtEl>
                                          <p:spTgt spid="11"/>
                                        </p:tgtEl>
                                        <p:attrNameLst>
                                          <p:attrName>ppt_x</p:attrName>
                                        </p:attrNameLst>
                                      </p:cBhvr>
                                      <p:tavLst>
                                        <p:tav tm="0">
                                          <p:val>
                                            <p:strVal val="#ppt_x"/>
                                          </p:val>
                                        </p:tav>
                                        <p:tav tm="100000">
                                          <p:val>
                                            <p:strVal val="#ppt_x"/>
                                          </p:val>
                                        </p:tav>
                                      </p:tavLst>
                                    </p:anim>
                                    <p:anim calcmode="lin" valueType="num">
                                      <p:cBhvr additive="base">
                                        <p:cTn id="22" dur="500" fill="hold"/>
                                        <p:tgtEl>
                                          <p:spTgt spid="11"/>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16A018-7B57-29DB-E1A6-CE546CA245D6}"/>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7C3C14C7-F8C4-555C-A2E6-13162FEEC545}"/>
              </a:ext>
            </a:extLst>
          </p:cNvPr>
          <p:cNvSpPr>
            <a:spLocks noGrp="1"/>
          </p:cNvSpPr>
          <p:nvPr>
            <p:ph type="title"/>
          </p:nvPr>
        </p:nvSpPr>
        <p:spPr/>
        <p:txBody>
          <a:bodyPr/>
          <a:lstStyle/>
          <a:p>
            <a:r>
              <a:rPr lang="es-AR" dirty="0"/>
              <a:t>¿Qué diferencia un AFE de un AFC?</a:t>
            </a:r>
          </a:p>
        </p:txBody>
      </p:sp>
      <p:sp>
        <p:nvSpPr>
          <p:cNvPr id="3" name="Marcador de contenido 2">
            <a:extLst>
              <a:ext uri="{FF2B5EF4-FFF2-40B4-BE49-F238E27FC236}">
                <a16:creationId xmlns:a16="http://schemas.microsoft.com/office/drawing/2014/main" id="{A7B4CFF7-74E4-C344-42AA-31C21541433D}"/>
              </a:ext>
            </a:extLst>
          </p:cNvPr>
          <p:cNvSpPr>
            <a:spLocks noGrp="1"/>
          </p:cNvSpPr>
          <p:nvPr>
            <p:ph idx="1"/>
          </p:nvPr>
        </p:nvSpPr>
        <p:spPr>
          <a:xfrm>
            <a:off x="838200" y="1825625"/>
            <a:ext cx="4885422" cy="4903788"/>
          </a:xfrm>
        </p:spPr>
        <p:txBody>
          <a:bodyPr>
            <a:normAutofit fontScale="85000" lnSpcReduction="20000"/>
          </a:bodyPr>
          <a:lstStyle/>
          <a:p>
            <a:r>
              <a:rPr lang="en-US" dirty="0" err="1"/>
              <a:t>Sí</a:t>
            </a:r>
            <a:r>
              <a:rPr lang="en-US" dirty="0"/>
              <a:t> hay que </a:t>
            </a:r>
            <a:r>
              <a:rPr lang="en-US" dirty="0" err="1"/>
              <a:t>tener</a:t>
            </a:r>
            <a:r>
              <a:rPr lang="en-US" dirty="0"/>
              <a:t> </a:t>
            </a:r>
            <a:r>
              <a:rPr lang="en-US" dirty="0" err="1"/>
              <a:t>presente</a:t>
            </a:r>
            <a:r>
              <a:rPr lang="en-US" dirty="0"/>
              <a:t> que </a:t>
            </a:r>
            <a:r>
              <a:rPr lang="en-US" dirty="0" err="1"/>
              <a:t>en</a:t>
            </a:r>
            <a:r>
              <a:rPr lang="en-US" dirty="0"/>
              <a:t> </a:t>
            </a:r>
            <a:r>
              <a:rPr lang="en-US" dirty="0" err="1"/>
              <a:t>los</a:t>
            </a:r>
            <a:r>
              <a:rPr lang="en-US" dirty="0"/>
              <a:t> </a:t>
            </a:r>
            <a:r>
              <a:rPr lang="en-US" dirty="0" err="1"/>
              <a:t>Modelos</a:t>
            </a:r>
            <a:r>
              <a:rPr lang="en-US" dirty="0"/>
              <a:t> de </a:t>
            </a:r>
            <a:r>
              <a:rPr lang="en-US" dirty="0" err="1"/>
              <a:t>Medición</a:t>
            </a:r>
            <a:r>
              <a:rPr lang="en-US" dirty="0"/>
              <a:t> No </a:t>
            </a:r>
            <a:r>
              <a:rPr lang="en-US" dirty="0" err="1"/>
              <a:t>Restrictivos</a:t>
            </a:r>
            <a:r>
              <a:rPr lang="en-US" dirty="0"/>
              <a:t> (AFE) o Poco </a:t>
            </a:r>
            <a:r>
              <a:rPr lang="en-US" dirty="0" err="1"/>
              <a:t>Restrictivos</a:t>
            </a:r>
            <a:r>
              <a:rPr lang="en-US" dirty="0"/>
              <a:t> (ESEM) se </a:t>
            </a:r>
            <a:r>
              <a:rPr lang="en-US" dirty="0" err="1"/>
              <a:t>aplican</a:t>
            </a:r>
            <a:r>
              <a:rPr lang="en-US" dirty="0"/>
              <a:t> </a:t>
            </a:r>
            <a:r>
              <a:rPr lang="en-US" dirty="0" err="1"/>
              <a:t>Métodos</a:t>
            </a:r>
            <a:r>
              <a:rPr lang="en-US" dirty="0"/>
              <a:t> de </a:t>
            </a:r>
            <a:r>
              <a:rPr lang="en-US" dirty="0" err="1"/>
              <a:t>Rotación</a:t>
            </a:r>
            <a:r>
              <a:rPr lang="en-US" dirty="0"/>
              <a:t> Factorial a </a:t>
            </a:r>
            <a:r>
              <a:rPr lang="en-US" dirty="0" err="1"/>
              <a:t>los</a:t>
            </a:r>
            <a:r>
              <a:rPr lang="en-US" dirty="0"/>
              <a:t> fines de </a:t>
            </a:r>
            <a:r>
              <a:rPr lang="en-US" dirty="0" err="1"/>
              <a:t>lograr</a:t>
            </a:r>
            <a:r>
              <a:rPr lang="en-US" dirty="0"/>
              <a:t> </a:t>
            </a:r>
            <a:r>
              <a:rPr lang="en-US" dirty="0" err="1"/>
              <a:t>Soluciones</a:t>
            </a:r>
            <a:r>
              <a:rPr lang="en-US" dirty="0"/>
              <a:t> de </a:t>
            </a:r>
            <a:r>
              <a:rPr lang="en-US" dirty="0" err="1"/>
              <a:t>Estructura</a:t>
            </a:r>
            <a:r>
              <a:rPr lang="en-US" dirty="0"/>
              <a:t> Simple.</a:t>
            </a:r>
          </a:p>
          <a:p>
            <a:r>
              <a:rPr lang="en-US" dirty="0" err="1"/>
              <a:t>Estructura</a:t>
            </a:r>
            <a:r>
              <a:rPr lang="en-US" dirty="0"/>
              <a:t> Simple: </a:t>
            </a:r>
            <a:r>
              <a:rPr lang="es-AR" dirty="0"/>
              <a:t>Buscar la solución que maximice la influencia de los factores a sus respectivos indicadores y minimice la influencia de éstos a los indicadores que no son propios.</a:t>
            </a:r>
          </a:p>
          <a:p>
            <a:r>
              <a:rPr lang="es-AR" dirty="0"/>
              <a:t>Procedimientos de Rotación ortogonales (</a:t>
            </a:r>
            <a:r>
              <a:rPr lang="es-AR" dirty="0" err="1"/>
              <a:t>Varimax</a:t>
            </a:r>
            <a:r>
              <a:rPr lang="es-AR" dirty="0"/>
              <a:t>) y oblicuos (</a:t>
            </a:r>
            <a:r>
              <a:rPr lang="es-AR" dirty="0" err="1"/>
              <a:t>Geomin</a:t>
            </a:r>
            <a:r>
              <a:rPr lang="es-AR" dirty="0"/>
              <a:t>, </a:t>
            </a:r>
            <a:r>
              <a:rPr lang="es-AR" dirty="0" err="1"/>
              <a:t>Promin</a:t>
            </a:r>
            <a:r>
              <a:rPr lang="es-AR" dirty="0"/>
              <a:t>, </a:t>
            </a:r>
            <a:r>
              <a:rPr lang="es-AR" dirty="0" err="1"/>
              <a:t>Oblimin</a:t>
            </a:r>
            <a:r>
              <a:rPr lang="es-AR" dirty="0"/>
              <a:t>).</a:t>
            </a:r>
            <a:endParaRPr lang="en-US" dirty="0"/>
          </a:p>
        </p:txBody>
      </p:sp>
      <p:pic>
        <p:nvPicPr>
          <p:cNvPr id="4" name="Imagen 3">
            <a:extLst>
              <a:ext uri="{FF2B5EF4-FFF2-40B4-BE49-F238E27FC236}">
                <a16:creationId xmlns:a16="http://schemas.microsoft.com/office/drawing/2014/main" id="{B8AD581B-2A71-338F-3DD9-BEEF6D81EBEB}"/>
              </a:ext>
            </a:extLst>
          </p:cNvPr>
          <p:cNvPicPr>
            <a:picLocks noChangeAspect="1"/>
          </p:cNvPicPr>
          <p:nvPr/>
        </p:nvPicPr>
        <p:blipFill>
          <a:blip r:embed="rId2"/>
          <a:stretch>
            <a:fillRect/>
          </a:stretch>
        </p:blipFill>
        <p:spPr>
          <a:xfrm>
            <a:off x="5723622" y="2562779"/>
            <a:ext cx="6468378" cy="3429479"/>
          </a:xfrm>
          <a:prstGeom prst="rect">
            <a:avLst/>
          </a:prstGeom>
        </p:spPr>
      </p:pic>
    </p:spTree>
    <p:extLst>
      <p:ext uri="{BB962C8B-B14F-4D97-AF65-F5344CB8AC3E}">
        <p14:creationId xmlns:p14="http://schemas.microsoft.com/office/powerpoint/2010/main" val="3153791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xEl>
                                              <p:pRg st="1" end="1"/>
                                            </p:txEl>
                                          </p:spTgt>
                                        </p:tgtEl>
                                        <p:attrNameLst>
                                          <p:attrName>style.visibility</p:attrName>
                                        </p:attrNameLst>
                                      </p:cBhvr>
                                      <p:to>
                                        <p:strVal val="visible"/>
                                      </p:to>
                                    </p:set>
                                    <p:anim calcmode="lin" valueType="num">
                                      <p:cBhvr additive="base">
                                        <p:cTn id="13"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grpId="0" nodeType="click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 calcmode="lin" valueType="num">
                                      <p:cBhvr additive="base">
                                        <p:cTn id="19"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3AAFF9-D3CB-E3D9-28DF-C7B188E9FDF2}"/>
              </a:ext>
            </a:extLst>
          </p:cNvPr>
          <p:cNvSpPr>
            <a:spLocks noGrp="1"/>
          </p:cNvSpPr>
          <p:nvPr>
            <p:ph type="title"/>
          </p:nvPr>
        </p:nvSpPr>
        <p:spPr/>
        <p:txBody>
          <a:bodyPr/>
          <a:lstStyle/>
          <a:p>
            <a:r>
              <a:rPr lang="en-US" dirty="0"/>
              <a:t>¡Nos </a:t>
            </a:r>
            <a:r>
              <a:rPr lang="en-US" dirty="0" err="1"/>
              <a:t>mudamos</a:t>
            </a:r>
            <a:r>
              <a:rPr lang="en-US" dirty="0"/>
              <a:t> a RStudio!</a:t>
            </a:r>
            <a:endParaRPr lang="es-AR" dirty="0"/>
          </a:p>
        </p:txBody>
      </p:sp>
      <p:sp>
        <p:nvSpPr>
          <p:cNvPr id="3" name="Marcador de texto 2">
            <a:extLst>
              <a:ext uri="{FF2B5EF4-FFF2-40B4-BE49-F238E27FC236}">
                <a16:creationId xmlns:a16="http://schemas.microsoft.com/office/drawing/2014/main" id="{894CF12E-29E4-7008-379D-17E1234D5BA3}"/>
              </a:ext>
            </a:extLst>
          </p:cNvPr>
          <p:cNvSpPr>
            <a:spLocks noGrp="1"/>
          </p:cNvSpPr>
          <p:nvPr>
            <p:ph type="body" idx="1"/>
          </p:nvPr>
        </p:nvSpPr>
        <p:spPr/>
        <p:txBody>
          <a:bodyPr/>
          <a:lstStyle/>
          <a:p>
            <a:endParaRPr lang="es-AR"/>
          </a:p>
        </p:txBody>
      </p:sp>
    </p:spTree>
    <p:extLst>
      <p:ext uri="{BB962C8B-B14F-4D97-AF65-F5344CB8AC3E}">
        <p14:creationId xmlns:p14="http://schemas.microsoft.com/office/powerpoint/2010/main" val="1816423147"/>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2039</TotalTime>
  <Words>2792</Words>
  <Application>Microsoft Office PowerPoint</Application>
  <PresentationFormat>Panorámica</PresentationFormat>
  <Paragraphs>257</Paragraphs>
  <Slides>57</Slides>
  <Notes>22</Notes>
  <HiddenSlides>0</HiddenSlides>
  <MMClips>0</MMClips>
  <ScaleCrop>false</ScaleCrop>
  <HeadingPairs>
    <vt:vector size="8" baseType="variant">
      <vt:variant>
        <vt:lpstr>Fuentes usadas</vt:lpstr>
      </vt:variant>
      <vt:variant>
        <vt:i4>6</vt:i4>
      </vt:variant>
      <vt:variant>
        <vt:lpstr>Tema</vt:lpstr>
      </vt:variant>
      <vt:variant>
        <vt:i4>1</vt:i4>
      </vt:variant>
      <vt:variant>
        <vt:lpstr>Servidores OLE incrustados</vt:lpstr>
      </vt:variant>
      <vt:variant>
        <vt:i4>1</vt:i4>
      </vt:variant>
      <vt:variant>
        <vt:lpstr>Títulos de diapositiva</vt:lpstr>
      </vt:variant>
      <vt:variant>
        <vt:i4>57</vt:i4>
      </vt:variant>
    </vt:vector>
  </HeadingPairs>
  <TitlesOfParts>
    <vt:vector size="65" baseType="lpstr">
      <vt:lpstr>Aptos</vt:lpstr>
      <vt:lpstr>Aptos Display</vt:lpstr>
      <vt:lpstr>Arial</vt:lpstr>
      <vt:lpstr>ArialUnicodeMS</vt:lpstr>
      <vt:lpstr>Times New Roman</vt:lpstr>
      <vt:lpstr>Wingdings</vt:lpstr>
      <vt:lpstr>Tema de Office</vt:lpstr>
      <vt:lpstr>Bitmap Image</vt:lpstr>
      <vt:lpstr>Introducción al Análisis Factorial</vt:lpstr>
      <vt:lpstr>Finalidad del Análisis Factorial</vt:lpstr>
      <vt:lpstr>Técnicas para Reducir la Dimensionalidad de un Conjunto de Variables</vt:lpstr>
      <vt:lpstr>Reducción de la Dimensionalidad</vt:lpstr>
      <vt:lpstr>Presentación de PowerPoint</vt:lpstr>
      <vt:lpstr>Presentación de PowerPoint</vt:lpstr>
      <vt:lpstr>¿Cómo convertir un conjunto de datos de dimensionalidad = 2 en una sola dimensión? </vt:lpstr>
      <vt:lpstr>Presentación de PowerPoint</vt:lpstr>
      <vt:lpstr>Presentación de PowerPoint</vt:lpstr>
      <vt:lpstr>El Análisis de Componentes Principales (PCA)</vt:lpstr>
      <vt:lpstr>Diferencia con el Análisis Factorial (AF)</vt:lpstr>
      <vt:lpstr>Presentación de PowerPoint</vt:lpstr>
      <vt:lpstr>El Análisis Factorial</vt:lpstr>
      <vt:lpstr>El Análisis Factorial</vt:lpstr>
      <vt:lpstr>PCA vs AF (Objetivos de Análisis Distintos)</vt:lpstr>
      <vt:lpstr>Presentación de PowerPoint</vt:lpstr>
      <vt:lpstr>Análisis Factorial y Validación del Contructo</vt:lpstr>
      <vt:lpstr>El AF se clarifica a la luz del Proceso de Validación de Constructo</vt:lpstr>
      <vt:lpstr>Presentación de PowerPoint</vt:lpstr>
      <vt:lpstr>Aplicación para la obtención de un tipo específico de Evidencia de Validez</vt:lpstr>
      <vt:lpstr>¿Porqué Preocuparnos por este Proceso?</vt:lpstr>
      <vt:lpstr>Aplicación para la obtención de un tipo específico de Evidencia de Validez</vt:lpstr>
      <vt:lpstr>Validación de Constructo</vt:lpstr>
      <vt:lpstr>Validación de Constructo</vt:lpstr>
      <vt:lpstr>Validación de Constructo</vt:lpstr>
      <vt:lpstr>Validación de Constructo</vt:lpstr>
      <vt:lpstr>Validación de Constructo</vt:lpstr>
      <vt:lpstr>El AF se clarifica a la luz del Proceso de Validación de Constructo</vt:lpstr>
      <vt:lpstr>ACTIVIDAD PRÁCTICA</vt:lpstr>
      <vt:lpstr>ACTIVIDAD PRÁCTICA</vt:lpstr>
      <vt:lpstr>Fase Estructural: Adentrándonos a la Evidencia de Validez mediante AF </vt:lpstr>
      <vt:lpstr>Énfasis en la Estructura Interna como Evidencia de Validez</vt:lpstr>
      <vt:lpstr>Modelos de Ecuaciones Estructurales (SEM)</vt:lpstr>
      <vt:lpstr>Presentación de PowerPoint</vt:lpstr>
      <vt:lpstr>Presentación de PowerPoint</vt:lpstr>
      <vt:lpstr>Ejemplo de Especificación de un Modelo SEM (AFC) para la Depresión</vt:lpstr>
      <vt:lpstr>Presentación de PowerPoint</vt:lpstr>
      <vt:lpstr>Estimación de Parámetros</vt:lpstr>
      <vt:lpstr>Estimación de Parámetros</vt:lpstr>
      <vt:lpstr>Estimación de Parámetros</vt:lpstr>
      <vt:lpstr>Evaluación del Ajuste</vt:lpstr>
      <vt:lpstr>Evaluación del Ajuste</vt:lpstr>
      <vt:lpstr>Evaluación del Ajuste</vt:lpstr>
      <vt:lpstr>Evaluación del Ajuste: ¿En qué medida las dos matrices se corresponden?</vt:lpstr>
      <vt:lpstr>Presentación de PowerPoint</vt:lpstr>
      <vt:lpstr>Presentación de PowerPoint</vt:lpstr>
      <vt:lpstr>Matriz de Discrepancia</vt:lpstr>
      <vt:lpstr>Evaluación del Ajuste: ¿En qué medida las dos matrices se corresponden?</vt:lpstr>
      <vt:lpstr>Ajuste Exacto (Exact Fit)</vt:lpstr>
      <vt:lpstr>Ajuste Aproximado (Approximate fit indices)</vt:lpstr>
      <vt:lpstr>Ajuste Aproximado: Índices de Falta de Ajuste</vt:lpstr>
      <vt:lpstr>Ajuste Aproximado: Índices de Ajuste Comparativo o Incremental</vt:lpstr>
      <vt:lpstr>¿Análisis Factorial Exploratorio (AFE) y Confirmatorio (AFC)?</vt:lpstr>
      <vt:lpstr>¿Qué diferencia un AFE de un AFC?</vt:lpstr>
      <vt:lpstr>Presentación de PowerPoint</vt:lpstr>
      <vt:lpstr>¿Qué diferencia un AFE de un AFC?</vt:lpstr>
      <vt:lpstr>¡Nos mudamos a RStudio!</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Anónimo</dc:creator>
  <cp:lastModifiedBy>Anónimo</cp:lastModifiedBy>
  <cp:revision>7</cp:revision>
  <dcterms:created xsi:type="dcterms:W3CDTF">2025-08-20T22:14:19Z</dcterms:created>
  <dcterms:modified xsi:type="dcterms:W3CDTF">2025-11-14T22:31:51Z</dcterms:modified>
</cp:coreProperties>
</file>